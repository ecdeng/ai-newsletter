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e8217e3-2e19-52f5-c563-62d77b9907a0}">
          <p14:sldIdLst>
            <p14:sldId id="256"/>
            <p14:sldId id="257"/>
            <p14:sldId id="258"/>
            <p14:sldId id="259"/>
            <p14:sldId id="260"/>
            <p14:sldId id="261"/>
            <p14:sldId id="262"/>
            <p14:sldId id="263"/>
            <p14:sldId id="264"/>
            <p14:sldId id="265"/>
          </p14:sldIdLst>
        </p14:section>
        <p14:section name="Worked cases" id="{66e4de69-2270-1299-4b06-364ac15c8dc4}">
          <p14:sldIdLst>
            <p14:sldId id="266"/>
            <p14:sldId id="267"/>
            <p14:sldId id="268"/>
            <p14:sldId id="269"/>
            <p14:sldId id="270"/>
            <p14:sldId id="271"/>
            <p14:sldId id="272"/>
            <p14:sldId id="273"/>
            <p14:sldId id="274"/>
            <p14:sldId id="275"/>
          </p14:sldIdLst>
        </p14:section>
        <p14:section name="Next steps" id="{8bfdd6b4-1dbd-f280-c30c-bd0463eba550}">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1A22"/>
                </a:solidFill>
                <a:latin typeface="+mn-lt"/>
              </a:defRPr>
            </a:pPr>
            <a:r>
              <a:rPr sz="1200" b="0" i="0" u="none" strike="noStrike">
                <a:solidFill>
                  <a:srgbClr val="0E1A22"/>
                </a:solidFill>
                <a:latin typeface="+mn-lt"/>
              </a:rPr>
              <a:t>Envista revenue, $bn — same periods, two answers</a:t>
            </a:r>
          </a:p>
        </c:rich>
      </c:tx>
      <c:layout/>
      <c:overlay val="0"/>
    </c:title>
    <c:autoTitleDeleted val="0"/>
    <c:plotArea>
      <c:layout/>
      <c:barChart>
        <c:barDir val="col"/>
        <c:grouping val="clustered"/>
        <c:varyColors val="0"/>
        <c:ser>
          <c:idx val="0"/>
          <c:order val="0"/>
          <c:tx>
            <c:strRef>
              <c:f>Sheet1!$B$1</c:f>
              <c:strCache>
                <c:ptCount val="1"/>
                <c:pt idx="0">
                  <c:v>As filed at the time</c:v>
                </c:pt>
              </c:strCache>
            </c:strRef>
          </c:tx>
          <c:spPr>
            <a:solidFill>
              <a:srgbClr val="1A5F59"/>
            </a:solidFill>
            <a:effectLst/>
          </c:spPr>
          <c:invertIfNegative val="0"/>
          <c:dLbls>
            <c:numFmt formatCode="0.00" sourceLinked="0"/>
            <c:txPr>
              <a:bodyPr/>
              <a:lstStyle/>
              <a:p>
                <a:pPr>
                  <a:defRPr b="0" i="0" strike="noStrike" sz="1000" u="none">
                    <a:solidFill>
                      <a:srgbClr val="0E1A22"/>
                    </a:solidFill>
                    <a:latin typeface="+mn-lt"/>
                  </a:defRPr>
                </a:pPr>
              </a:p>
            </c:txPr>
            <c:showLegendKey val="0"/>
            <c:showVal val="1"/>
            <c:showCatName val="0"/>
            <c:showSerName val="0"/>
            <c:showPercent val="0"/>
            <c:showBubbleSize val="0"/>
            <c:showLeaderLines val="0"/>
          </c:dLbls>
          <c:cat>
            <c:multiLvlStrRef>
              <c:f>Sheet1!$A$2:$A$3</c:f>
              <c:multiLvlStrCache>
                <c:ptCount val="2"/>
                <c:lvl>
                  <c:pt idx="0">
                    <c:v>FY2019</c:v>
                  </c:pt>
                  <c:pt idx="1">
                    <c:v>FY2020</c:v>
                  </c:pt>
                </c:lvl>
              </c:multiLvlStrCache>
            </c:multiLvlStrRef>
          </c:cat>
          <c:val>
            <c:numRef>
              <c:f>Sheet1!$B$2:$B$3</c:f>
              <c:numCache>
                <c:formatCode>General</c:formatCode>
                <c:ptCount val="2"/>
                <c:pt idx="0">
                  <c:v>2.7516</c:v>
                </c:pt>
                <c:pt idx="1">
                  <c:v>2.282</c:v>
                </c:pt>
              </c:numCache>
            </c:numRef>
          </c:val>
        </c:ser>
        <c:ser>
          <c:idx val="1"/>
          <c:order val="1"/>
          <c:tx>
            <c:strRef>
              <c:f>Sheet1!$C$1</c:f>
              <c:strCache>
                <c:ptCount val="1"/>
                <c:pt idx="0">
                  <c:v>As the record shows today</c:v>
                </c:pt>
              </c:strCache>
            </c:strRef>
          </c:tx>
          <c:spPr>
            <a:solidFill>
              <a:srgbClr val="C98B8B"/>
            </a:solidFill>
            <a:effectLst/>
          </c:spPr>
          <c:invertIfNegative val="0"/>
          <c:dLbls>
            <c:numFmt formatCode="0.00" sourceLinked="0"/>
            <c:txPr>
              <a:bodyPr/>
              <a:lstStyle/>
              <a:p>
                <a:pPr>
                  <a:defRPr b="0" i="0" strike="noStrike" sz="1000" u="none">
                    <a:solidFill>
                      <a:srgbClr val="0E1A22"/>
                    </a:solidFill>
                    <a:latin typeface="+mn-lt"/>
                  </a:defRPr>
                </a:pPr>
              </a:p>
            </c:txPr>
            <c:showLegendKey val="0"/>
            <c:showVal val="1"/>
            <c:showCatName val="0"/>
            <c:showSerName val="0"/>
            <c:showPercent val="0"/>
            <c:showBubbleSize val="0"/>
            <c:showLeaderLines val="0"/>
          </c:dLbls>
          <c:cat>
            <c:multiLvlStrRef>
              <c:f>Sheet1!$A$2:$A$3</c:f>
              <c:multiLvlStrCache>
                <c:ptCount val="2"/>
                <c:lvl>
                  <c:pt idx="0">
                    <c:v>FY2019</c:v>
                  </c:pt>
                  <c:pt idx="1">
                    <c:v>FY2020</c:v>
                  </c:pt>
                </c:lvl>
              </c:multiLvlStrCache>
            </c:multiLvlStrRef>
          </c:cat>
          <c:val>
            <c:numRef>
              <c:f>Sheet1!$C$2:$C$3</c:f>
              <c:numCache>
                <c:formatCode>General</c:formatCode>
                <c:ptCount val="2"/>
                <c:pt idx="0">
                  <c:v>2.2848</c:v>
                </c:pt>
                <c:pt idx="1">
                  <c:v>1.9291</c:v>
                </c:pt>
              </c:numCache>
            </c:numRef>
          </c:val>
        </c:ser>
        <c:dLbls>
          <c:numFmt formatCode="0.00" sourceLinked="0"/>
          <c:txPr>
            <a:bodyPr/>
            <a:lstStyle/>
            <a:p>
              <a:pPr>
                <a:defRPr b="0" i="0" strike="noStrike" sz="1000" u="none">
                  <a:solidFill>
                    <a:srgbClr val="0E1A22"/>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8"/>
                </a:solidFill>
                <a:latin typeface="+mn-lt"/>
              </a:defRPr>
            </a:pPr>
            <a:endParaRPr lang="en-US"/>
          </a:p>
        </c:txPr>
        <c:crossAx val="2094734552"/>
        <c:crosses val="autoZero"/>
        <c:auto val="1"/>
        <c:lblAlgn val="ctr"/>
        <c:noMultiLvlLbl val="1"/>
      </c:catAx>
      <c:valAx>
        <c:axId val="2094734552"/>
        <c:scaling>
          <c:orientation val="minMax"/>
          <c:max val="3.2"/>
        </c:scaling>
        <c:delete val="0"/>
        <c:axPos val="l"/>
        <c:majorGridlines>
          <c:spPr>
            <a:ln w="9525" cap="flat">
              <a:solidFill>
                <a:srgbClr val="E6EB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5B6B7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the keystone infrastructure in the assessment blueprint. It serves roughly half the exercises. The point-in-time data layer is already built and tested against live SEC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design decision. Everything downstream follows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verdict is not budgetary. A simulator is a category error for a quarters-clock curriculum.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apparent limitation — a fixed library — is the design virtue.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unlock serves a different module: T is Module 10 and 11, T+1q is Module 13, T+60d is Module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of 13 smoke tests pass against the live SEC API as of 21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verified example pulled live from the SEC API. It is also Case C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Leak 4 is the subtle one and the only one code cannot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mechanical leak classes are covered by tests that pass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budget from circulating vendor prices — several are no longer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pre-commitment table at T-2 is what makes the later action gradable.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here is independently verified; the decomposition sums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Deterministic marks are computed before any LLM sees the submission. Numbers never go to an LLM when a deterministic check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weak answer is not lazy — it is fluent and confident, which is what makes it a useful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scored quantity is the delta between the two phases, which makes the case robust to a student who already knows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students computed 9.935% correctly. Arithmetic was never the discriminator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case where the point-in-time leak is the teaching content rather than something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case also teaches students to distrust their own data, which no other case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Refusing the leaderboard is the one stakeholders push back on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decides whether the filing-reading exercises make the MVP. Question 3 is the one that cannot be automated and determines whether cases are gradable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1A2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2286000"/>
            <a:ext cx="9509760" cy="1371600"/>
          </a:xfrm>
          <a:prstGeom prst="rect">
            <a:avLst/>
          </a:prstGeom>
          <a:noFill/>
          <a:ln/>
        </p:spPr>
        <p:txBody>
          <a:bodyPr wrap="square" rtlCol="0"/>
          <a:lstStyle>
            <a:lvl1pPr indent="0" marL="0">
              <a:buNone/>
              <a:defRPr lang="en-US" sz="4000" b="1" dirty="0">
                <a:solidFill>
                  <a:srgbClr val="FFFFFF"/>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566928" y="3703320"/>
            <a:ext cx="8778240" cy="1371600"/>
          </a:xfrm>
          <a:prstGeom prst="rect">
            <a:avLst/>
          </a:prstGeom>
          <a:noFill/>
          <a:ln/>
        </p:spPr>
        <p:txBody>
          <a:bodyPr wrap="square" rtlCol="0"/>
          <a:lstStyle>
            <a:lvl1pPr indent="0" marL="0">
              <a:lnSpc>
                <a:spcPts val="2100"/>
              </a:lnSpc>
              <a:buNone/>
              <a:defRPr lang="en-US" sz="1500" dirty="0">
                <a:solidFill>
                  <a:srgbClr val="AEC2BE"/>
                </a:solidFill>
              </a:defRPr>
            </a:lvl1pPr>
          </a:lstStyle>
          <a:p>
            <a:pPr indent="0" marL="0">
              <a:lnSpc>
                <a:spcPts val="2100"/>
              </a:lnSpc>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A5F5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2651760"/>
            <a:ext cx="10058400" cy="1097280"/>
          </a:xfrm>
          <a:prstGeom prst="rect">
            <a:avLst/>
          </a:prstGeom>
          <a:noFill/>
          <a:ln/>
        </p:spPr>
        <p:txBody>
          <a:bodyPr wrap="square" rtlCol="0"/>
          <a:lstStyle>
            <a:lvl1pPr indent="0" marL="0">
              <a:buNone/>
              <a:defRPr lang="en-US" sz="3400" b="1" dirty="0">
                <a:solidFill>
                  <a:srgbClr val="FFFFFF"/>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ph idx="101" type="body" hasCustomPrompt="1"/>
          </p:nvPr>
        </p:nvSpPr>
        <p:spPr>
          <a:xfrm>
            <a:off x="566928" y="3794760"/>
            <a:ext cx="9144000" cy="914400"/>
          </a:xfrm>
          <a:prstGeom prst="rect">
            <a:avLst/>
          </a:prstGeom>
          <a:noFill/>
          <a:ln/>
        </p:spPr>
        <p:txBody>
          <a:bodyPr wrap="square" rtlCol="0"/>
          <a:lstStyle>
            <a:lvl1pPr indent="0" marL="0">
              <a:lnSpc>
                <a:spcPts val="2000"/>
              </a:lnSpc>
              <a:buNone/>
              <a:defRPr lang="en-US" sz="1450" dirty="0">
                <a:solidFill>
                  <a:srgbClr val="CFE2DE"/>
                </a:solidFill>
              </a:defRPr>
            </a:lvl1pPr>
          </a:lstStyle>
          <a:p>
            <a:pPr indent="0" marL="0">
              <a:lnSpc>
                <a:spcPts val="2000"/>
              </a:lnSpc>
              <a:buNone/>
            </a:pPr>
            <a:endParaRPr lang="en-US" sz="14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rtlCol="0"/>
          <a:lstStyle>
            <a:lvl1pPr indent="0" marL="0">
              <a:buNone/>
              <a:defRPr lang="en-US" sz="2700" b="1" dirty="0">
                <a:solidFill>
                  <a:srgbClr val="0E1A22"/>
                </a:solidFill>
                <a:latin typeface="Cambria" pitchFamily="34" charset="0"/>
                <a:ea typeface="Cambria" pitchFamily="34" charset="-122"/>
                <a:cs typeface="Cambria" pitchFamily="34" charset="-120"/>
              </a:defRPr>
            </a:lvl1pPr>
          </a:lstStyle>
          <a:p>
            <a:pPr indent="0" marL="0">
              <a:buNone/>
            </a:pPr>
            <a:endParaRPr lang="en-US" sz="2700" dirty="0"/>
          </a:p>
        </p:txBody>
      </p:sp>
      <p:sp>
        <p:nvSpPr>
          <p:cNvPr id="3" name="Text 0"/>
          <p:cNvSpPr txBox="1"/>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A7B4B1"/>
                </a:solidFill>
              </a:rPr>
              <a:t>The Historical Case Engine  ·  INF-1</a:t>
            </a:r>
            <a:endParaRPr lang="en-US" sz="90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E1A2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rtlCol="0"/>
          <a:lstStyle>
            <a:lvl1pPr indent="0" marL="0">
              <a:buNone/>
              <a:defRPr lang="en-US" sz="2700" b="1" dirty="0">
                <a:solidFill>
                  <a:srgbClr val="FFFFFF"/>
                </a:solidFill>
                <a:latin typeface="Cambria" pitchFamily="34" charset="0"/>
                <a:ea typeface="Cambria" pitchFamily="34" charset="-122"/>
                <a:cs typeface="Cambria" pitchFamily="34" charset="-120"/>
              </a:defRPr>
            </a:lvl1pPr>
          </a:lstStyle>
          <a:p>
            <a:pPr indent="0" marL="0">
              <a:buNone/>
            </a:pPr>
            <a:endParaRPr lang="en-US" sz="2700" dirty="0"/>
          </a:p>
        </p:txBody>
      </p:sp>
      <p:sp>
        <p:nvSpPr>
          <p:cNvPr id="3" name="Text 0"/>
          <p:cNvSpPr txBox="1"/>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B6B78"/>
                </a:solidFill>
              </a:rPr>
              <a:t>The Historical Case Engine  ·  INF-1</a:t>
            </a:r>
            <a:endParaRPr lang="en-US" sz="90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66928" y="2286000"/>
            <a:ext cx="9509760" cy="1371600"/>
          </a:xfrm>
          <a:prstGeom prst="rect">
            <a:avLst/>
          </a:prstGeom>
          <a:noFill/>
          <a:ln/>
        </p:spPr>
        <p:txBody>
          <a:bodyPr wrap="square" lIns="0" tIns="0" rIns="0" bIns="0" rtlCol="0"/>
          <a:lstStyle/>
          <a:p>
            <a:pPr indent="0" marL="0">
              <a:buNone/>
            </a:pPr>
            <a:r>
              <a:rPr lang="en-US" sz="4000" b="1" dirty="0">
                <a:solidFill>
                  <a:srgbClr val="FFFFFF"/>
                </a:solidFill>
                <a:latin typeface="Cambria" pitchFamily="34" charset="0"/>
                <a:ea typeface="Cambria" pitchFamily="34" charset="-122"/>
                <a:cs typeface="Cambria" pitchFamily="34" charset="-120"/>
              </a:rPr>
              <a:t>The Historical Case Engine</a:t>
            </a:r>
            <a:endParaRPr lang="en-US" sz="4000" dirty="0"/>
          </a:p>
        </p:txBody>
      </p:sp>
      <p:sp>
        <p:nvSpPr>
          <p:cNvPr id="3" name="Text 0"/>
          <p:cNvSpPr/>
          <p:nvPr>
            <p:ph idx="101" type="body" hasCustomPrompt="1"/>
          </p:nvPr>
        </p:nvSpPr>
        <p:spPr>
          <a:xfrm>
            <a:off x="566928" y="3703320"/>
            <a:ext cx="8778240" cy="1371600"/>
          </a:xfrm>
          <a:prstGeom prst="rect">
            <a:avLst/>
          </a:prstGeom>
          <a:noFill/>
          <a:ln/>
        </p:spPr>
        <p:txBody>
          <a:bodyPr wrap="square" lIns="0" tIns="0" rIns="0" bIns="0" rtlCol="0"/>
          <a:lstStyle/>
          <a:p>
            <a:pPr indent="0" marL="0">
              <a:lnSpc>
                <a:spcPts val="2100"/>
              </a:lnSpc>
              <a:buNone/>
            </a:pPr>
            <a:r>
              <a:rPr lang="en-US" sz="1500" dirty="0">
                <a:solidFill>
                  <a:srgbClr val="AEC2BE"/>
                </a:solidFill>
              </a:rPr>
              <a:t>How students practise a full investment decision on a real company — </a:t>
            </a:r>
            <a:pPr indent="0" marL="0">
              <a:lnSpc>
                <a:spcPts val="2100"/>
              </a:lnSpc>
              <a:buNone/>
            </a:pPr>
            <a:r>
              <a:rPr lang="en-US" sz="1500" b="1" dirty="0">
                <a:solidFill>
                  <a:srgbClr val="FFFFFF"/>
                </a:solidFill>
              </a:rPr>
              <a:t>with the clock frozen, and the answer already known</a:t>
            </a:r>
            <a:endParaRPr lang="en-US" sz="1500" dirty="0"/>
          </a:p>
        </p:txBody>
      </p:sp>
      <p:sp>
        <p:nvSpPr>
          <p:cNvPr id="4" name="Text 2"/>
          <p:cNvSpPr txBox="1"/>
          <p:nvPr/>
        </p:nvSpPr>
        <p:spPr>
          <a:xfrm>
            <a:off x="566928" y="5394960"/>
            <a:ext cx="8229600" cy="274320"/>
          </a:xfrm>
          <a:prstGeom prst="rect">
            <a:avLst/>
          </a:prstGeom>
          <a:noFill/>
          <a:ln/>
        </p:spPr>
        <p:txBody>
          <a:bodyPr wrap="square" lIns="0" tIns="0" rIns="0" bIns="0" rtlCol="0" anchor="ctr"/>
          <a:lstStyle/>
          <a:p>
            <a:pPr indent="0" marL="0">
              <a:buNone/>
            </a:pPr>
            <a:r>
              <a:rPr lang="en-US" sz="1150" spc="80" kern="0" dirty="0">
                <a:solidFill>
                  <a:srgbClr val="5E9A91"/>
                </a:solidFill>
              </a:rPr>
              <a:t>Assessment infrastructure for the Analyst Academy  ·  INF-1</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You cannot grade an analyst on whether the stock went up</a:t>
            </a:r>
            <a:endParaRPr lang="en-US" sz="2700" dirty="0"/>
          </a:p>
        </p:txBody>
      </p:sp>
      <p:sp>
        <p:nvSpPr>
          <p:cNvPr id="3" name="Text 1"/>
          <p:cNvSpPr txBox="1"/>
          <p:nvPr/>
        </p:nvSpPr>
        <p:spPr>
          <a:xfrm>
            <a:off x="566928" y="1115568"/>
            <a:ext cx="6492240" cy="1371600"/>
          </a:xfrm>
          <a:prstGeom prst="rect">
            <a:avLst/>
          </a:prstGeom>
          <a:noFill/>
          <a:ln/>
        </p:spPr>
        <p:txBody>
          <a:bodyPr wrap="square" lIns="0" tIns="0" rIns="0" bIns="0" rtlCol="0" anchor="t"/>
          <a:lstStyle/>
          <a:p>
            <a:pPr indent="0" marL="0">
              <a:lnSpc>
                <a:spcPts val="1900"/>
              </a:lnSpc>
              <a:buNone/>
            </a:pPr>
            <a:r>
              <a:rPr lang="en-US" sz="1350" b="1" dirty="0">
                <a:solidFill>
                  <a:srgbClr val="0E1A22"/>
                </a:solidFill>
              </a:rPr>
              <a:t>Investing is a low-validity domain. </a:t>
            </a:r>
            <a:pPr indent="0" marL="0">
              <a:lnSpc>
                <a:spcPts val="1900"/>
              </a:lnSpc>
              <a:buNone/>
            </a:pPr>
            <a:r>
              <a:rPr lang="en-US" sz="1350" dirty="0">
                <a:solidFill>
                  <a:srgbClr val="0E1A22"/>
                </a:solidFill>
              </a:rPr>
              <a:t>Deliberate practice needs well-defined tasks, immediate feedback, repetition and error correction — and stock picking natively supplies none of them. Over a 12-week course, a single idea's outcome is almost pure noise.</a:t>
            </a:r>
            <a:endParaRPr lang="en-US" sz="1350" dirty="0"/>
          </a:p>
        </p:txBody>
      </p:sp>
      <p:sp>
        <p:nvSpPr>
          <p:cNvPr id="4" name="card"/>
          <p:cNvSpPr/>
          <p:nvPr/>
        </p:nvSpPr>
        <p:spPr>
          <a:xfrm>
            <a:off x="7406640" y="1051560"/>
            <a:ext cx="4206240" cy="1874520"/>
          </a:xfrm>
          <a:prstGeom prst="roundRect">
            <a:avLst>
              <a:gd name="adj" fmla="val 2927"/>
            </a:avLst>
          </a:prstGeom>
          <a:solidFill>
            <a:srgbClr val="F5F8F7"/>
          </a:solidFill>
          <a:ln w="9525">
            <a:solidFill>
              <a:srgbClr val="DCE5E2"/>
            </a:solidFill>
            <a:prstDash val="solid"/>
          </a:ln>
        </p:spPr>
      </p:sp>
      <p:sp>
        <p:nvSpPr>
          <p:cNvPr id="5" name="Text 3"/>
          <p:cNvSpPr txBox="1"/>
          <p:nvPr/>
        </p:nvSpPr>
        <p:spPr>
          <a:xfrm>
            <a:off x="7726680" y="1298448"/>
            <a:ext cx="3657600" cy="658368"/>
          </a:xfrm>
          <a:prstGeom prst="rect">
            <a:avLst/>
          </a:prstGeom>
          <a:noFill/>
          <a:ln/>
        </p:spPr>
        <p:txBody>
          <a:bodyPr wrap="square" lIns="0" tIns="0" rIns="0" bIns="0" rtlCol="0" anchor="ctr"/>
          <a:lstStyle/>
          <a:p>
            <a:pPr indent="0" marL="0">
              <a:buNone/>
            </a:pPr>
            <a:r>
              <a:rPr lang="en-US" sz="4000" b="1" dirty="0">
                <a:solidFill>
                  <a:srgbClr val="1A5F59"/>
                </a:solidFill>
                <a:latin typeface="Cambria" pitchFamily="34" charset="0"/>
                <a:ea typeface="Cambria" pitchFamily="34" charset="-122"/>
                <a:cs typeface="Cambria" pitchFamily="34" charset="-120"/>
              </a:rPr>
              <a:t>15.37 yrs</a:t>
            </a:r>
            <a:endParaRPr lang="en-US" sz="4000" dirty="0"/>
          </a:p>
        </p:txBody>
      </p:sp>
      <p:sp>
        <p:nvSpPr>
          <p:cNvPr id="6" name="Text 4"/>
          <p:cNvSpPr txBox="1"/>
          <p:nvPr/>
        </p:nvSpPr>
        <p:spPr>
          <a:xfrm>
            <a:off x="7726680" y="1920240"/>
            <a:ext cx="3657600" cy="512064"/>
          </a:xfrm>
          <a:prstGeom prst="rect">
            <a:avLst/>
          </a:prstGeom>
          <a:noFill/>
          <a:ln/>
        </p:spPr>
        <p:txBody>
          <a:bodyPr wrap="square" lIns="0" tIns="0" rIns="0" bIns="0" rtlCol="0" anchor="ctr"/>
          <a:lstStyle/>
          <a:p>
            <a:pPr indent="0" marL="0">
              <a:lnSpc>
                <a:spcPts val="1400"/>
              </a:lnSpc>
              <a:buNone/>
            </a:pPr>
            <a:r>
              <a:rPr lang="en-US" sz="1150" dirty="0">
                <a:solidFill>
                  <a:srgbClr val="5B6B78"/>
                </a:solidFill>
              </a:rPr>
              <a:t>to establish skill at 95% confidence, at an information ratio of 0.50 — longer than the program, longer than most analyst tenures</a:t>
            </a:r>
            <a:endParaRPr lang="en-US" sz="1150" dirty="0"/>
          </a:p>
        </p:txBody>
      </p:sp>
      <p:sp>
        <p:nvSpPr>
          <p:cNvPr id="7" name="Text 5"/>
          <p:cNvSpPr txBox="1"/>
          <p:nvPr/>
        </p:nvSpPr>
        <p:spPr>
          <a:xfrm>
            <a:off x="566928" y="2880360"/>
            <a:ext cx="5486400" cy="237744"/>
          </a:xfrm>
          <a:prstGeom prst="rect">
            <a:avLst/>
          </a:prstGeom>
          <a:noFill/>
          <a:ln/>
        </p:spPr>
        <p:txBody>
          <a:bodyPr wrap="square" lIns="0" tIns="0" rIns="0" bIns="0" rtlCol="0" anchor="ctr"/>
          <a:lstStyle/>
          <a:p>
            <a:pPr indent="0" marL="0">
              <a:buNone/>
            </a:pPr>
            <a:r>
              <a:rPr lang="en-US" sz="1000" b="1" spc="120" kern="0" dirty="0">
                <a:solidFill>
                  <a:srgbClr val="5B6B78"/>
                </a:solidFill>
              </a:rPr>
              <a:t>SO THE ENGINE GRADES THREE THINGS INSTEAD</a:t>
            </a:r>
            <a:endParaRPr lang="en-US" sz="1000" dirty="0"/>
          </a:p>
        </p:txBody>
      </p:sp>
      <p:sp>
        <p:nvSpPr>
          <p:cNvPr id="8" name="card"/>
          <p:cNvSpPr/>
          <p:nvPr/>
        </p:nvSpPr>
        <p:spPr>
          <a:xfrm>
            <a:off x="566928" y="3218688"/>
            <a:ext cx="3493008" cy="1828800"/>
          </a:xfrm>
          <a:prstGeom prst="roundRect">
            <a:avLst>
              <a:gd name="adj" fmla="val 3000"/>
            </a:avLst>
          </a:prstGeom>
          <a:solidFill>
            <a:srgbClr val="EDF2F0"/>
          </a:solidFill>
          <a:ln w="9525">
            <a:solidFill>
              <a:srgbClr val="DCE5E2"/>
            </a:solidFill>
            <a:prstDash val="solid"/>
          </a:ln>
        </p:spPr>
      </p:sp>
      <p:sp>
        <p:nvSpPr>
          <p:cNvPr id="9" name="Shape 7"/>
          <p:cNvSpPr/>
          <p:nvPr/>
        </p:nvSpPr>
        <p:spPr>
          <a:xfrm>
            <a:off x="804672" y="3456432"/>
            <a:ext cx="384048" cy="384048"/>
          </a:xfrm>
          <a:prstGeom prst="roundRect">
            <a:avLst>
              <a:gd name="adj" fmla="val 28571"/>
            </a:avLst>
          </a:prstGeom>
          <a:solidFill>
            <a:srgbClr val="1A5F59"/>
          </a:solidFill>
          <a:ln w="12700">
            <a:solidFill>
              <a:srgbClr val="1A5F59"/>
            </a:solidFill>
            <a:prstDash val="solid"/>
          </a:ln>
        </p:spPr>
      </p:sp>
      <p:sp>
        <p:nvSpPr>
          <p:cNvPr id="10" name="Text 8"/>
          <p:cNvSpPr txBox="1"/>
          <p:nvPr/>
        </p:nvSpPr>
        <p:spPr>
          <a:xfrm>
            <a:off x="804672" y="3456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9"/>
          <p:cNvSpPr txBox="1"/>
          <p:nvPr/>
        </p:nvSpPr>
        <p:spPr>
          <a:xfrm>
            <a:off x="1298448" y="3474720"/>
            <a:ext cx="2560320" cy="329184"/>
          </a:xfrm>
          <a:prstGeom prst="rect">
            <a:avLst/>
          </a:prstGeom>
          <a:noFill/>
          <a:ln/>
        </p:spPr>
        <p:txBody>
          <a:bodyPr wrap="square" lIns="0" tIns="0" rIns="0" bIns="0" rtlCol="0" anchor="ctr"/>
          <a:lstStyle/>
          <a:p>
            <a:pPr indent="0" marL="0">
              <a:buNone/>
            </a:pPr>
            <a:r>
              <a:rPr lang="en-US" sz="1500" b="1" dirty="0">
                <a:solidFill>
                  <a:srgbClr val="0E1A22"/>
                </a:solidFill>
              </a:rPr>
              <a:t>Process fidelity</a:t>
            </a:r>
            <a:endParaRPr lang="en-US" sz="1500" dirty="0"/>
          </a:p>
        </p:txBody>
      </p:sp>
      <p:sp>
        <p:nvSpPr>
          <p:cNvPr id="12" name="Text 10"/>
          <p:cNvSpPr txBox="1"/>
          <p:nvPr/>
        </p:nvSpPr>
        <p:spPr>
          <a:xfrm>
            <a:off x="804672" y="3950208"/>
            <a:ext cx="3017520" cy="914400"/>
          </a:xfrm>
          <a:prstGeom prst="rect">
            <a:avLst/>
          </a:prstGeom>
          <a:noFill/>
          <a:ln/>
        </p:spPr>
        <p:txBody>
          <a:bodyPr wrap="square" lIns="0" tIns="0" rIns="0" bIns="0" rtlCol="0" anchor="t"/>
          <a:lstStyle/>
          <a:p>
            <a:pPr indent="0" marL="0">
              <a:lnSpc>
                <a:spcPts val="1600"/>
              </a:lnSpc>
              <a:buNone/>
            </a:pPr>
            <a:r>
              <a:rPr lang="en-US" sz="1200" dirty="0">
                <a:solidFill>
                  <a:srgbClr val="3C4A50"/>
                </a:solidFill>
              </a:rPr>
              <a:t>Did they do the work in the right order, and did their action follow their own stated plan?</a:t>
            </a:r>
            <a:endParaRPr lang="en-US" sz="1200" dirty="0"/>
          </a:p>
        </p:txBody>
      </p:sp>
      <p:sp>
        <p:nvSpPr>
          <p:cNvPr id="13" name="card"/>
          <p:cNvSpPr/>
          <p:nvPr/>
        </p:nvSpPr>
        <p:spPr>
          <a:xfrm>
            <a:off x="4288536" y="3218688"/>
            <a:ext cx="3493008" cy="1828800"/>
          </a:xfrm>
          <a:prstGeom prst="roundRect">
            <a:avLst>
              <a:gd name="adj" fmla="val 3000"/>
            </a:avLst>
          </a:prstGeom>
          <a:solidFill>
            <a:srgbClr val="EDF2F0"/>
          </a:solidFill>
          <a:ln w="9525">
            <a:solidFill>
              <a:srgbClr val="DCE5E2"/>
            </a:solidFill>
            <a:prstDash val="solid"/>
          </a:ln>
        </p:spPr>
      </p:sp>
      <p:sp>
        <p:nvSpPr>
          <p:cNvPr id="14" name="Shape 12"/>
          <p:cNvSpPr/>
          <p:nvPr/>
        </p:nvSpPr>
        <p:spPr>
          <a:xfrm>
            <a:off x="4526280" y="3456432"/>
            <a:ext cx="384048" cy="384048"/>
          </a:xfrm>
          <a:prstGeom prst="roundRect">
            <a:avLst>
              <a:gd name="adj" fmla="val 28571"/>
            </a:avLst>
          </a:prstGeom>
          <a:solidFill>
            <a:srgbClr val="1A5F59"/>
          </a:solidFill>
          <a:ln w="12700">
            <a:solidFill>
              <a:srgbClr val="1A5F59"/>
            </a:solidFill>
            <a:prstDash val="solid"/>
          </a:ln>
        </p:spPr>
      </p:sp>
      <p:sp>
        <p:nvSpPr>
          <p:cNvPr id="15" name="Text 13"/>
          <p:cNvSpPr txBox="1"/>
          <p:nvPr/>
        </p:nvSpPr>
        <p:spPr>
          <a:xfrm>
            <a:off x="4526280" y="3456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4"/>
          <p:cNvSpPr txBox="1"/>
          <p:nvPr/>
        </p:nvSpPr>
        <p:spPr>
          <a:xfrm>
            <a:off x="5020056" y="3474720"/>
            <a:ext cx="2560320" cy="329184"/>
          </a:xfrm>
          <a:prstGeom prst="rect">
            <a:avLst/>
          </a:prstGeom>
          <a:noFill/>
          <a:ln/>
        </p:spPr>
        <p:txBody>
          <a:bodyPr wrap="square" lIns="0" tIns="0" rIns="0" bIns="0" rtlCol="0" anchor="ctr"/>
          <a:lstStyle/>
          <a:p>
            <a:pPr indent="0" marL="0">
              <a:buNone/>
            </a:pPr>
            <a:r>
              <a:rPr lang="en-US" sz="1500" b="1" dirty="0">
                <a:solidFill>
                  <a:srgbClr val="0E1A22"/>
                </a:solidFill>
              </a:rPr>
              <a:t>Analytical accuracy</a:t>
            </a:r>
            <a:endParaRPr lang="en-US" sz="1500" dirty="0"/>
          </a:p>
        </p:txBody>
      </p:sp>
      <p:sp>
        <p:nvSpPr>
          <p:cNvPr id="17" name="Text 15"/>
          <p:cNvSpPr txBox="1"/>
          <p:nvPr/>
        </p:nvSpPr>
        <p:spPr>
          <a:xfrm>
            <a:off x="4526280" y="3950208"/>
            <a:ext cx="3017520" cy="914400"/>
          </a:xfrm>
          <a:prstGeom prst="rect">
            <a:avLst/>
          </a:prstGeom>
          <a:noFill/>
          <a:ln/>
        </p:spPr>
        <p:txBody>
          <a:bodyPr wrap="square" lIns="0" tIns="0" rIns="0" bIns="0" rtlCol="0" anchor="t"/>
          <a:lstStyle/>
          <a:p>
            <a:pPr indent="0" marL="0">
              <a:lnSpc>
                <a:spcPts val="1600"/>
              </a:lnSpc>
              <a:buNone/>
            </a:pPr>
            <a:r>
              <a:rPr lang="en-US" sz="1200" dirty="0">
                <a:solidFill>
                  <a:srgbClr val="3C4A50"/>
                </a:solidFill>
              </a:rPr>
              <a:t>Checkable arithmetic: the bridge, the implied move, the forward bar. Auto-graded against a key.</a:t>
            </a:r>
            <a:endParaRPr lang="en-US" sz="1200" dirty="0"/>
          </a:p>
        </p:txBody>
      </p:sp>
      <p:sp>
        <p:nvSpPr>
          <p:cNvPr id="18" name="card"/>
          <p:cNvSpPr/>
          <p:nvPr/>
        </p:nvSpPr>
        <p:spPr>
          <a:xfrm>
            <a:off x="8010144" y="3218688"/>
            <a:ext cx="3493008" cy="1828800"/>
          </a:xfrm>
          <a:prstGeom prst="roundRect">
            <a:avLst>
              <a:gd name="adj" fmla="val 3000"/>
            </a:avLst>
          </a:prstGeom>
          <a:solidFill>
            <a:srgbClr val="EDF2F0"/>
          </a:solidFill>
          <a:ln w="9525">
            <a:solidFill>
              <a:srgbClr val="DCE5E2"/>
            </a:solidFill>
            <a:prstDash val="solid"/>
          </a:ln>
        </p:spPr>
      </p:sp>
      <p:sp>
        <p:nvSpPr>
          <p:cNvPr id="19" name="Shape 17"/>
          <p:cNvSpPr/>
          <p:nvPr/>
        </p:nvSpPr>
        <p:spPr>
          <a:xfrm>
            <a:off x="8247888" y="3456432"/>
            <a:ext cx="384048" cy="384048"/>
          </a:xfrm>
          <a:prstGeom prst="roundRect">
            <a:avLst>
              <a:gd name="adj" fmla="val 28571"/>
            </a:avLst>
          </a:prstGeom>
          <a:solidFill>
            <a:srgbClr val="1A5F59"/>
          </a:solidFill>
          <a:ln w="12700">
            <a:solidFill>
              <a:srgbClr val="1A5F59"/>
            </a:solidFill>
            <a:prstDash val="solid"/>
          </a:ln>
        </p:spPr>
      </p:sp>
      <p:sp>
        <p:nvSpPr>
          <p:cNvPr id="20" name="Text 18"/>
          <p:cNvSpPr txBox="1"/>
          <p:nvPr/>
        </p:nvSpPr>
        <p:spPr>
          <a:xfrm>
            <a:off x="8247888" y="3456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9"/>
          <p:cNvSpPr txBox="1"/>
          <p:nvPr/>
        </p:nvSpPr>
        <p:spPr>
          <a:xfrm>
            <a:off x="8741664" y="3474720"/>
            <a:ext cx="2560320" cy="329184"/>
          </a:xfrm>
          <a:prstGeom prst="rect">
            <a:avLst/>
          </a:prstGeom>
          <a:noFill/>
          <a:ln/>
        </p:spPr>
        <p:txBody>
          <a:bodyPr wrap="square" lIns="0" tIns="0" rIns="0" bIns="0" rtlCol="0" anchor="ctr"/>
          <a:lstStyle/>
          <a:p>
            <a:pPr indent="0" marL="0">
              <a:buNone/>
            </a:pPr>
            <a:r>
              <a:rPr lang="en-US" sz="1500" b="1" dirty="0">
                <a:solidFill>
                  <a:srgbClr val="0E1A22"/>
                </a:solidFill>
              </a:rPr>
              <a:t>Forecast calibration</a:t>
            </a:r>
            <a:endParaRPr lang="en-US" sz="1500" dirty="0"/>
          </a:p>
        </p:txBody>
      </p:sp>
      <p:sp>
        <p:nvSpPr>
          <p:cNvPr id="22" name="Text 20"/>
          <p:cNvSpPr txBox="1"/>
          <p:nvPr/>
        </p:nvSpPr>
        <p:spPr>
          <a:xfrm>
            <a:off x="8247888" y="3950208"/>
            <a:ext cx="3017520" cy="914400"/>
          </a:xfrm>
          <a:prstGeom prst="rect">
            <a:avLst/>
          </a:prstGeom>
          <a:noFill/>
          <a:ln/>
        </p:spPr>
        <p:txBody>
          <a:bodyPr wrap="square" lIns="0" tIns="0" rIns="0" bIns="0" rtlCol="0" anchor="t"/>
          <a:lstStyle/>
          <a:p>
            <a:pPr indent="0" marL="0">
              <a:lnSpc>
                <a:spcPts val="1600"/>
              </a:lnSpc>
              <a:buNone/>
            </a:pPr>
            <a:r>
              <a:rPr lang="en-US" sz="1200" dirty="0">
                <a:solidFill>
                  <a:srgbClr val="3C4A50"/>
                </a:solidFill>
              </a:rPr>
              <a:t>Probabilities scored by a proper rule. Because the case is historical, resolution is instant and free.</a:t>
            </a:r>
            <a:endParaRPr lang="en-US" sz="1200" dirty="0"/>
          </a:p>
        </p:txBody>
      </p:sp>
      <p:sp>
        <p:nvSpPr>
          <p:cNvPr id="23" name="Text 21"/>
          <p:cNvSpPr txBox="1"/>
          <p:nvPr/>
        </p:nvSpPr>
        <p:spPr>
          <a:xfrm>
            <a:off x="566928" y="5285232"/>
            <a:ext cx="10058400" cy="292608"/>
          </a:xfrm>
          <a:prstGeom prst="rect">
            <a:avLst/>
          </a:prstGeom>
          <a:noFill/>
          <a:ln/>
        </p:spPr>
        <p:txBody>
          <a:bodyPr wrap="square" lIns="0" tIns="0" rIns="0" bIns="0" rtlCol="0" anchor="ctr"/>
          <a:lstStyle/>
          <a:p>
            <a:pPr indent="0" marL="0">
              <a:buNone/>
            </a:pPr>
            <a:r>
              <a:rPr lang="en-US" sz="1300" i="1" dirty="0">
                <a:solidFill>
                  <a:srgbClr val="1A5F59"/>
                </a:solidFill>
              </a:rPr>
              <a:t>Outcome is revealed to the student — but it is never the grade.</a:t>
            </a:r>
            <a:endParaRPr lang="en-US" sz="130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Why this is not a market simulator</a:t>
            </a:r>
            <a:endParaRPr lang="en-US" sz="2700" dirty="0"/>
          </a:p>
        </p:txBody>
      </p:sp>
      <p:sp>
        <p:nvSpPr>
          <p:cNvPr id="3" name="card"/>
          <p:cNvSpPr/>
          <p:nvPr/>
        </p:nvSpPr>
        <p:spPr>
          <a:xfrm>
            <a:off x="566928" y="1143000"/>
            <a:ext cx="5394960" cy="4069080"/>
          </a:xfrm>
          <a:prstGeom prst="roundRect">
            <a:avLst>
              <a:gd name="adj" fmla="val 1348"/>
            </a:avLst>
          </a:prstGeom>
          <a:solidFill>
            <a:srgbClr val="FAF2F2"/>
          </a:solidFill>
          <a:ln w="9525">
            <a:solidFill>
              <a:srgbClr val="E8D4D4"/>
            </a:solidFill>
            <a:prstDash val="solid"/>
          </a:ln>
        </p:spPr>
      </p:sp>
      <p:sp>
        <p:nvSpPr>
          <p:cNvPr id="4" name="Text 2"/>
          <p:cNvSpPr txBox="1"/>
          <p:nvPr/>
        </p:nvSpPr>
        <p:spPr>
          <a:xfrm>
            <a:off x="859536" y="1371600"/>
            <a:ext cx="4754880" cy="365760"/>
          </a:xfrm>
          <a:prstGeom prst="rect">
            <a:avLst/>
          </a:prstGeom>
          <a:noFill/>
          <a:ln/>
        </p:spPr>
        <p:txBody>
          <a:bodyPr wrap="square" lIns="0" tIns="0" rIns="0" bIns="0" rtlCol="0" anchor="ctr"/>
          <a:lstStyle/>
          <a:p>
            <a:pPr indent="0" marL="0">
              <a:buNone/>
            </a:pPr>
            <a:r>
              <a:rPr lang="en-US" sz="1700" b="1" dirty="0">
                <a:solidFill>
                  <a:srgbClr val="9C3A3A"/>
                </a:solidFill>
                <a:latin typeface="Cambria" pitchFamily="34" charset="0"/>
                <a:ea typeface="Cambria" pitchFamily="34" charset="-122"/>
                <a:cs typeface="Cambria" pitchFamily="34" charset="-120"/>
              </a:rPr>
              <a:t>A trading simulator</a:t>
            </a:r>
            <a:endParaRPr lang="en-US" sz="1700" dirty="0"/>
          </a:p>
        </p:txBody>
      </p:sp>
      <p:sp>
        <p:nvSpPr>
          <p:cNvPr id="5" name="Text 3"/>
          <p:cNvSpPr txBox="1"/>
          <p:nvPr/>
        </p:nvSpPr>
        <p:spPr>
          <a:xfrm>
            <a:off x="859536" y="1874520"/>
            <a:ext cx="4809744" cy="310896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250" dirty="0">
                <a:solidFill>
                  <a:srgbClr val="0E1A22"/>
                </a:solidFill>
              </a:rPr>
              <a:t>Optimises for execution and live price feedback</a:t>
            </a:r>
            <a:endParaRPr lang="en-US" sz="1250" dirty="0"/>
          </a:p>
          <a:p>
            <a:pPr marL="342900" indent="-342900">
              <a:lnSpc>
                <a:spcPts val="1600"/>
              </a:lnSpc>
              <a:spcAft>
                <a:spcPts val="900"/>
              </a:spcAft>
              <a:buSzPct val="100000"/>
              <a:buChar char="•"/>
            </a:pPr>
            <a:r>
              <a:rPr lang="en-US" sz="1250" dirty="0">
                <a:solidFill>
                  <a:srgbClr val="0E1A22"/>
                </a:solidFill>
              </a:rPr>
              <a:t>Runs on a seconds-to-days clock</a:t>
            </a:r>
            <a:endParaRPr lang="en-US" sz="1250" dirty="0"/>
          </a:p>
          <a:p>
            <a:pPr marL="342900" indent="-342900">
              <a:lnSpc>
                <a:spcPts val="1600"/>
              </a:lnSpc>
              <a:spcAft>
                <a:spcPts val="900"/>
              </a:spcAft>
              <a:buSzPct val="100000"/>
              <a:buChar char="•"/>
            </a:pPr>
            <a:r>
              <a:rPr lang="en-US" sz="1250" dirty="0">
                <a:solidFill>
                  <a:srgbClr val="0E1A22"/>
                </a:solidFill>
              </a:rPr>
              <a:t>Its distinguishing feature — price feedback — is the least valid signal available here</a:t>
            </a:r>
            <a:endParaRPr lang="en-US" sz="1250" dirty="0"/>
          </a:p>
          <a:p>
            <a:pPr marL="342900" indent="-342900">
              <a:lnSpc>
                <a:spcPts val="1600"/>
              </a:lnSpc>
              <a:spcAft>
                <a:spcPts val="900"/>
              </a:spcAft>
              <a:buSzPct val="100000"/>
              <a:buChar char="•"/>
            </a:pPr>
            <a:r>
              <a:rPr lang="en-US" sz="1250" dirty="0">
                <a:solidFill>
                  <a:srgbClr val="0E1A22"/>
                </a:solidFill>
              </a:rPr>
              <a:t>Expensive real-time infrastructure</a:t>
            </a:r>
            <a:endParaRPr lang="en-US" sz="1250" dirty="0"/>
          </a:p>
          <a:p>
            <a:pPr marL="342900" indent="-342900">
              <a:lnSpc>
                <a:spcPts val="1600"/>
              </a:lnSpc>
              <a:spcAft>
                <a:spcPts val="900"/>
              </a:spcAft>
              <a:buSzPct val="100000"/>
              <a:buChar char="•"/>
            </a:pPr>
            <a:r>
              <a:rPr lang="en-US" sz="1250" dirty="0">
                <a:solidFill>
                  <a:srgbClr val="0E1A22"/>
                </a:solidFill>
              </a:rPr>
              <a:t>Rewards the overconfidence the course is trying to train out</a:t>
            </a:r>
            <a:endParaRPr lang="en-US" sz="1250" dirty="0"/>
          </a:p>
        </p:txBody>
      </p:sp>
      <p:sp>
        <p:nvSpPr>
          <p:cNvPr id="6" name="card"/>
          <p:cNvSpPr/>
          <p:nvPr/>
        </p:nvSpPr>
        <p:spPr>
          <a:xfrm>
            <a:off x="6236208" y="1143000"/>
            <a:ext cx="5394960" cy="4069080"/>
          </a:xfrm>
          <a:prstGeom prst="roundRect">
            <a:avLst>
              <a:gd name="adj" fmla="val 1348"/>
            </a:avLst>
          </a:prstGeom>
          <a:solidFill>
            <a:srgbClr val="EEF4F0"/>
          </a:solidFill>
          <a:ln w="9525">
            <a:solidFill>
              <a:srgbClr val="CFE0D6"/>
            </a:solidFill>
            <a:prstDash val="solid"/>
          </a:ln>
        </p:spPr>
      </p:sp>
      <p:sp>
        <p:nvSpPr>
          <p:cNvPr id="7" name="Text 5"/>
          <p:cNvSpPr txBox="1"/>
          <p:nvPr/>
        </p:nvSpPr>
        <p:spPr>
          <a:xfrm>
            <a:off x="6528816" y="1371600"/>
            <a:ext cx="4754880" cy="365760"/>
          </a:xfrm>
          <a:prstGeom prst="rect">
            <a:avLst/>
          </a:prstGeom>
          <a:noFill/>
          <a:ln/>
        </p:spPr>
        <p:txBody>
          <a:bodyPr wrap="square" lIns="0" tIns="0" rIns="0" bIns="0" rtlCol="0" anchor="ctr"/>
          <a:lstStyle/>
          <a:p>
            <a:pPr indent="0" marL="0">
              <a:buNone/>
            </a:pPr>
            <a:r>
              <a:rPr lang="en-US" sz="1700" b="1" dirty="0">
                <a:solidFill>
                  <a:srgbClr val="2F6B45"/>
                </a:solidFill>
                <a:latin typeface="Cambria" pitchFamily="34" charset="0"/>
                <a:ea typeface="Cambria" pitchFamily="34" charset="-122"/>
                <a:cs typeface="Cambria" pitchFamily="34" charset="-120"/>
              </a:rPr>
              <a:t>A historical case engine</a:t>
            </a:r>
            <a:endParaRPr lang="en-US" sz="1700" dirty="0"/>
          </a:p>
        </p:txBody>
      </p:sp>
      <p:sp>
        <p:nvSpPr>
          <p:cNvPr id="8" name="Text 6"/>
          <p:cNvSpPr txBox="1"/>
          <p:nvPr/>
        </p:nvSpPr>
        <p:spPr>
          <a:xfrm>
            <a:off x="6528816" y="1874520"/>
            <a:ext cx="4809744" cy="310896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250" dirty="0">
                <a:solidFill>
                  <a:srgbClr val="0E1A22"/>
                </a:solidFill>
              </a:rPr>
              <a:t>Optimises for thesis formation and position maintenance</a:t>
            </a:r>
            <a:endParaRPr lang="en-US" sz="1250" dirty="0"/>
          </a:p>
          <a:p>
            <a:pPr marL="342900" indent="-342900">
              <a:lnSpc>
                <a:spcPts val="1600"/>
              </a:lnSpc>
              <a:spcAft>
                <a:spcPts val="900"/>
              </a:spcAft>
              <a:buSzPct val="100000"/>
              <a:buChar char="•"/>
            </a:pPr>
            <a:r>
              <a:rPr lang="en-US" sz="1250" dirty="0">
                <a:solidFill>
                  <a:srgbClr val="0E1A22"/>
                </a:solidFill>
              </a:rPr>
              <a:t>Runs on the quarters clock fundamental analysis actually uses</a:t>
            </a:r>
            <a:endParaRPr lang="en-US" sz="1250" dirty="0"/>
          </a:p>
          <a:p>
            <a:pPr marL="342900" indent="-342900">
              <a:lnSpc>
                <a:spcPts val="1600"/>
              </a:lnSpc>
              <a:spcAft>
                <a:spcPts val="900"/>
              </a:spcAft>
              <a:buSzPct val="100000"/>
              <a:buChar char="•"/>
            </a:pPr>
            <a:r>
              <a:rPr lang="en-US" sz="1250" dirty="0">
                <a:solidFill>
                  <a:srgbClr val="0E1A22"/>
                </a:solidFill>
              </a:rPr>
              <a:t>Compresses a three-year holding period into a 40-minute exercise</a:t>
            </a:r>
            <a:endParaRPr lang="en-US" sz="1250" dirty="0"/>
          </a:p>
          <a:p>
            <a:pPr marL="342900" indent="-342900">
              <a:lnSpc>
                <a:spcPts val="1600"/>
              </a:lnSpc>
              <a:spcAft>
                <a:spcPts val="900"/>
              </a:spcAft>
              <a:buSzPct val="100000"/>
              <a:buChar char="•"/>
            </a:pPr>
            <a:r>
              <a:rPr lang="en-US" sz="1250" dirty="0">
                <a:solidFill>
                  <a:srgbClr val="0E1A22"/>
                </a:solidFill>
              </a:rPr>
              <a:t>No real-time infrastructure at all</a:t>
            </a:r>
            <a:endParaRPr lang="en-US" sz="1250" dirty="0"/>
          </a:p>
          <a:p>
            <a:pPr marL="342900" indent="-342900">
              <a:lnSpc>
                <a:spcPts val="1600"/>
              </a:lnSpc>
              <a:spcAft>
                <a:spcPts val="900"/>
              </a:spcAft>
              <a:buSzPct val="100000"/>
              <a:buChar char="•"/>
            </a:pPr>
            <a:r>
              <a:rPr lang="en-US" sz="1250" dirty="0">
                <a:solidFill>
                  <a:srgbClr val="0E1A22"/>
                </a:solidFill>
              </a:rPr>
              <a:t>Ground truth is free: the answer already happened</a:t>
            </a:r>
            <a:endParaRPr lang="en-US" sz="1250" dirty="0"/>
          </a:p>
        </p:txBody>
      </p:sp>
      <p:sp>
        <p:nvSpPr>
          <p:cNvPr id="9" name="Text 7"/>
          <p:cNvSpPr txBox="1"/>
          <p:nvPr/>
        </p:nvSpPr>
        <p:spPr>
          <a:xfrm>
            <a:off x="566928" y="5413248"/>
            <a:ext cx="10515600" cy="365760"/>
          </a:xfrm>
          <a:prstGeom prst="rect">
            <a:avLst/>
          </a:prstGeom>
          <a:noFill/>
          <a:ln/>
        </p:spPr>
        <p:txBody>
          <a:bodyPr wrap="square" lIns="0" tIns="0" rIns="0" bIns="0" rtlCol="0" anchor="ctr"/>
          <a:lstStyle/>
          <a:p>
            <a:pPr indent="0" marL="0">
              <a:buNone/>
            </a:pPr>
            <a:r>
              <a:rPr lang="en-US" sz="1500" b="1" i="1" dirty="0">
                <a:solidFill>
                  <a:srgbClr val="0E1A22"/>
                </a:solidFill>
              </a:rPr>
              <a:t>You would spend the most money to measure the least.</a:t>
            </a:r>
            <a:endParaRPr lang="en-US" sz="150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value is not realism</a:t>
            </a:r>
            <a:endParaRPr lang="en-US" sz="2700" dirty="0"/>
          </a:p>
        </p:txBody>
      </p:sp>
      <p:sp>
        <p:nvSpPr>
          <p:cNvPr id="3" name="Text 1"/>
          <p:cNvSpPr txBox="1"/>
          <p:nvPr/>
        </p:nvSpPr>
        <p:spPr>
          <a:xfrm>
            <a:off x="566928" y="1188720"/>
            <a:ext cx="10515600" cy="502920"/>
          </a:xfrm>
          <a:prstGeom prst="rect">
            <a:avLst/>
          </a:prstGeom>
          <a:noFill/>
          <a:ln/>
        </p:spPr>
        <p:txBody>
          <a:bodyPr wrap="square" lIns="0" tIns="0" rIns="0" bIns="0" rtlCol="0" anchor="ctr"/>
          <a:lstStyle/>
          <a:p>
            <a:pPr indent="0" marL="0">
              <a:buNone/>
            </a:pPr>
            <a:r>
              <a:rPr lang="en-US" sz="2500" b="1" dirty="0">
                <a:solidFill>
                  <a:srgbClr val="5E9A91"/>
                </a:solidFill>
                <a:latin typeface="Cambria" pitchFamily="34" charset="0"/>
                <a:ea typeface="Cambria" pitchFamily="34" charset="-122"/>
                <a:cs typeface="Cambria" pitchFamily="34" charset="-120"/>
              </a:rPr>
              <a:t>It is time compression </a:t>
            </a:r>
            <a:pPr indent="0" marL="0">
              <a:buNone/>
            </a:pPr>
            <a:r>
              <a:rPr lang="en-US" sz="2500" dirty="0">
                <a:solidFill>
                  <a:srgbClr val="AEC2BE"/>
                </a:solidFill>
                <a:latin typeface="Cambria" pitchFamily="34" charset="0"/>
                <a:ea typeface="Cambria" pitchFamily="34" charset="-122"/>
                <a:cs typeface="Cambria" pitchFamily="34" charset="-120"/>
              </a:rPr>
              <a:t>plus </a:t>
            </a:r>
            <a:pPr indent="0" marL="0">
              <a:buNone/>
            </a:pPr>
            <a:r>
              <a:rPr lang="en-US" sz="2500" b="1" dirty="0">
                <a:solidFill>
                  <a:srgbClr val="5E9A91"/>
                </a:solidFill>
                <a:latin typeface="Cambria" pitchFamily="34" charset="0"/>
                <a:ea typeface="Cambria" pitchFamily="34" charset="-122"/>
                <a:cs typeface="Cambria" pitchFamily="34" charset="-120"/>
              </a:rPr>
              <a:t>free ground truth.</a:t>
            </a:r>
            <a:endParaRPr lang="en-US" sz="2500" dirty="0"/>
          </a:p>
        </p:txBody>
      </p:sp>
      <p:sp>
        <p:nvSpPr>
          <p:cNvPr id="4" name="Text 2"/>
          <p:cNvSpPr txBox="1"/>
          <p:nvPr/>
        </p:nvSpPr>
        <p:spPr>
          <a:xfrm>
            <a:off x="566928" y="1874520"/>
            <a:ext cx="10607040" cy="731520"/>
          </a:xfrm>
          <a:prstGeom prst="rect">
            <a:avLst/>
          </a:prstGeom>
          <a:noFill/>
          <a:ln/>
        </p:spPr>
        <p:txBody>
          <a:bodyPr wrap="square" lIns="0" tIns="0" rIns="0" bIns="0" rtlCol="0" anchor="t"/>
          <a:lstStyle/>
          <a:p>
            <a:pPr indent="0" marL="0">
              <a:lnSpc>
                <a:spcPts val="2100"/>
              </a:lnSpc>
              <a:buNone/>
            </a:pPr>
            <a:r>
              <a:rPr lang="en-US" sz="1450" dirty="0">
                <a:solidFill>
                  <a:srgbClr val="C6D4D1"/>
                </a:solidFill>
              </a:rPr>
              <a:t>Freeze a date on a real company. Serve only what was knowable then. The student produces a thesis and a position; the clock advances; the market answers. A three-year holding period becomes a 40-minute exercise in which the correct answer already exists and costs nothing to obtain.</a:t>
            </a:r>
            <a:endParaRPr lang="en-US" sz="1450" dirty="0"/>
          </a:p>
        </p:txBody>
      </p:sp>
      <p:sp>
        <p:nvSpPr>
          <p:cNvPr id="5" name="card"/>
          <p:cNvSpPr/>
          <p:nvPr/>
        </p:nvSpPr>
        <p:spPr>
          <a:xfrm>
            <a:off x="566928" y="3017520"/>
            <a:ext cx="3493008" cy="1783080"/>
          </a:xfrm>
          <a:prstGeom prst="roundRect">
            <a:avLst>
              <a:gd name="adj" fmla="val 3077"/>
            </a:avLst>
          </a:prstGeom>
          <a:solidFill>
            <a:srgbClr val="17262E"/>
          </a:solidFill>
          <a:ln w="9525">
            <a:solidFill>
              <a:srgbClr val="2A3A42"/>
            </a:solidFill>
            <a:prstDash val="solid"/>
          </a:ln>
        </p:spPr>
      </p:sp>
      <p:sp>
        <p:nvSpPr>
          <p:cNvPr id="6" name="Text 4"/>
          <p:cNvSpPr txBox="1"/>
          <p:nvPr/>
        </p:nvSpPr>
        <p:spPr>
          <a:xfrm>
            <a:off x="841248" y="3255264"/>
            <a:ext cx="3017520" cy="310896"/>
          </a:xfrm>
          <a:prstGeom prst="rect">
            <a:avLst/>
          </a:prstGeom>
          <a:noFill/>
          <a:ln/>
        </p:spPr>
        <p:txBody>
          <a:bodyPr wrap="square" lIns="0" tIns="0" rIns="0" bIns="0" rtlCol="0" anchor="ctr"/>
          <a:lstStyle/>
          <a:p>
            <a:pPr indent="0" marL="0">
              <a:buNone/>
            </a:pPr>
            <a:r>
              <a:rPr lang="en-US" sz="1450" b="1" dirty="0">
                <a:solidFill>
                  <a:srgbClr val="5E9A91"/>
                </a:solidFill>
              </a:rPr>
              <a:t>Identical stimulus</a:t>
            </a:r>
            <a:endParaRPr lang="en-US" sz="1450" dirty="0"/>
          </a:p>
        </p:txBody>
      </p:sp>
      <p:sp>
        <p:nvSpPr>
          <p:cNvPr id="7" name="Text 5"/>
          <p:cNvSpPr txBox="1"/>
          <p:nvPr/>
        </p:nvSpPr>
        <p:spPr>
          <a:xfrm>
            <a:off x="841248" y="3639312"/>
            <a:ext cx="2980944" cy="1005840"/>
          </a:xfrm>
          <a:prstGeom prst="rect">
            <a:avLst/>
          </a:prstGeom>
          <a:noFill/>
          <a:ln/>
        </p:spPr>
        <p:txBody>
          <a:bodyPr wrap="square" lIns="0" tIns="0" rIns="0" bIns="0" rtlCol="0" anchor="t"/>
          <a:lstStyle/>
          <a:p>
            <a:pPr indent="0" marL="0">
              <a:lnSpc>
                <a:spcPts val="1600"/>
              </a:lnSpc>
              <a:buNone/>
            </a:pPr>
            <a:r>
              <a:rPr lang="en-US" sz="1200" dirty="0">
                <a:solidFill>
                  <a:srgbClr val="AEC2BE"/>
                </a:solidFill>
              </a:rPr>
              <a:t>Every student sees exactly the same pack, so their scores are comparable — the property that makes an OSCE work.</a:t>
            </a:r>
            <a:endParaRPr lang="en-US" sz="1200" dirty="0"/>
          </a:p>
        </p:txBody>
      </p:sp>
      <p:sp>
        <p:nvSpPr>
          <p:cNvPr id="8" name="card"/>
          <p:cNvSpPr/>
          <p:nvPr/>
        </p:nvSpPr>
        <p:spPr>
          <a:xfrm>
            <a:off x="4288536" y="3017520"/>
            <a:ext cx="3493008" cy="1783080"/>
          </a:xfrm>
          <a:prstGeom prst="roundRect">
            <a:avLst>
              <a:gd name="adj" fmla="val 3077"/>
            </a:avLst>
          </a:prstGeom>
          <a:solidFill>
            <a:srgbClr val="17262E"/>
          </a:solidFill>
          <a:ln w="9525">
            <a:solidFill>
              <a:srgbClr val="2A3A42"/>
            </a:solidFill>
            <a:prstDash val="solid"/>
          </a:ln>
        </p:spPr>
      </p:sp>
      <p:sp>
        <p:nvSpPr>
          <p:cNvPr id="9" name="Text 7"/>
          <p:cNvSpPr txBox="1"/>
          <p:nvPr/>
        </p:nvSpPr>
        <p:spPr>
          <a:xfrm>
            <a:off x="4562856" y="3255264"/>
            <a:ext cx="3017520" cy="310896"/>
          </a:xfrm>
          <a:prstGeom prst="rect">
            <a:avLst/>
          </a:prstGeom>
          <a:noFill/>
          <a:ln/>
        </p:spPr>
        <p:txBody>
          <a:bodyPr wrap="square" lIns="0" tIns="0" rIns="0" bIns="0" rtlCol="0" anchor="ctr"/>
          <a:lstStyle/>
          <a:p>
            <a:pPr indent="0" marL="0">
              <a:buNone/>
            </a:pPr>
            <a:r>
              <a:rPr lang="en-US" sz="1450" b="1" dirty="0">
                <a:solidFill>
                  <a:srgbClr val="5E9A91"/>
                </a:solidFill>
              </a:rPr>
              <a:t>Reusable answer keys</a:t>
            </a:r>
            <a:endParaRPr lang="en-US" sz="1450" dirty="0"/>
          </a:p>
        </p:txBody>
      </p:sp>
      <p:sp>
        <p:nvSpPr>
          <p:cNvPr id="10" name="Text 8"/>
          <p:cNvSpPr txBox="1"/>
          <p:nvPr/>
        </p:nvSpPr>
        <p:spPr>
          <a:xfrm>
            <a:off x="4562856" y="3639312"/>
            <a:ext cx="2980944" cy="1005840"/>
          </a:xfrm>
          <a:prstGeom prst="rect">
            <a:avLst/>
          </a:prstGeom>
          <a:noFill/>
          <a:ln/>
        </p:spPr>
        <p:txBody>
          <a:bodyPr wrap="square" lIns="0" tIns="0" rIns="0" bIns="0" rtlCol="0" anchor="t"/>
          <a:lstStyle/>
          <a:p>
            <a:pPr indent="0" marL="0">
              <a:lnSpc>
                <a:spcPts val="1600"/>
              </a:lnSpc>
              <a:buNone/>
            </a:pPr>
            <a:r>
              <a:rPr lang="en-US" sz="1200" dirty="0">
                <a:solidFill>
                  <a:srgbClr val="AEC2BE"/>
                </a:solidFill>
              </a:rPr>
              <a:t>One expensive authoring effort is amortised across every cohort, forever.</a:t>
            </a:r>
            <a:endParaRPr lang="en-US" sz="1200" dirty="0"/>
          </a:p>
        </p:txBody>
      </p:sp>
      <p:sp>
        <p:nvSpPr>
          <p:cNvPr id="11" name="card"/>
          <p:cNvSpPr/>
          <p:nvPr/>
        </p:nvSpPr>
        <p:spPr>
          <a:xfrm>
            <a:off x="8010144" y="3017520"/>
            <a:ext cx="3493008" cy="1783080"/>
          </a:xfrm>
          <a:prstGeom prst="roundRect">
            <a:avLst>
              <a:gd name="adj" fmla="val 3077"/>
            </a:avLst>
          </a:prstGeom>
          <a:solidFill>
            <a:srgbClr val="17262E"/>
          </a:solidFill>
          <a:ln w="9525">
            <a:solidFill>
              <a:srgbClr val="2A3A42"/>
            </a:solidFill>
            <a:prstDash val="solid"/>
          </a:ln>
        </p:spPr>
      </p:sp>
      <p:sp>
        <p:nvSpPr>
          <p:cNvPr id="12" name="Text 10"/>
          <p:cNvSpPr txBox="1"/>
          <p:nvPr/>
        </p:nvSpPr>
        <p:spPr>
          <a:xfrm>
            <a:off x="8284464" y="3255264"/>
            <a:ext cx="3017520" cy="310896"/>
          </a:xfrm>
          <a:prstGeom prst="rect">
            <a:avLst/>
          </a:prstGeom>
          <a:noFill/>
          <a:ln/>
        </p:spPr>
        <p:txBody>
          <a:bodyPr wrap="square" lIns="0" tIns="0" rIns="0" bIns="0" rtlCol="0" anchor="ctr"/>
          <a:lstStyle/>
          <a:p>
            <a:pPr indent="0" marL="0">
              <a:buNone/>
            </a:pPr>
            <a:r>
              <a:rPr lang="en-US" sz="1450" b="1" dirty="0">
                <a:solidFill>
                  <a:srgbClr val="5E9A91"/>
                </a:solidFill>
              </a:rPr>
              <a:t>Instant resolution</a:t>
            </a:r>
            <a:endParaRPr lang="en-US" sz="1450" dirty="0"/>
          </a:p>
        </p:txBody>
      </p:sp>
      <p:sp>
        <p:nvSpPr>
          <p:cNvPr id="13" name="Text 11"/>
          <p:cNvSpPr txBox="1"/>
          <p:nvPr/>
        </p:nvSpPr>
        <p:spPr>
          <a:xfrm>
            <a:off x="8284464" y="3639312"/>
            <a:ext cx="2980944" cy="1005840"/>
          </a:xfrm>
          <a:prstGeom prst="rect">
            <a:avLst/>
          </a:prstGeom>
          <a:noFill/>
          <a:ln/>
        </p:spPr>
        <p:txBody>
          <a:bodyPr wrap="square" lIns="0" tIns="0" rIns="0" bIns="0" rtlCol="0" anchor="t"/>
          <a:lstStyle/>
          <a:p>
            <a:pPr indent="0" marL="0">
              <a:lnSpc>
                <a:spcPts val="1600"/>
              </a:lnSpc>
              <a:buNone/>
            </a:pPr>
            <a:r>
              <a:rPr lang="en-US" sz="1200" dirty="0">
                <a:solidFill>
                  <a:srgbClr val="AEC2BE"/>
                </a:solidFill>
              </a:rPr>
              <a:t>Calibration questions resolve the moment the clock advances. No waiting a quarter for truth.</a:t>
            </a:r>
            <a:endParaRPr lang="en-US" sz="1200" dirty="0"/>
          </a:p>
        </p:txBody>
      </p:sp>
      <p:sp>
        <p:nvSpPr>
          <p:cNvPr id="14" name="Text 12"/>
          <p:cNvSpPr txBox="1"/>
          <p:nvPr/>
        </p:nvSpPr>
        <p:spPr>
          <a:xfrm>
            <a:off x="566928" y="5120640"/>
            <a:ext cx="10789920" cy="457200"/>
          </a:xfrm>
          <a:prstGeom prst="rect">
            <a:avLst/>
          </a:prstGeom>
          <a:noFill/>
          <a:ln/>
        </p:spPr>
        <p:txBody>
          <a:bodyPr wrap="square" lIns="0" tIns="0" rIns="0" bIns="0" rtlCol="0" anchor="ctr"/>
          <a:lstStyle/>
          <a:p>
            <a:pPr indent="0" marL="0">
              <a:buNone/>
            </a:pPr>
            <a:r>
              <a:rPr lang="en-US" sz="1350" i="1" dirty="0">
                <a:solidFill>
                  <a:srgbClr val="8FA8A3"/>
                </a:solidFill>
              </a:rPr>
              <a:t>A fixed library of 20–40 cases is better assessment than a dynamic any-company engine — and costs a fraction of it.</a:t>
            </a:r>
            <a:endParaRPr lang="en-US" sz="135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How one case runs</a:t>
            </a:r>
            <a:endParaRPr lang="en-US" sz="2700" dirty="0"/>
          </a:p>
        </p:txBody>
      </p:sp>
      <p:sp>
        <p:nvSpPr>
          <p:cNvPr id="3" name="Text 1"/>
          <p:cNvSpPr txBox="1"/>
          <p:nvPr/>
        </p:nvSpPr>
        <p:spPr>
          <a:xfrm>
            <a:off x="566928" y="1097280"/>
            <a:ext cx="7315200" cy="237744"/>
          </a:xfrm>
          <a:prstGeom prst="rect">
            <a:avLst/>
          </a:prstGeom>
          <a:noFill/>
          <a:ln/>
        </p:spPr>
        <p:txBody>
          <a:bodyPr wrap="square" lIns="0" tIns="0" rIns="0" bIns="0" rtlCol="0" anchor="ctr"/>
          <a:lstStyle/>
          <a:p>
            <a:pPr indent="0" marL="0">
              <a:buNone/>
            </a:pPr>
            <a:r>
              <a:rPr lang="en-US" sz="1000" b="1" spc="120" kern="0" dirty="0">
                <a:solidFill>
                  <a:srgbClr val="5B6B78"/>
                </a:solidFill>
              </a:rPr>
              <a:t>THE CLOCK — THE STUDENT NEVER SEES A STEP BEFORE IT UNLOCKS</a:t>
            </a:r>
            <a:endParaRPr lang="en-US" sz="1000" dirty="0"/>
          </a:p>
        </p:txBody>
      </p:sp>
      <p:sp>
        <p:nvSpPr>
          <p:cNvPr id="4" name="card"/>
          <p:cNvSpPr/>
          <p:nvPr/>
        </p:nvSpPr>
        <p:spPr>
          <a:xfrm>
            <a:off x="566928" y="1463040"/>
            <a:ext cx="2578608" cy="2286000"/>
          </a:xfrm>
          <a:prstGeom prst="roundRect">
            <a:avLst>
              <a:gd name="adj" fmla="val 2400"/>
            </a:avLst>
          </a:prstGeom>
          <a:solidFill>
            <a:srgbClr val="EDF2F0"/>
          </a:solidFill>
          <a:ln w="9525">
            <a:solidFill>
              <a:srgbClr val="DCE5E2"/>
            </a:solidFill>
            <a:prstDash val="solid"/>
          </a:ln>
        </p:spPr>
      </p:sp>
      <p:sp>
        <p:nvSpPr>
          <p:cNvPr id="5" name="Shape 3"/>
          <p:cNvSpPr/>
          <p:nvPr/>
        </p:nvSpPr>
        <p:spPr>
          <a:xfrm>
            <a:off x="768096" y="1664208"/>
            <a:ext cx="960120" cy="310896"/>
          </a:xfrm>
          <a:prstGeom prst="roundRect">
            <a:avLst>
              <a:gd name="adj" fmla="val 29412"/>
            </a:avLst>
          </a:prstGeom>
          <a:solidFill>
            <a:srgbClr val="1A5F59"/>
          </a:solidFill>
          <a:ln w="12700">
            <a:solidFill>
              <a:srgbClr val="1A5F59"/>
            </a:solidFill>
            <a:prstDash val="solid"/>
          </a:ln>
        </p:spPr>
      </p:sp>
      <p:sp>
        <p:nvSpPr>
          <p:cNvPr id="6" name="Text 4"/>
          <p:cNvSpPr txBox="1"/>
          <p:nvPr/>
        </p:nvSpPr>
        <p:spPr>
          <a:xfrm>
            <a:off x="768096" y="1664208"/>
            <a:ext cx="960120" cy="310896"/>
          </a:xfrm>
          <a:prstGeom prst="rect">
            <a:avLst/>
          </a:prstGeom>
          <a:noFill/>
          <a:ln/>
        </p:spPr>
        <p:txBody>
          <a:bodyPr wrap="square" lIns="0" tIns="0" rIns="0" bIns="0" rtlCol="0" anchor="ctr"/>
          <a:lstStyle/>
          <a:p>
            <a:pPr algn="ctr" indent="0" marL="0">
              <a:buNone/>
            </a:pPr>
            <a:r>
              <a:rPr lang="en-US" sz="1100" b="1" dirty="0">
                <a:solidFill>
                  <a:srgbClr val="FFFFFF"/>
                </a:solidFill>
              </a:rPr>
              <a:t>T − 5d</a:t>
            </a:r>
            <a:endParaRPr lang="en-US" sz="1100" dirty="0"/>
          </a:p>
        </p:txBody>
      </p:sp>
      <p:sp>
        <p:nvSpPr>
          <p:cNvPr id="7" name="Text 5"/>
          <p:cNvSpPr txBox="1"/>
          <p:nvPr/>
        </p:nvSpPr>
        <p:spPr>
          <a:xfrm>
            <a:off x="768096" y="2103120"/>
            <a:ext cx="2194560" cy="292608"/>
          </a:xfrm>
          <a:prstGeom prst="rect">
            <a:avLst/>
          </a:prstGeom>
          <a:noFill/>
          <a:ln/>
        </p:spPr>
        <p:txBody>
          <a:bodyPr wrap="square" lIns="0" tIns="0" rIns="0" bIns="0" rtlCol="0" anchor="ctr"/>
          <a:lstStyle/>
          <a:p>
            <a:pPr indent="0" marL="0">
              <a:buNone/>
            </a:pPr>
            <a:r>
              <a:rPr lang="en-US" sz="1450" b="1" dirty="0">
                <a:solidFill>
                  <a:srgbClr val="0E1A22"/>
                </a:solidFill>
              </a:rPr>
              <a:t>Brief opens</a:t>
            </a:r>
            <a:endParaRPr lang="en-US" sz="1450" dirty="0"/>
          </a:p>
        </p:txBody>
      </p:sp>
      <p:sp>
        <p:nvSpPr>
          <p:cNvPr id="8" name="Text 6"/>
          <p:cNvSpPr txBox="1"/>
          <p:nvPr/>
        </p:nvSpPr>
        <p:spPr>
          <a:xfrm>
            <a:off x="768096" y="2450592"/>
            <a:ext cx="2194560" cy="1188720"/>
          </a:xfrm>
          <a:prstGeom prst="rect">
            <a:avLst/>
          </a:prstGeom>
          <a:noFill/>
          <a:ln/>
        </p:spPr>
        <p:txBody>
          <a:bodyPr wrap="square" lIns="0" tIns="0" rIns="0" bIns="0" rtlCol="0" anchor="t"/>
          <a:lstStyle/>
          <a:p>
            <a:pPr indent="0" marL="0">
              <a:lnSpc>
                <a:spcPts val="1500"/>
              </a:lnSpc>
              <a:buNone/>
            </a:pPr>
            <a:r>
              <a:rPr lang="en-US" sz="1150" dirty="0">
                <a:solidFill>
                  <a:srgbClr val="3C4A50"/>
                </a:solidFill>
              </a:rPr>
              <a:t>Student receives the pack: as-filed financials, filings, transcripts, the bar, price.</a:t>
            </a:r>
            <a:endParaRPr lang="en-US" sz="1150" dirty="0"/>
          </a:p>
        </p:txBody>
      </p:sp>
      <p:sp>
        <p:nvSpPr>
          <p:cNvPr id="9" name="Shape 7"/>
          <p:cNvSpPr/>
          <p:nvPr/>
        </p:nvSpPr>
        <p:spPr>
          <a:xfrm>
            <a:off x="3172968" y="2487168"/>
            <a:ext cx="246888" cy="164592"/>
          </a:xfrm>
          <a:prstGeom prst="rightArrow">
            <a:avLst/>
          </a:prstGeom>
          <a:solidFill>
            <a:srgbClr val="C3D2CE"/>
          </a:solidFill>
          <a:ln w="12700">
            <a:solidFill>
              <a:srgbClr val="C3D2CE"/>
            </a:solidFill>
            <a:prstDash val="solid"/>
          </a:ln>
        </p:spPr>
      </p:sp>
      <p:sp>
        <p:nvSpPr>
          <p:cNvPr id="10" name="card"/>
          <p:cNvSpPr/>
          <p:nvPr/>
        </p:nvSpPr>
        <p:spPr>
          <a:xfrm>
            <a:off x="3447288" y="1463040"/>
            <a:ext cx="2578608" cy="2286000"/>
          </a:xfrm>
          <a:prstGeom prst="roundRect">
            <a:avLst>
              <a:gd name="adj" fmla="val 2400"/>
            </a:avLst>
          </a:prstGeom>
          <a:solidFill>
            <a:srgbClr val="EDF2F0"/>
          </a:solidFill>
          <a:ln w="9525">
            <a:solidFill>
              <a:srgbClr val="DCE5E2"/>
            </a:solidFill>
            <a:prstDash val="solid"/>
          </a:ln>
        </p:spPr>
      </p:sp>
      <p:sp>
        <p:nvSpPr>
          <p:cNvPr id="11" name="Shape 9"/>
          <p:cNvSpPr/>
          <p:nvPr/>
        </p:nvSpPr>
        <p:spPr>
          <a:xfrm>
            <a:off x="3648456" y="1664208"/>
            <a:ext cx="960120" cy="310896"/>
          </a:xfrm>
          <a:prstGeom prst="roundRect">
            <a:avLst>
              <a:gd name="adj" fmla="val 29412"/>
            </a:avLst>
          </a:prstGeom>
          <a:solidFill>
            <a:srgbClr val="1A5F59"/>
          </a:solidFill>
          <a:ln w="12700">
            <a:solidFill>
              <a:srgbClr val="1A5F59"/>
            </a:solidFill>
            <a:prstDash val="solid"/>
          </a:ln>
        </p:spPr>
      </p:sp>
      <p:sp>
        <p:nvSpPr>
          <p:cNvPr id="12" name="Text 10"/>
          <p:cNvSpPr txBox="1"/>
          <p:nvPr/>
        </p:nvSpPr>
        <p:spPr>
          <a:xfrm>
            <a:off x="3648456" y="1664208"/>
            <a:ext cx="960120" cy="310896"/>
          </a:xfrm>
          <a:prstGeom prst="rect">
            <a:avLst/>
          </a:prstGeom>
          <a:noFill/>
          <a:ln/>
        </p:spPr>
        <p:txBody>
          <a:bodyPr wrap="square" lIns="0" tIns="0" rIns="0" bIns="0" rtlCol="0" anchor="ctr"/>
          <a:lstStyle/>
          <a:p>
            <a:pPr algn="ctr" indent="0" marL="0">
              <a:buNone/>
            </a:pPr>
            <a:r>
              <a:rPr lang="en-US" sz="1100" b="1" dirty="0">
                <a:solidFill>
                  <a:srgbClr val="FFFFFF"/>
                </a:solidFill>
              </a:rPr>
              <a:t>T</a:t>
            </a:r>
            <a:endParaRPr lang="en-US" sz="1100" dirty="0"/>
          </a:p>
        </p:txBody>
      </p:sp>
      <p:sp>
        <p:nvSpPr>
          <p:cNvPr id="13" name="Text 11"/>
          <p:cNvSpPr txBox="1"/>
          <p:nvPr/>
        </p:nvSpPr>
        <p:spPr>
          <a:xfrm>
            <a:off x="3648456" y="2103120"/>
            <a:ext cx="2194560" cy="292608"/>
          </a:xfrm>
          <a:prstGeom prst="rect">
            <a:avLst/>
          </a:prstGeom>
          <a:noFill/>
          <a:ln/>
        </p:spPr>
        <p:txBody>
          <a:bodyPr wrap="square" lIns="0" tIns="0" rIns="0" bIns="0" rtlCol="0" anchor="ctr"/>
          <a:lstStyle/>
          <a:p>
            <a:pPr indent="0" marL="0">
              <a:buNone/>
            </a:pPr>
            <a:r>
              <a:rPr lang="en-US" sz="1450" b="1" dirty="0">
                <a:solidFill>
                  <a:srgbClr val="0E1A22"/>
                </a:solidFill>
              </a:rPr>
              <a:t>Decision</a:t>
            </a:r>
            <a:endParaRPr lang="en-US" sz="1450" dirty="0"/>
          </a:p>
        </p:txBody>
      </p:sp>
      <p:sp>
        <p:nvSpPr>
          <p:cNvPr id="14" name="Text 12"/>
          <p:cNvSpPr txBox="1"/>
          <p:nvPr/>
        </p:nvSpPr>
        <p:spPr>
          <a:xfrm>
            <a:off x="3648456" y="2450592"/>
            <a:ext cx="2194560" cy="1188720"/>
          </a:xfrm>
          <a:prstGeom prst="rect">
            <a:avLst/>
          </a:prstGeom>
          <a:noFill/>
          <a:ln/>
        </p:spPr>
        <p:txBody>
          <a:bodyPr wrap="square" lIns="0" tIns="0" rIns="0" bIns="0" rtlCol="0" anchor="t"/>
          <a:lstStyle/>
          <a:p>
            <a:pPr indent="0" marL="0">
              <a:lnSpc>
                <a:spcPts val="1500"/>
              </a:lnSpc>
              <a:buNone/>
            </a:pPr>
            <a:r>
              <a:rPr lang="en-US" sz="1150" dirty="0">
                <a:solidFill>
                  <a:srgbClr val="3C4A50"/>
                </a:solidFill>
              </a:rPr>
              <a:t>Thesis, model, price target, scenario probabilities, sizing — and a written pre-commitment.</a:t>
            </a:r>
            <a:endParaRPr lang="en-US" sz="1150" dirty="0"/>
          </a:p>
        </p:txBody>
      </p:sp>
      <p:sp>
        <p:nvSpPr>
          <p:cNvPr id="15" name="Shape 13"/>
          <p:cNvSpPr/>
          <p:nvPr/>
        </p:nvSpPr>
        <p:spPr>
          <a:xfrm>
            <a:off x="6053328" y="2487168"/>
            <a:ext cx="246888" cy="164592"/>
          </a:xfrm>
          <a:prstGeom prst="rightArrow">
            <a:avLst/>
          </a:prstGeom>
          <a:solidFill>
            <a:srgbClr val="C3D2CE"/>
          </a:solidFill>
          <a:ln w="12700">
            <a:solidFill>
              <a:srgbClr val="C3D2CE"/>
            </a:solidFill>
            <a:prstDash val="solid"/>
          </a:ln>
        </p:spPr>
      </p:sp>
      <p:sp>
        <p:nvSpPr>
          <p:cNvPr id="16" name="card"/>
          <p:cNvSpPr/>
          <p:nvPr/>
        </p:nvSpPr>
        <p:spPr>
          <a:xfrm>
            <a:off x="6327648" y="1463040"/>
            <a:ext cx="2578608" cy="2286000"/>
          </a:xfrm>
          <a:prstGeom prst="roundRect">
            <a:avLst>
              <a:gd name="adj" fmla="val 2400"/>
            </a:avLst>
          </a:prstGeom>
          <a:solidFill>
            <a:srgbClr val="EDF2F0"/>
          </a:solidFill>
          <a:ln w="9525">
            <a:solidFill>
              <a:srgbClr val="DCE5E2"/>
            </a:solidFill>
            <a:prstDash val="solid"/>
          </a:ln>
        </p:spPr>
      </p:sp>
      <p:sp>
        <p:nvSpPr>
          <p:cNvPr id="17" name="Shape 15"/>
          <p:cNvSpPr/>
          <p:nvPr/>
        </p:nvSpPr>
        <p:spPr>
          <a:xfrm>
            <a:off x="6528816" y="1664208"/>
            <a:ext cx="960120" cy="310896"/>
          </a:xfrm>
          <a:prstGeom prst="roundRect">
            <a:avLst>
              <a:gd name="adj" fmla="val 29412"/>
            </a:avLst>
          </a:prstGeom>
          <a:solidFill>
            <a:srgbClr val="1A5F59"/>
          </a:solidFill>
          <a:ln w="12700">
            <a:solidFill>
              <a:srgbClr val="1A5F59"/>
            </a:solidFill>
            <a:prstDash val="solid"/>
          </a:ln>
        </p:spPr>
      </p:sp>
      <p:sp>
        <p:nvSpPr>
          <p:cNvPr id="18" name="Text 16"/>
          <p:cNvSpPr txBox="1"/>
          <p:nvPr/>
        </p:nvSpPr>
        <p:spPr>
          <a:xfrm>
            <a:off x="6528816" y="1664208"/>
            <a:ext cx="960120" cy="310896"/>
          </a:xfrm>
          <a:prstGeom prst="rect">
            <a:avLst/>
          </a:prstGeom>
          <a:noFill/>
          <a:ln/>
        </p:spPr>
        <p:txBody>
          <a:bodyPr wrap="square" lIns="0" tIns="0" rIns="0" bIns="0" rtlCol="0" anchor="ctr"/>
          <a:lstStyle/>
          <a:p>
            <a:pPr algn="ctr" indent="0" marL="0">
              <a:buNone/>
            </a:pPr>
            <a:r>
              <a:rPr lang="en-US" sz="1100" b="1" dirty="0">
                <a:solidFill>
                  <a:srgbClr val="FFFFFF"/>
                </a:solidFill>
              </a:rPr>
              <a:t>T + 1q</a:t>
            </a:r>
            <a:endParaRPr lang="en-US" sz="1100" dirty="0"/>
          </a:p>
        </p:txBody>
      </p:sp>
      <p:sp>
        <p:nvSpPr>
          <p:cNvPr id="19" name="Text 17"/>
          <p:cNvSpPr txBox="1"/>
          <p:nvPr/>
        </p:nvSpPr>
        <p:spPr>
          <a:xfrm>
            <a:off x="6528816" y="2103120"/>
            <a:ext cx="2194560" cy="292608"/>
          </a:xfrm>
          <a:prstGeom prst="rect">
            <a:avLst/>
          </a:prstGeom>
          <a:noFill/>
          <a:ln/>
        </p:spPr>
        <p:txBody>
          <a:bodyPr wrap="square" lIns="0" tIns="0" rIns="0" bIns="0" rtlCol="0" anchor="ctr"/>
          <a:lstStyle/>
          <a:p>
            <a:pPr indent="0" marL="0">
              <a:buNone/>
            </a:pPr>
            <a:r>
              <a:rPr lang="en-US" sz="1450" b="1" dirty="0">
                <a:solidFill>
                  <a:srgbClr val="0E1A22"/>
                </a:solidFill>
              </a:rPr>
              <a:t>The print</a:t>
            </a:r>
            <a:endParaRPr lang="en-US" sz="1450" dirty="0"/>
          </a:p>
        </p:txBody>
      </p:sp>
      <p:sp>
        <p:nvSpPr>
          <p:cNvPr id="20" name="Text 18"/>
          <p:cNvSpPr txBox="1"/>
          <p:nvPr/>
        </p:nvSpPr>
        <p:spPr>
          <a:xfrm>
            <a:off x="6528816" y="2450592"/>
            <a:ext cx="2194560" cy="1188720"/>
          </a:xfrm>
          <a:prstGeom prst="rect">
            <a:avLst/>
          </a:prstGeom>
          <a:noFill/>
          <a:ln/>
        </p:spPr>
        <p:txBody>
          <a:bodyPr wrap="square" lIns="0" tIns="0" rIns="0" bIns="0" rtlCol="0" anchor="t"/>
          <a:lstStyle/>
          <a:p>
            <a:pPr indent="0" marL="0">
              <a:lnSpc>
                <a:spcPts val="1500"/>
              </a:lnSpc>
              <a:buNone/>
            </a:pPr>
            <a:r>
              <a:rPr lang="en-US" sz="1150" dirty="0">
                <a:solidFill>
                  <a:srgbClr val="3C4A50"/>
                </a:solidFill>
              </a:rPr>
              <a:t>The real quarter is released. 15-minute first read, then re-set the forward bar.</a:t>
            </a:r>
            <a:endParaRPr lang="en-US" sz="1150" dirty="0"/>
          </a:p>
        </p:txBody>
      </p:sp>
      <p:sp>
        <p:nvSpPr>
          <p:cNvPr id="21" name="Shape 19"/>
          <p:cNvSpPr/>
          <p:nvPr/>
        </p:nvSpPr>
        <p:spPr>
          <a:xfrm>
            <a:off x="8933688" y="2487168"/>
            <a:ext cx="246888" cy="164592"/>
          </a:xfrm>
          <a:prstGeom prst="rightArrow">
            <a:avLst/>
          </a:prstGeom>
          <a:solidFill>
            <a:srgbClr val="C3D2CE"/>
          </a:solidFill>
          <a:ln w="12700">
            <a:solidFill>
              <a:srgbClr val="C3D2CE"/>
            </a:solidFill>
            <a:prstDash val="solid"/>
          </a:ln>
        </p:spPr>
      </p:sp>
      <p:sp>
        <p:nvSpPr>
          <p:cNvPr id="22" name="card"/>
          <p:cNvSpPr/>
          <p:nvPr/>
        </p:nvSpPr>
        <p:spPr>
          <a:xfrm>
            <a:off x="9208008" y="1463040"/>
            <a:ext cx="2578608" cy="2286000"/>
          </a:xfrm>
          <a:prstGeom prst="roundRect">
            <a:avLst>
              <a:gd name="adj" fmla="val 2400"/>
            </a:avLst>
          </a:prstGeom>
          <a:solidFill>
            <a:srgbClr val="EDF2F0"/>
          </a:solidFill>
          <a:ln w="9525">
            <a:solidFill>
              <a:srgbClr val="DCE5E2"/>
            </a:solidFill>
            <a:prstDash val="solid"/>
          </a:ln>
        </p:spPr>
      </p:sp>
      <p:sp>
        <p:nvSpPr>
          <p:cNvPr id="23" name="Shape 21"/>
          <p:cNvSpPr/>
          <p:nvPr/>
        </p:nvSpPr>
        <p:spPr>
          <a:xfrm>
            <a:off x="9409176" y="1664208"/>
            <a:ext cx="960120" cy="310896"/>
          </a:xfrm>
          <a:prstGeom prst="roundRect">
            <a:avLst>
              <a:gd name="adj" fmla="val 29412"/>
            </a:avLst>
          </a:prstGeom>
          <a:solidFill>
            <a:srgbClr val="1A5F59"/>
          </a:solidFill>
          <a:ln w="12700">
            <a:solidFill>
              <a:srgbClr val="1A5F59"/>
            </a:solidFill>
            <a:prstDash val="solid"/>
          </a:ln>
        </p:spPr>
      </p:sp>
      <p:sp>
        <p:nvSpPr>
          <p:cNvPr id="24" name="Text 22"/>
          <p:cNvSpPr txBox="1"/>
          <p:nvPr/>
        </p:nvSpPr>
        <p:spPr>
          <a:xfrm>
            <a:off x="9409176" y="1664208"/>
            <a:ext cx="960120" cy="310896"/>
          </a:xfrm>
          <a:prstGeom prst="rect">
            <a:avLst/>
          </a:prstGeom>
          <a:noFill/>
          <a:ln/>
        </p:spPr>
        <p:txBody>
          <a:bodyPr wrap="square" lIns="0" tIns="0" rIns="0" bIns="0" rtlCol="0" anchor="ctr"/>
          <a:lstStyle/>
          <a:p>
            <a:pPr algn="ctr" indent="0" marL="0">
              <a:buNone/>
            </a:pPr>
            <a:r>
              <a:rPr lang="en-US" sz="1100" b="1" dirty="0">
                <a:solidFill>
                  <a:srgbClr val="FFFFFF"/>
                </a:solidFill>
              </a:rPr>
              <a:t>T + 60d</a:t>
            </a:r>
            <a:endParaRPr lang="en-US" sz="1100" dirty="0"/>
          </a:p>
        </p:txBody>
      </p:sp>
      <p:sp>
        <p:nvSpPr>
          <p:cNvPr id="25" name="Text 23"/>
          <p:cNvSpPr txBox="1"/>
          <p:nvPr/>
        </p:nvSpPr>
        <p:spPr>
          <a:xfrm>
            <a:off x="9409176" y="2103120"/>
            <a:ext cx="2194560" cy="292608"/>
          </a:xfrm>
          <a:prstGeom prst="rect">
            <a:avLst/>
          </a:prstGeom>
          <a:noFill/>
          <a:ln/>
        </p:spPr>
        <p:txBody>
          <a:bodyPr wrap="square" lIns="0" tIns="0" rIns="0" bIns="0" rtlCol="0" anchor="ctr"/>
          <a:lstStyle/>
          <a:p>
            <a:pPr indent="0" marL="0">
              <a:buNone/>
            </a:pPr>
            <a:r>
              <a:rPr lang="en-US" sz="1450" b="1" dirty="0">
                <a:solidFill>
                  <a:srgbClr val="0E1A22"/>
                </a:solidFill>
              </a:rPr>
              <a:t>Resolution</a:t>
            </a:r>
            <a:endParaRPr lang="en-US" sz="1450" dirty="0"/>
          </a:p>
        </p:txBody>
      </p:sp>
      <p:sp>
        <p:nvSpPr>
          <p:cNvPr id="26" name="Text 24"/>
          <p:cNvSpPr txBox="1"/>
          <p:nvPr/>
        </p:nvSpPr>
        <p:spPr>
          <a:xfrm>
            <a:off x="9409176" y="2450592"/>
            <a:ext cx="2194560" cy="1188720"/>
          </a:xfrm>
          <a:prstGeom prst="rect">
            <a:avLst/>
          </a:prstGeom>
          <a:noFill/>
          <a:ln/>
        </p:spPr>
        <p:txBody>
          <a:bodyPr wrap="square" lIns="0" tIns="0" rIns="0" bIns="0" rtlCol="0" anchor="t"/>
          <a:lstStyle/>
          <a:p>
            <a:pPr indent="0" marL="0">
              <a:lnSpc>
                <a:spcPts val="1500"/>
              </a:lnSpc>
              <a:buNone/>
            </a:pPr>
            <a:r>
              <a:rPr lang="en-US" sz="1150" dirty="0">
                <a:solidFill>
                  <a:srgbClr val="3C4A50"/>
                </a:solidFill>
              </a:rPr>
              <a:t>Outcome revealed. Forecasts scored for calibration. Forced post-mortem.</a:t>
            </a:r>
            <a:endParaRPr lang="en-US" sz="1150" dirty="0"/>
          </a:p>
        </p:txBody>
      </p:sp>
      <p:sp>
        <p:nvSpPr>
          <p:cNvPr id="27" name="card"/>
          <p:cNvSpPr/>
          <p:nvPr/>
        </p:nvSpPr>
        <p:spPr>
          <a:xfrm>
            <a:off x="566928" y="3977640"/>
            <a:ext cx="11027664" cy="1371600"/>
          </a:xfrm>
          <a:prstGeom prst="roundRect">
            <a:avLst>
              <a:gd name="adj" fmla="val 4000"/>
            </a:avLst>
          </a:prstGeom>
          <a:solidFill>
            <a:srgbClr val="F5F8F7"/>
          </a:solidFill>
          <a:ln w="9525">
            <a:solidFill>
              <a:srgbClr val="DCE5E2"/>
            </a:solidFill>
            <a:prstDash val="solid"/>
          </a:ln>
        </p:spPr>
      </p:sp>
      <p:sp>
        <p:nvSpPr>
          <p:cNvPr id="28" name="Text 26"/>
          <p:cNvSpPr txBox="1"/>
          <p:nvPr/>
        </p:nvSpPr>
        <p:spPr>
          <a:xfrm>
            <a:off x="841248" y="4187952"/>
            <a:ext cx="5486400" cy="310896"/>
          </a:xfrm>
          <a:prstGeom prst="rect">
            <a:avLst/>
          </a:prstGeom>
          <a:noFill/>
          <a:ln/>
        </p:spPr>
        <p:txBody>
          <a:bodyPr wrap="square" lIns="0" tIns="0" rIns="0" bIns="0" rtlCol="0" anchor="ctr"/>
          <a:lstStyle/>
          <a:p>
            <a:pPr indent="0" marL="0">
              <a:buNone/>
            </a:pPr>
            <a:r>
              <a:rPr lang="en-US" sz="1450" b="1" dirty="0">
                <a:solidFill>
                  <a:srgbClr val="1A5F59"/>
                </a:solidFill>
              </a:rPr>
              <a:t>Answers lock when a step closes</a:t>
            </a:r>
            <a:endParaRPr lang="en-US" sz="1450" dirty="0"/>
          </a:p>
        </p:txBody>
      </p:sp>
      <p:sp>
        <p:nvSpPr>
          <p:cNvPr id="29" name="Text 27"/>
          <p:cNvSpPr txBox="1"/>
          <p:nvPr/>
        </p:nvSpPr>
        <p:spPr>
          <a:xfrm>
            <a:off x="841248" y="4553712"/>
            <a:ext cx="10424160" cy="731520"/>
          </a:xfrm>
          <a:prstGeom prst="rect">
            <a:avLst/>
          </a:prstGeom>
          <a:noFill/>
          <a:ln/>
        </p:spPr>
        <p:txBody>
          <a:bodyPr wrap="square" lIns="0" tIns="0" rIns="0" bIns="0" rtlCol="0" anchor="t"/>
          <a:lstStyle/>
          <a:p>
            <a:pPr indent="0" marL="0">
              <a:lnSpc>
                <a:spcPts val="1700"/>
              </a:lnSpc>
              <a:buNone/>
            </a:pPr>
            <a:r>
              <a:rPr lang="en-US" sz="1250" dirty="0">
                <a:solidFill>
                  <a:srgbClr val="3C4A50"/>
                </a:solidFill>
              </a:rPr>
              <a:t>The lock is the instrument, not a convenience. Three exercises are only valid because the earlier submission cannot be revised: the two-phase core-debate drill, the earnings pre-commitment, and the forced re-underwrite that measures thesis creep.</a:t>
            </a:r>
            <a:endParaRPr lang="en-US" sz="125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Four layers — two of them already built</a:t>
            </a:r>
            <a:endParaRPr lang="en-US" sz="2700" dirty="0"/>
          </a:p>
        </p:txBody>
      </p:sp>
      <p:sp>
        <p:nvSpPr>
          <p:cNvPr id="3" name="card"/>
          <p:cNvSpPr/>
          <p:nvPr/>
        </p:nvSpPr>
        <p:spPr>
          <a:xfrm>
            <a:off x="566928" y="1188720"/>
            <a:ext cx="11027664" cy="932688"/>
          </a:xfrm>
          <a:prstGeom prst="roundRect">
            <a:avLst>
              <a:gd name="adj" fmla="val 5882"/>
            </a:avLst>
          </a:prstGeom>
          <a:solidFill>
            <a:srgbClr val="EEF4F0"/>
          </a:solidFill>
          <a:ln w="9525">
            <a:solidFill>
              <a:srgbClr val="CFE0D6"/>
            </a:solidFill>
            <a:prstDash val="solid"/>
          </a:ln>
        </p:spPr>
      </p:sp>
      <p:sp>
        <p:nvSpPr>
          <p:cNvPr id="4" name="Shape 2"/>
          <p:cNvSpPr/>
          <p:nvPr/>
        </p:nvSpPr>
        <p:spPr>
          <a:xfrm>
            <a:off x="804672" y="1463040"/>
            <a:ext cx="384048" cy="384048"/>
          </a:xfrm>
          <a:prstGeom prst="roundRect">
            <a:avLst>
              <a:gd name="adj" fmla="val 28571"/>
            </a:avLst>
          </a:prstGeom>
          <a:solidFill>
            <a:srgbClr val="1A5F59"/>
          </a:solidFill>
          <a:ln w="12700">
            <a:solidFill>
              <a:srgbClr val="1A5F59"/>
            </a:solidFill>
            <a:prstDash val="solid"/>
          </a:ln>
        </p:spPr>
      </p:sp>
      <p:sp>
        <p:nvSpPr>
          <p:cNvPr id="5" name="Text 3"/>
          <p:cNvSpPr txBox="1"/>
          <p:nvPr/>
        </p:nvSpPr>
        <p:spPr>
          <a:xfrm>
            <a:off x="804672"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353312"/>
            <a:ext cx="1463040" cy="292608"/>
          </a:xfrm>
          <a:prstGeom prst="rect">
            <a:avLst/>
          </a:prstGeom>
          <a:noFill/>
          <a:ln/>
        </p:spPr>
        <p:txBody>
          <a:bodyPr wrap="square" lIns="0" tIns="0" rIns="0" bIns="0" rtlCol="0" anchor="ctr"/>
          <a:lstStyle/>
          <a:p>
            <a:pPr indent="0" marL="0">
              <a:buNone/>
            </a:pPr>
            <a:r>
              <a:rPr lang="en-US" sz="1500" b="1" dirty="0">
                <a:solidFill>
                  <a:srgbClr val="0E1A22"/>
                </a:solidFill>
              </a:rPr>
              <a:t>Data</a:t>
            </a:r>
            <a:endParaRPr lang="en-US" sz="1500" dirty="0"/>
          </a:p>
        </p:txBody>
      </p:sp>
      <p:sp>
        <p:nvSpPr>
          <p:cNvPr id="7" name="Text 5"/>
          <p:cNvSpPr txBox="1"/>
          <p:nvPr/>
        </p:nvSpPr>
        <p:spPr>
          <a:xfrm>
            <a:off x="1353312" y="1682496"/>
            <a:ext cx="2377440" cy="274320"/>
          </a:xfrm>
          <a:prstGeom prst="rect">
            <a:avLst/>
          </a:prstGeom>
          <a:noFill/>
          <a:ln/>
        </p:spPr>
        <p:txBody>
          <a:bodyPr wrap="square" lIns="0" tIns="0" rIns="0" bIns="0" rtlCol="0" anchor="ctr"/>
          <a:lstStyle/>
          <a:p>
            <a:pPr indent="0" marL="0">
              <a:buNone/>
            </a:pPr>
            <a:r>
              <a:rPr lang="en-US" sz="1050" dirty="0">
                <a:solidFill>
                  <a:srgbClr val="5B6B78"/>
                </a:solidFill>
                <a:latin typeface="Courier New" pitchFamily="34" charset="0"/>
                <a:ea typeface="Courier New" pitchFamily="34" charset="-122"/>
                <a:cs typeface="Courier New" pitchFamily="34" charset="-120"/>
              </a:rPr>
              <a:t>pit/client.py · pit/comps.py</a:t>
            </a:r>
            <a:endParaRPr lang="en-US" sz="1050" dirty="0"/>
          </a:p>
        </p:txBody>
      </p:sp>
      <p:sp>
        <p:nvSpPr>
          <p:cNvPr id="8" name="Text 6"/>
          <p:cNvSpPr txBox="1"/>
          <p:nvPr/>
        </p:nvSpPr>
        <p:spPr>
          <a:xfrm>
            <a:off x="3950208" y="1426464"/>
            <a:ext cx="5760720" cy="640080"/>
          </a:xfrm>
          <a:prstGeom prst="rect">
            <a:avLst/>
          </a:prstGeom>
          <a:noFill/>
          <a:ln/>
        </p:spPr>
        <p:txBody>
          <a:bodyPr wrap="square" lIns="0" tIns="0" rIns="0" bIns="0" rtlCol="0" anchor="t"/>
          <a:lstStyle/>
          <a:p>
            <a:pPr indent="0" marL="0">
              <a:lnSpc>
                <a:spcPts val="1600"/>
              </a:lnSpc>
              <a:buNone/>
            </a:pPr>
            <a:r>
              <a:rPr lang="en-US" sz="1250" dirty="0">
                <a:solidFill>
                  <a:srgbClr val="3C4A50"/>
                </a:solidFill>
              </a:rPr>
              <a:t>As-of filtering, restatement detection, rate limiting, on-disk cache.</a:t>
            </a:r>
            <a:endParaRPr lang="en-US" sz="1250" dirty="0"/>
          </a:p>
        </p:txBody>
      </p:sp>
      <p:sp>
        <p:nvSpPr>
          <p:cNvPr id="9" name="Shape 7"/>
          <p:cNvSpPr/>
          <p:nvPr/>
        </p:nvSpPr>
        <p:spPr>
          <a:xfrm>
            <a:off x="9985248" y="1481328"/>
            <a:ext cx="1371600" cy="310896"/>
          </a:xfrm>
          <a:prstGeom prst="roundRect">
            <a:avLst>
              <a:gd name="adj" fmla="val 29412"/>
            </a:avLst>
          </a:prstGeom>
          <a:solidFill>
            <a:srgbClr val="2F6B45"/>
          </a:solidFill>
          <a:ln w="12700">
            <a:solidFill>
              <a:srgbClr val="2F6B45"/>
            </a:solidFill>
            <a:prstDash val="solid"/>
          </a:ln>
        </p:spPr>
      </p:sp>
      <p:sp>
        <p:nvSpPr>
          <p:cNvPr id="10" name="Text 8"/>
          <p:cNvSpPr txBox="1"/>
          <p:nvPr/>
        </p:nvSpPr>
        <p:spPr>
          <a:xfrm>
            <a:off x="9985248" y="1481328"/>
            <a:ext cx="1371600" cy="310896"/>
          </a:xfrm>
          <a:prstGeom prst="rect">
            <a:avLst/>
          </a:prstGeom>
          <a:noFill/>
          <a:ln/>
        </p:spPr>
        <p:txBody>
          <a:bodyPr wrap="square" lIns="0" tIns="0" rIns="0" bIns="0" rtlCol="0" anchor="ctr"/>
          <a:lstStyle/>
          <a:p>
            <a:pPr algn="ctr" indent="0" marL="0">
              <a:buNone/>
            </a:pPr>
            <a:r>
              <a:rPr lang="en-US" sz="850" b="1" spc="50" kern="0" dirty="0">
                <a:solidFill>
                  <a:srgbClr val="FFFFFF"/>
                </a:solidFill>
              </a:rPr>
              <a:t>BUILT &amp; TESTED</a:t>
            </a:r>
            <a:endParaRPr lang="en-US" sz="850" dirty="0"/>
          </a:p>
        </p:txBody>
      </p:sp>
      <p:sp>
        <p:nvSpPr>
          <p:cNvPr id="11" name="card"/>
          <p:cNvSpPr/>
          <p:nvPr/>
        </p:nvSpPr>
        <p:spPr>
          <a:xfrm>
            <a:off x="566928" y="2267712"/>
            <a:ext cx="11027664" cy="932688"/>
          </a:xfrm>
          <a:prstGeom prst="roundRect">
            <a:avLst>
              <a:gd name="adj" fmla="val 5882"/>
            </a:avLst>
          </a:prstGeom>
          <a:solidFill>
            <a:srgbClr val="EEF4F0"/>
          </a:solidFill>
          <a:ln w="9525">
            <a:solidFill>
              <a:srgbClr val="CFE0D6"/>
            </a:solidFill>
            <a:prstDash val="solid"/>
          </a:ln>
        </p:spPr>
      </p:sp>
      <p:sp>
        <p:nvSpPr>
          <p:cNvPr id="12" name="Shape 10"/>
          <p:cNvSpPr/>
          <p:nvPr/>
        </p:nvSpPr>
        <p:spPr>
          <a:xfrm>
            <a:off x="804672" y="2542032"/>
            <a:ext cx="384048" cy="384048"/>
          </a:xfrm>
          <a:prstGeom prst="roundRect">
            <a:avLst>
              <a:gd name="adj" fmla="val 28571"/>
            </a:avLst>
          </a:prstGeom>
          <a:solidFill>
            <a:srgbClr val="1A5F59"/>
          </a:solidFill>
          <a:ln w="12700">
            <a:solidFill>
              <a:srgbClr val="1A5F59"/>
            </a:solidFill>
            <a:prstDash val="solid"/>
          </a:ln>
        </p:spPr>
      </p:sp>
      <p:sp>
        <p:nvSpPr>
          <p:cNvPr id="13" name="Text 11"/>
          <p:cNvSpPr txBox="1"/>
          <p:nvPr/>
        </p:nvSpPr>
        <p:spPr>
          <a:xfrm>
            <a:off x="804672" y="25420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2"/>
          <p:cNvSpPr txBox="1"/>
          <p:nvPr/>
        </p:nvSpPr>
        <p:spPr>
          <a:xfrm>
            <a:off x="1353312" y="2432304"/>
            <a:ext cx="1463040" cy="292608"/>
          </a:xfrm>
          <a:prstGeom prst="rect">
            <a:avLst/>
          </a:prstGeom>
          <a:noFill/>
          <a:ln/>
        </p:spPr>
        <p:txBody>
          <a:bodyPr wrap="square" lIns="0" tIns="0" rIns="0" bIns="0" rtlCol="0" anchor="ctr"/>
          <a:lstStyle/>
          <a:p>
            <a:pPr indent="0" marL="0">
              <a:buNone/>
            </a:pPr>
            <a:r>
              <a:rPr lang="en-US" sz="1500" b="1" dirty="0">
                <a:solidFill>
                  <a:srgbClr val="0E1A22"/>
                </a:solidFill>
              </a:rPr>
              <a:t>Authoring</a:t>
            </a:r>
            <a:endParaRPr lang="en-US" sz="1500" dirty="0"/>
          </a:p>
        </p:txBody>
      </p:sp>
      <p:sp>
        <p:nvSpPr>
          <p:cNvPr id="15" name="Text 13"/>
          <p:cNvSpPr txBox="1"/>
          <p:nvPr/>
        </p:nvSpPr>
        <p:spPr>
          <a:xfrm>
            <a:off x="1353312" y="2761488"/>
            <a:ext cx="2377440" cy="274320"/>
          </a:xfrm>
          <a:prstGeom prst="rect">
            <a:avLst/>
          </a:prstGeom>
          <a:noFill/>
          <a:ln/>
        </p:spPr>
        <p:txBody>
          <a:bodyPr wrap="square" lIns="0" tIns="0" rIns="0" bIns="0" rtlCol="0" anchor="ctr"/>
          <a:lstStyle/>
          <a:p>
            <a:pPr indent="0" marL="0">
              <a:buNone/>
            </a:pPr>
            <a:r>
              <a:rPr lang="en-US" sz="1050" dirty="0">
                <a:solidFill>
                  <a:srgbClr val="5B6B78"/>
                </a:solidFill>
                <a:latin typeface="Courier New" pitchFamily="34" charset="0"/>
                <a:ea typeface="Courier New" pitchFamily="34" charset="-122"/>
                <a:cs typeface="Courier New" pitchFamily="34" charset="-120"/>
              </a:rPr>
              <a:t>pit/case.py</a:t>
            </a:r>
            <a:endParaRPr lang="en-US" sz="1050" dirty="0"/>
          </a:p>
        </p:txBody>
      </p:sp>
      <p:sp>
        <p:nvSpPr>
          <p:cNvPr id="16" name="Text 14"/>
          <p:cNvSpPr txBox="1"/>
          <p:nvPr/>
        </p:nvSpPr>
        <p:spPr>
          <a:xfrm>
            <a:off x="3950208" y="2505456"/>
            <a:ext cx="5760720" cy="640080"/>
          </a:xfrm>
          <a:prstGeom prst="rect">
            <a:avLst/>
          </a:prstGeom>
          <a:noFill/>
          <a:ln/>
        </p:spPr>
        <p:txBody>
          <a:bodyPr wrap="square" lIns="0" tIns="0" rIns="0" bIns="0" rtlCol="0" anchor="t"/>
          <a:lstStyle/>
          <a:p>
            <a:pPr indent="0" marL="0">
              <a:lnSpc>
                <a:spcPts val="1600"/>
              </a:lnSpc>
              <a:buNone/>
            </a:pPr>
            <a:r>
              <a:rPr lang="en-US" sz="1250" dirty="0">
                <a:solidFill>
                  <a:srgbClr val="3C4A50"/>
                </a:solidFill>
              </a:rPr>
              <a:t>CaseManifest schema, facts_from_sec(), and validate_pit_safety() — the guardrail.</a:t>
            </a:r>
            <a:endParaRPr lang="en-US" sz="1250" dirty="0"/>
          </a:p>
        </p:txBody>
      </p:sp>
      <p:sp>
        <p:nvSpPr>
          <p:cNvPr id="17" name="Shape 15"/>
          <p:cNvSpPr/>
          <p:nvPr/>
        </p:nvSpPr>
        <p:spPr>
          <a:xfrm>
            <a:off x="9985248" y="2560320"/>
            <a:ext cx="1371600" cy="310896"/>
          </a:xfrm>
          <a:prstGeom prst="roundRect">
            <a:avLst>
              <a:gd name="adj" fmla="val 29412"/>
            </a:avLst>
          </a:prstGeom>
          <a:solidFill>
            <a:srgbClr val="2F6B45"/>
          </a:solidFill>
          <a:ln w="12700">
            <a:solidFill>
              <a:srgbClr val="2F6B45"/>
            </a:solidFill>
            <a:prstDash val="solid"/>
          </a:ln>
        </p:spPr>
      </p:sp>
      <p:sp>
        <p:nvSpPr>
          <p:cNvPr id="18" name="Text 16"/>
          <p:cNvSpPr txBox="1"/>
          <p:nvPr/>
        </p:nvSpPr>
        <p:spPr>
          <a:xfrm>
            <a:off x="9985248" y="2560320"/>
            <a:ext cx="1371600" cy="310896"/>
          </a:xfrm>
          <a:prstGeom prst="rect">
            <a:avLst/>
          </a:prstGeom>
          <a:noFill/>
          <a:ln/>
        </p:spPr>
        <p:txBody>
          <a:bodyPr wrap="square" lIns="0" tIns="0" rIns="0" bIns="0" rtlCol="0" anchor="ctr"/>
          <a:lstStyle/>
          <a:p>
            <a:pPr algn="ctr" indent="0" marL="0">
              <a:buNone/>
            </a:pPr>
            <a:r>
              <a:rPr lang="en-US" sz="850" b="1" spc="50" kern="0" dirty="0">
                <a:solidFill>
                  <a:srgbClr val="FFFFFF"/>
                </a:solidFill>
              </a:rPr>
              <a:t>BUILT &amp; TESTED</a:t>
            </a:r>
            <a:endParaRPr lang="en-US" sz="850" dirty="0"/>
          </a:p>
        </p:txBody>
      </p:sp>
      <p:sp>
        <p:nvSpPr>
          <p:cNvPr id="19" name="card"/>
          <p:cNvSpPr/>
          <p:nvPr/>
        </p:nvSpPr>
        <p:spPr>
          <a:xfrm>
            <a:off x="566928" y="3346704"/>
            <a:ext cx="11027664" cy="932688"/>
          </a:xfrm>
          <a:prstGeom prst="roundRect">
            <a:avLst>
              <a:gd name="adj" fmla="val 5882"/>
            </a:avLst>
          </a:prstGeom>
          <a:solidFill>
            <a:srgbClr val="F7F8F8"/>
          </a:solidFill>
          <a:ln w="9525">
            <a:solidFill>
              <a:srgbClr val="E2E6E5"/>
            </a:solidFill>
            <a:prstDash val="solid"/>
          </a:ln>
        </p:spPr>
      </p:sp>
      <p:sp>
        <p:nvSpPr>
          <p:cNvPr id="20" name="Shape 18"/>
          <p:cNvSpPr/>
          <p:nvPr/>
        </p:nvSpPr>
        <p:spPr>
          <a:xfrm>
            <a:off x="804672" y="3621024"/>
            <a:ext cx="384048" cy="384048"/>
          </a:xfrm>
          <a:prstGeom prst="roundRect">
            <a:avLst>
              <a:gd name="adj" fmla="val 28571"/>
            </a:avLst>
          </a:prstGeom>
          <a:solidFill>
            <a:srgbClr val="5B6B78"/>
          </a:solidFill>
          <a:ln w="12700">
            <a:solidFill>
              <a:srgbClr val="5B6B78"/>
            </a:solidFill>
            <a:prstDash val="solid"/>
          </a:ln>
        </p:spPr>
      </p:sp>
      <p:sp>
        <p:nvSpPr>
          <p:cNvPr id="21" name="Text 19"/>
          <p:cNvSpPr txBox="1"/>
          <p:nvPr/>
        </p:nvSpPr>
        <p:spPr>
          <a:xfrm>
            <a:off x="804672" y="36210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2" name="Text 20"/>
          <p:cNvSpPr txBox="1"/>
          <p:nvPr/>
        </p:nvSpPr>
        <p:spPr>
          <a:xfrm>
            <a:off x="1353312" y="3511296"/>
            <a:ext cx="1463040" cy="292608"/>
          </a:xfrm>
          <a:prstGeom prst="rect">
            <a:avLst/>
          </a:prstGeom>
          <a:noFill/>
          <a:ln/>
        </p:spPr>
        <p:txBody>
          <a:bodyPr wrap="square" lIns="0" tIns="0" rIns="0" bIns="0" rtlCol="0" anchor="ctr"/>
          <a:lstStyle/>
          <a:p>
            <a:pPr indent="0" marL="0">
              <a:buNone/>
            </a:pPr>
            <a:r>
              <a:rPr lang="en-US" sz="1500" b="1" dirty="0">
                <a:solidFill>
                  <a:srgbClr val="0E1A22"/>
                </a:solidFill>
              </a:rPr>
              <a:t>Runtime</a:t>
            </a:r>
            <a:endParaRPr lang="en-US" sz="1500" dirty="0"/>
          </a:p>
        </p:txBody>
      </p:sp>
      <p:sp>
        <p:nvSpPr>
          <p:cNvPr id="23" name="Text 21"/>
          <p:cNvSpPr txBox="1"/>
          <p:nvPr/>
        </p:nvSpPr>
        <p:spPr>
          <a:xfrm>
            <a:off x="1353312" y="3840480"/>
            <a:ext cx="2377440" cy="274320"/>
          </a:xfrm>
          <a:prstGeom prst="rect">
            <a:avLst/>
          </a:prstGeom>
          <a:noFill/>
          <a:ln/>
        </p:spPr>
        <p:txBody>
          <a:bodyPr wrap="square" lIns="0" tIns="0" rIns="0" bIns="0" rtlCol="0" anchor="ctr"/>
          <a:lstStyle/>
          <a:p>
            <a:pPr indent="0" marL="0">
              <a:buNone/>
            </a:pPr>
            <a:r>
              <a:rPr lang="en-US" sz="1050" dirty="0">
                <a:solidFill>
                  <a:srgbClr val="5B6B78"/>
                </a:solidFill>
                <a:latin typeface="Courier New" pitchFamily="34" charset="0"/>
                <a:ea typeface="Courier New" pitchFamily="34" charset="-122"/>
                <a:cs typeface="Courier New" pitchFamily="34" charset="-120"/>
              </a:rPr>
              <a:t>clock · submission store</a:t>
            </a:r>
            <a:endParaRPr lang="en-US" sz="1050" dirty="0"/>
          </a:p>
        </p:txBody>
      </p:sp>
      <p:sp>
        <p:nvSpPr>
          <p:cNvPr id="24" name="Text 22"/>
          <p:cNvSpPr txBox="1"/>
          <p:nvPr/>
        </p:nvSpPr>
        <p:spPr>
          <a:xfrm>
            <a:off x="3950208" y="3584448"/>
            <a:ext cx="5760720" cy="640080"/>
          </a:xfrm>
          <a:prstGeom prst="rect">
            <a:avLst/>
          </a:prstGeom>
          <a:noFill/>
          <a:ln/>
        </p:spPr>
        <p:txBody>
          <a:bodyPr wrap="square" lIns="0" tIns="0" rIns="0" bIns="0" rtlCol="0" anchor="t"/>
          <a:lstStyle/>
          <a:p>
            <a:pPr indent="0" marL="0">
              <a:lnSpc>
                <a:spcPts val="1600"/>
              </a:lnSpc>
              <a:buNone/>
            </a:pPr>
            <a:r>
              <a:rPr lang="en-US" sz="1250" dirty="0">
                <a:solidFill>
                  <a:srgbClr val="3C4A50"/>
                </a:solidFill>
              </a:rPr>
              <a:t>Step-by-step reveal, append-only submissions, hard locks, student_view().</a:t>
            </a:r>
            <a:endParaRPr lang="en-US" sz="1250" dirty="0"/>
          </a:p>
        </p:txBody>
      </p:sp>
      <p:sp>
        <p:nvSpPr>
          <p:cNvPr id="25" name="Shape 23"/>
          <p:cNvSpPr/>
          <p:nvPr/>
        </p:nvSpPr>
        <p:spPr>
          <a:xfrm>
            <a:off x="9985248" y="3639312"/>
            <a:ext cx="1371600" cy="310896"/>
          </a:xfrm>
          <a:prstGeom prst="roundRect">
            <a:avLst>
              <a:gd name="adj" fmla="val 29412"/>
            </a:avLst>
          </a:prstGeom>
          <a:solidFill>
            <a:srgbClr val="5B6B78"/>
          </a:solidFill>
          <a:ln w="12700">
            <a:solidFill>
              <a:srgbClr val="5B6B78"/>
            </a:solidFill>
            <a:prstDash val="solid"/>
          </a:ln>
        </p:spPr>
      </p:sp>
      <p:sp>
        <p:nvSpPr>
          <p:cNvPr id="26" name="Text 24"/>
          <p:cNvSpPr txBox="1"/>
          <p:nvPr/>
        </p:nvSpPr>
        <p:spPr>
          <a:xfrm>
            <a:off x="9985248" y="3639312"/>
            <a:ext cx="1371600" cy="310896"/>
          </a:xfrm>
          <a:prstGeom prst="rect">
            <a:avLst/>
          </a:prstGeom>
          <a:noFill/>
          <a:ln/>
        </p:spPr>
        <p:txBody>
          <a:bodyPr wrap="square" lIns="0" tIns="0" rIns="0" bIns="0" rtlCol="0" anchor="ctr"/>
          <a:lstStyle/>
          <a:p>
            <a:pPr algn="ctr" indent="0" marL="0">
              <a:buNone/>
            </a:pPr>
            <a:r>
              <a:rPr lang="en-US" sz="850" b="1" spc="50" kern="0" dirty="0">
                <a:solidFill>
                  <a:srgbClr val="FFFFFF"/>
                </a:solidFill>
              </a:rPr>
              <a:t>SPECIFIED</a:t>
            </a:r>
            <a:endParaRPr lang="en-US" sz="850" dirty="0"/>
          </a:p>
        </p:txBody>
      </p:sp>
      <p:sp>
        <p:nvSpPr>
          <p:cNvPr id="27" name="card"/>
          <p:cNvSpPr/>
          <p:nvPr/>
        </p:nvSpPr>
        <p:spPr>
          <a:xfrm>
            <a:off x="566928" y="4425696"/>
            <a:ext cx="11027664" cy="932688"/>
          </a:xfrm>
          <a:prstGeom prst="roundRect">
            <a:avLst>
              <a:gd name="adj" fmla="val 5882"/>
            </a:avLst>
          </a:prstGeom>
          <a:solidFill>
            <a:srgbClr val="F7F8F8"/>
          </a:solidFill>
          <a:ln w="9525">
            <a:solidFill>
              <a:srgbClr val="E2E6E5"/>
            </a:solidFill>
            <a:prstDash val="solid"/>
          </a:ln>
        </p:spPr>
      </p:sp>
      <p:sp>
        <p:nvSpPr>
          <p:cNvPr id="28" name="Shape 26"/>
          <p:cNvSpPr/>
          <p:nvPr/>
        </p:nvSpPr>
        <p:spPr>
          <a:xfrm>
            <a:off x="804672" y="4700016"/>
            <a:ext cx="384048" cy="384048"/>
          </a:xfrm>
          <a:prstGeom prst="roundRect">
            <a:avLst>
              <a:gd name="adj" fmla="val 28571"/>
            </a:avLst>
          </a:prstGeom>
          <a:solidFill>
            <a:srgbClr val="5B6B78"/>
          </a:solidFill>
          <a:ln w="12700">
            <a:solidFill>
              <a:srgbClr val="5B6B78"/>
            </a:solidFill>
            <a:prstDash val="solid"/>
          </a:ln>
        </p:spPr>
      </p:sp>
      <p:sp>
        <p:nvSpPr>
          <p:cNvPr id="29" name="Text 27"/>
          <p:cNvSpPr txBox="1"/>
          <p:nvPr/>
        </p:nvSpPr>
        <p:spPr>
          <a:xfrm>
            <a:off x="804672" y="47000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0" name="Text 28"/>
          <p:cNvSpPr txBox="1"/>
          <p:nvPr/>
        </p:nvSpPr>
        <p:spPr>
          <a:xfrm>
            <a:off x="1353312" y="4590288"/>
            <a:ext cx="1463040" cy="292608"/>
          </a:xfrm>
          <a:prstGeom prst="rect">
            <a:avLst/>
          </a:prstGeom>
          <a:noFill/>
          <a:ln/>
        </p:spPr>
        <p:txBody>
          <a:bodyPr wrap="square" lIns="0" tIns="0" rIns="0" bIns="0" rtlCol="0" anchor="ctr"/>
          <a:lstStyle/>
          <a:p>
            <a:pPr indent="0" marL="0">
              <a:buNone/>
            </a:pPr>
            <a:r>
              <a:rPr lang="en-US" sz="1500" b="1" dirty="0">
                <a:solidFill>
                  <a:srgbClr val="0E1A22"/>
                </a:solidFill>
              </a:rPr>
              <a:t>Grading</a:t>
            </a:r>
            <a:endParaRPr lang="en-US" sz="1500" dirty="0"/>
          </a:p>
        </p:txBody>
      </p:sp>
      <p:sp>
        <p:nvSpPr>
          <p:cNvPr id="31" name="Text 29"/>
          <p:cNvSpPr txBox="1"/>
          <p:nvPr/>
        </p:nvSpPr>
        <p:spPr>
          <a:xfrm>
            <a:off x="1353312" y="4919472"/>
            <a:ext cx="2377440" cy="274320"/>
          </a:xfrm>
          <a:prstGeom prst="rect">
            <a:avLst/>
          </a:prstGeom>
          <a:noFill/>
          <a:ln/>
        </p:spPr>
        <p:txBody>
          <a:bodyPr wrap="square" lIns="0" tIns="0" rIns="0" bIns="0" rtlCol="0" anchor="ctr"/>
          <a:lstStyle/>
          <a:p>
            <a:pPr indent="0" marL="0">
              <a:buNone/>
            </a:pPr>
            <a:r>
              <a:rPr lang="en-US" sz="1050" dirty="0">
                <a:solidFill>
                  <a:srgbClr val="5B6B78"/>
                </a:solidFill>
                <a:latin typeface="Courier New" pitchFamily="34" charset="0"/>
                <a:ea typeface="Courier New" pitchFamily="34" charset="-122"/>
                <a:cs typeface="Courier New" pitchFamily="34" charset="-120"/>
              </a:rPr>
              <a:t>deterministic · INF-2 · INF-6</a:t>
            </a:r>
            <a:endParaRPr lang="en-US" sz="1050" dirty="0"/>
          </a:p>
        </p:txBody>
      </p:sp>
      <p:sp>
        <p:nvSpPr>
          <p:cNvPr id="32" name="Text 30"/>
          <p:cNvSpPr txBox="1"/>
          <p:nvPr/>
        </p:nvSpPr>
        <p:spPr>
          <a:xfrm>
            <a:off x="3950208" y="4663440"/>
            <a:ext cx="5760720" cy="640080"/>
          </a:xfrm>
          <a:prstGeom prst="rect">
            <a:avLst/>
          </a:prstGeom>
          <a:noFill/>
          <a:ln/>
        </p:spPr>
        <p:txBody>
          <a:bodyPr wrap="square" lIns="0" tIns="0" rIns="0" bIns="0" rtlCol="0" anchor="t"/>
          <a:lstStyle/>
          <a:p>
            <a:pPr indent="0" marL="0">
              <a:lnSpc>
                <a:spcPts val="1600"/>
              </a:lnSpc>
              <a:buNone/>
            </a:pPr>
            <a:r>
              <a:rPr lang="en-US" sz="1250" dirty="0">
                <a:solidFill>
                  <a:srgbClr val="3C4A50"/>
                </a:solidFill>
              </a:rPr>
              <a:t>Check cells and traps; the model auto-grader; the LLM rubric grader on a golden set.</a:t>
            </a:r>
            <a:endParaRPr lang="en-US" sz="1250" dirty="0"/>
          </a:p>
        </p:txBody>
      </p:sp>
      <p:sp>
        <p:nvSpPr>
          <p:cNvPr id="33" name="Shape 31"/>
          <p:cNvSpPr/>
          <p:nvPr/>
        </p:nvSpPr>
        <p:spPr>
          <a:xfrm>
            <a:off x="9985248" y="4718304"/>
            <a:ext cx="1371600" cy="310896"/>
          </a:xfrm>
          <a:prstGeom prst="roundRect">
            <a:avLst>
              <a:gd name="adj" fmla="val 29412"/>
            </a:avLst>
          </a:prstGeom>
          <a:solidFill>
            <a:srgbClr val="5B6B78"/>
          </a:solidFill>
          <a:ln w="12700">
            <a:solidFill>
              <a:srgbClr val="5B6B78"/>
            </a:solidFill>
            <a:prstDash val="solid"/>
          </a:ln>
        </p:spPr>
      </p:sp>
      <p:sp>
        <p:nvSpPr>
          <p:cNvPr id="34" name="Text 32"/>
          <p:cNvSpPr txBox="1"/>
          <p:nvPr/>
        </p:nvSpPr>
        <p:spPr>
          <a:xfrm>
            <a:off x="9985248" y="4718304"/>
            <a:ext cx="1371600" cy="310896"/>
          </a:xfrm>
          <a:prstGeom prst="rect">
            <a:avLst/>
          </a:prstGeom>
          <a:noFill/>
          <a:ln/>
        </p:spPr>
        <p:txBody>
          <a:bodyPr wrap="square" lIns="0" tIns="0" rIns="0" bIns="0" rtlCol="0" anchor="ctr"/>
          <a:lstStyle/>
          <a:p>
            <a:pPr algn="ctr" indent="0" marL="0">
              <a:buNone/>
            </a:pPr>
            <a:r>
              <a:rPr lang="en-US" sz="850" b="1" spc="50" kern="0" dirty="0">
                <a:solidFill>
                  <a:srgbClr val="FFFFFF"/>
                </a:solidFill>
              </a:rPr>
              <a:t>SPECIFIED</a:t>
            </a:r>
            <a:endParaRPr lang="en-US" sz="850" dirty="0"/>
          </a:p>
        </p:txBody>
      </p:sp>
      <p:sp>
        <p:nvSpPr>
          <p:cNvPr id="35" name="Text 33"/>
          <p:cNvSpPr txBox="1"/>
          <p:nvPr/>
        </p:nvSpPr>
        <p:spPr>
          <a:xfrm>
            <a:off x="566928" y="5577840"/>
            <a:ext cx="11027664" cy="457200"/>
          </a:xfrm>
          <a:prstGeom prst="rect">
            <a:avLst/>
          </a:prstGeom>
          <a:noFill/>
          <a:ln/>
        </p:spPr>
        <p:txBody>
          <a:bodyPr wrap="square" lIns="0" tIns="0" rIns="0" bIns="0" rtlCol="0" anchor="ctr"/>
          <a:lstStyle/>
          <a:p>
            <a:pPr indent="0" marL="0">
              <a:buNone/>
            </a:pPr>
            <a:r>
              <a:rPr lang="en-US" sz="1250" i="1" dirty="0">
                <a:solidFill>
                  <a:srgbClr val="5B6B78"/>
                </a:solidFill>
              </a:rPr>
              <a:t>Manifests are JSON in version control, not rows in a database — a case is editorial content with an answer key, and it should be reviewable and diffable.</a:t>
            </a:r>
            <a:endParaRPr lang="en-US" sz="125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Why point-in-time discipline is the whole game</a:t>
            </a:r>
            <a:endParaRPr lang="en-US" sz="2700" dirty="0"/>
          </a:p>
        </p:txBody>
      </p:sp>
      <p:sp>
        <p:nvSpPr>
          <p:cNvPr id="3" name="Text 1"/>
          <p:cNvSpPr txBox="1"/>
          <p:nvPr/>
        </p:nvSpPr>
        <p:spPr>
          <a:xfrm>
            <a:off x="566928" y="1097280"/>
            <a:ext cx="5486400" cy="1371600"/>
          </a:xfrm>
          <a:prstGeom prst="rect">
            <a:avLst/>
          </a:prstGeom>
          <a:noFill/>
          <a:ln/>
        </p:spPr>
        <p:txBody>
          <a:bodyPr wrap="square" lIns="0" tIns="0" rIns="0" bIns="0" rtlCol="0" anchor="t"/>
          <a:lstStyle/>
          <a:p>
            <a:pPr indent="0" marL="0">
              <a:lnSpc>
                <a:spcPts val="1900"/>
              </a:lnSpc>
              <a:buNone/>
            </a:pPr>
            <a:r>
              <a:rPr lang="en-US" sz="1350" dirty="0">
                <a:solidFill>
                  <a:srgbClr val="0E1A22"/>
                </a:solidFill>
              </a:rPr>
              <a:t>Envista Holdings reported FY2019 revenue of $2.7516bn in its 2020 and 2021 10-Ks — then $2.2848bn in its 2022 10-K, after a discontinued-operations reclassification.
</a:t>
            </a:r>
            <a:pPr indent="0" marL="0">
              <a:lnSpc>
                <a:spcPts val="1900"/>
              </a:lnSpc>
              <a:buNone/>
            </a:pPr>
            <a:r>
              <a:rPr lang="en-US" sz="1350" b="1" dirty="0">
                <a:solidFill>
                  <a:srgbClr val="0E1A22"/>
                </a:solidFill>
              </a:rPr>
              <a:t>An analyst in June 2021 saw $2.75bn. A current database shows $2.28bn.</a:t>
            </a:r>
            <a:endParaRPr lang="en-US" sz="1350" dirty="0"/>
          </a:p>
        </p:txBody>
      </p:sp>
      <p:sp>
        <p:nvSpPr>
          <p:cNvPr id="4" name="card"/>
          <p:cNvSpPr/>
          <p:nvPr/>
        </p:nvSpPr>
        <p:spPr>
          <a:xfrm>
            <a:off x="566928" y="2697480"/>
            <a:ext cx="5486400" cy="1325880"/>
          </a:xfrm>
          <a:prstGeom prst="roundRect">
            <a:avLst>
              <a:gd name="adj" fmla="val 4138"/>
            </a:avLst>
          </a:prstGeom>
          <a:solidFill>
            <a:srgbClr val="FAF2F2"/>
          </a:solidFill>
          <a:ln w="9525">
            <a:solidFill>
              <a:srgbClr val="E8D4D4"/>
            </a:solidFill>
            <a:prstDash val="solid"/>
          </a:ln>
        </p:spPr>
      </p:sp>
      <p:sp>
        <p:nvSpPr>
          <p:cNvPr id="5" name="Text 3"/>
          <p:cNvSpPr txBox="1"/>
          <p:nvPr/>
        </p:nvSpPr>
        <p:spPr>
          <a:xfrm>
            <a:off x="841248" y="2880360"/>
            <a:ext cx="4937760" cy="457200"/>
          </a:xfrm>
          <a:prstGeom prst="rect">
            <a:avLst/>
          </a:prstGeom>
          <a:noFill/>
          <a:ln/>
        </p:spPr>
        <p:txBody>
          <a:bodyPr wrap="square" lIns="0" tIns="0" rIns="0" bIns="0" rtlCol="0" anchor="ctr"/>
          <a:lstStyle/>
          <a:p>
            <a:pPr indent="0" marL="0">
              <a:buNone/>
            </a:pPr>
            <a:r>
              <a:rPr lang="en-US" sz="2400" b="1" dirty="0">
                <a:solidFill>
                  <a:srgbClr val="9C3A3A"/>
                </a:solidFill>
                <a:latin typeface="Cambria" pitchFamily="34" charset="0"/>
                <a:ea typeface="Cambria" pitchFamily="34" charset="-122"/>
                <a:cs typeface="Cambria" pitchFamily="34" charset="-120"/>
              </a:rPr>
              <a:t>−$467m   ·   −17.0%</a:t>
            </a:r>
            <a:endParaRPr lang="en-US" sz="2400" dirty="0"/>
          </a:p>
        </p:txBody>
      </p:sp>
      <p:sp>
        <p:nvSpPr>
          <p:cNvPr id="6" name="Text 4"/>
          <p:cNvSpPr txBox="1"/>
          <p:nvPr/>
        </p:nvSpPr>
        <p:spPr>
          <a:xfrm>
            <a:off x="841248" y="3364992"/>
            <a:ext cx="4937760" cy="548640"/>
          </a:xfrm>
          <a:prstGeom prst="rect">
            <a:avLst/>
          </a:prstGeom>
          <a:noFill/>
          <a:ln/>
        </p:spPr>
        <p:txBody>
          <a:bodyPr wrap="square" lIns="0" tIns="0" rIns="0" bIns="0" rtlCol="0" anchor="t"/>
          <a:lstStyle/>
          <a:p>
            <a:pPr indent="0" marL="0">
              <a:lnSpc>
                <a:spcPts val="1500"/>
              </a:lnSpc>
              <a:buNone/>
            </a:pPr>
            <a:r>
              <a:rPr lang="en-US" sz="1150" dirty="0">
                <a:solidFill>
                  <a:srgbClr val="5A3A3A"/>
                </a:solidFill>
              </a:rPr>
              <a:t>A case built from today's data hands the student a revenue base the market never saw — and every growth rate, margin and multiple derived from it is wrong.</a:t>
            </a:r>
            <a:endParaRPr lang="en-US" sz="1150" dirty="0"/>
          </a:p>
        </p:txBody>
      </p:sp>
      <p:graphicFrame>
        <p:nvGraphicFramePr>
          <p:cNvPr id="7" name="Chart 0" descr=""/>
          <p:cNvGraphicFramePr/>
          <p:nvPr/>
        </p:nvGraphicFramePr>
        <p:xfrm>
          <a:off x="6400800" y="1188720"/>
          <a:ext cx="5212080" cy="39319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66928" y="5715000"/>
            <a:ext cx="11027664" cy="274320"/>
          </a:xfrm>
          <a:prstGeom prst="rect">
            <a:avLst/>
          </a:prstGeom>
          <a:noFill/>
          <a:ln/>
        </p:spPr>
        <p:txBody>
          <a:bodyPr wrap="square" lIns="0" tIns="0" rIns="0" bIns="0" rtlCol="0" anchor="ctr"/>
          <a:lstStyle/>
          <a:p>
            <a:pPr indent="0" marL="0">
              <a:buNone/>
            </a:pPr>
            <a:r>
              <a:rPr lang="en-US" sz="950" dirty="0">
                <a:solidFill>
                  <a:srgbClr val="A7B4B1"/>
                </a:solidFill>
              </a:rPr>
              <a:t>Source: SEC XBRL companyconcept API, CIK 1757073, accession numbers 0001628280-20-001914 and 0001628280-22-003981.</a:t>
            </a:r>
            <a:endParaRPr lang="en-US" sz="95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Four ways the future leaks in, and how each is closed</a:t>
            </a:r>
            <a:endParaRPr lang="en-US" sz="2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170432"/>
          <a:ext cx="11027664" cy="914400"/>
        </p:xfrm>
        <a:graphic>
          <a:graphicData uri="http://schemas.openxmlformats.org/drawingml/2006/table">
            <a:tbl>
              <a:tblPr/>
              <a:tblGrid>
                <a:gridCol w="2286000"/>
                <a:gridCol w="4023360"/>
                <a:gridCol w="4718304"/>
              </a:tblGrid>
              <a:tr h="0">
                <a:tc>
                  <a:txBody>
                    <a:bodyPr/>
                    <a:lstStyle/>
                    <a:p>
                      <a:pPr indent="0" marL="0">
                        <a:buNone/>
                      </a:pPr>
                      <a:r>
                        <a:rPr lang="en-US" sz="1000" b="1" dirty="0">
                          <a:solidFill>
                            <a:srgbClr val="FFFFFF"/>
                          </a:solidFill>
                        </a:rPr>
                        <a:t>LEAK</a:t>
                      </a:r>
                      <a:endParaRPr lang="en-US" sz="100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1A5F59"/>
                    </a:solidFill>
                  </a:tcPr>
                </a:tc>
                <a:tc>
                  <a:txBody>
                    <a:bodyPr/>
                    <a:lstStyle/>
                    <a:p>
                      <a:pPr indent="0" marL="0">
                        <a:buNone/>
                      </a:pPr>
                      <a:r>
                        <a:rPr lang="en-US" sz="1000" b="1" dirty="0">
                          <a:solidFill>
                            <a:srgbClr val="FFFFFF"/>
                          </a:solidFill>
                        </a:rPr>
                        <a:t>WHAT GOES WRONG</a:t>
                      </a:r>
                      <a:endParaRPr lang="en-US" sz="100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1A5F59"/>
                    </a:solidFill>
                  </a:tcPr>
                </a:tc>
                <a:tc>
                  <a:txBody>
                    <a:bodyPr/>
                    <a:lstStyle/>
                    <a:p>
                      <a:pPr indent="0" marL="0">
                        <a:buNone/>
                      </a:pPr>
                      <a:r>
                        <a:rPr lang="en-US" sz="1000" b="1" dirty="0">
                          <a:solidFill>
                            <a:srgbClr val="FFFFFF"/>
                          </a:solidFill>
                        </a:rPr>
                        <a:t>HOW IT IS CLOSED</a:t>
                      </a:r>
                      <a:endParaRPr lang="en-US" sz="100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1A5F59"/>
                    </a:solidFill>
                  </a:tcPr>
                </a:tc>
              </a:tr>
              <a:tr h="0">
                <a:tc>
                  <a:txBody>
                    <a:bodyPr/>
                    <a:lstStyle/>
                    <a:p>
                      <a:pPr indent="0" marL="0">
                        <a:buNone/>
                      </a:pPr>
                      <a:r>
                        <a:rPr lang="en-US" sz="1200" b="1" dirty="0">
                          <a:solidFill>
                            <a:srgbClr val="0E1A22"/>
                          </a:solidFill>
                        </a:rPr>
                        <a:t>Restated financials</a:t>
                      </a:r>
                      <a:endParaRPr lang="en-US" sz="120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FFFFF"/>
                    </a:solidFill>
                  </a:tcPr>
                </a:tc>
                <a:tc>
                  <a:txBody>
                    <a:bodyPr/>
                    <a:lstStyle/>
                    <a:p>
                      <a:pPr indent="0" marL="0">
                        <a:buNone/>
                      </a:pPr>
                      <a:r>
                        <a:rPr lang="en-US" sz="1150" dirty="0">
                          <a:solidFill>
                            <a:srgbClr val="3C4A50"/>
                          </a:solidFill>
                        </a:rPr>
                        <a:t>Today's database shows restatements; the analyst at T saw as-first-reported numbers.</a:t>
                      </a:r>
                      <a:endParaRPr lang="en-US" sz="115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FFFFF"/>
                    </a:solidFill>
                  </a:tcPr>
                </a:tc>
                <a:tc>
                  <a:txBody>
                    <a:bodyPr/>
                    <a:lstStyle/>
                    <a:p>
                      <a:pPr indent="0" marL="0">
                        <a:buNone/>
                      </a:pPr>
                      <a:r>
                        <a:rPr lang="en-US" sz="1150" dirty="0">
                          <a:solidFill>
                            <a:srgbClr val="3C4A50"/>
                          </a:solidFill>
                        </a:rPr>
                        <a:t>Closed, free. The SEC stamps every fact with its filing date, so as_of() filters on it.</a:t>
                      </a:r>
                      <a:endParaRPr lang="en-US" sz="115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E1A22"/>
                          </a:solidFill>
                        </a:rPr>
                        <a:t>Index survivorship</a:t>
                      </a:r>
                      <a:endParaRPr lang="en-US" sz="120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7FAF9"/>
                    </a:solidFill>
                  </a:tcPr>
                </a:tc>
                <a:tc>
                  <a:txBody>
                    <a:bodyPr/>
                    <a:lstStyle/>
                    <a:p>
                      <a:pPr indent="0" marL="0">
                        <a:buNone/>
                      </a:pPr>
                      <a:r>
                        <a:rPr lang="en-US" sz="1150" dirty="0">
                          <a:solidFill>
                            <a:srgbClr val="3C4A50"/>
                          </a:solidFill>
                        </a:rPr>
                        <a:t>Today's constituent list is not the list at T, biasing any comp set built from it.</a:t>
                      </a:r>
                      <a:endParaRPr lang="en-US" sz="115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7FAF9"/>
                    </a:solidFill>
                  </a:tcPr>
                </a:tc>
                <a:tc>
                  <a:txBody>
                    <a:bodyPr/>
                    <a:lstStyle/>
                    <a:p>
                      <a:pPr indent="0" marL="0">
                        <a:buNone/>
                      </a:pPr>
                      <a:r>
                        <a:rPr lang="en-US" sz="1150" dirty="0">
                          <a:solidFill>
                            <a:srgbClr val="3C4A50"/>
                          </a:solidFill>
                        </a:rPr>
                        <a:t>Hard-code the comp set in the manifest from a contemporaneous document, never a current index.</a:t>
                      </a:r>
                      <a:endParaRPr lang="en-US" sz="115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7FAF9"/>
                    </a:solidFill>
                  </a:tcPr>
                </a:tc>
              </a:tr>
              <a:tr h="0">
                <a:tc>
                  <a:txBody>
                    <a:bodyPr/>
                    <a:lstStyle/>
                    <a:p>
                      <a:pPr indent="0" marL="0">
                        <a:buNone/>
                      </a:pPr>
                      <a:r>
                        <a:rPr lang="en-US" sz="1200" b="1" dirty="0">
                          <a:solidFill>
                            <a:srgbClr val="0E1A22"/>
                          </a:solidFill>
                        </a:rPr>
                        <a:t>Delisting survivorship</a:t>
                      </a:r>
                      <a:endParaRPr lang="en-US" sz="120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FFFFF"/>
                    </a:solidFill>
                  </a:tcPr>
                </a:tc>
                <a:tc>
                  <a:txBody>
                    <a:bodyPr/>
                    <a:lstStyle/>
                    <a:p>
                      <a:pPr indent="0" marL="0">
                        <a:buNone/>
                      </a:pPr>
                      <a:r>
                        <a:rPr lang="en-US" sz="1150" dirty="0">
                          <a:solidFill>
                            <a:srgbClr val="3C4A50"/>
                          </a:solidFill>
                        </a:rPr>
                        <a:t>Cheap price feeds drop dead tickers, so the worst outcomes vanish from the library.</a:t>
                      </a:r>
                      <a:endParaRPr lang="en-US" sz="115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FFFFF"/>
                    </a:solidFill>
                  </a:tcPr>
                </a:tc>
                <a:tc>
                  <a:txBody>
                    <a:bodyPr/>
                    <a:lstStyle/>
                    <a:p>
                      <a:pPr indent="0" marL="0">
                        <a:buNone/>
                      </a:pPr>
                      <a:r>
                        <a:rPr lang="en-US" sz="1150" dirty="0">
                          <a:solidFill>
                            <a:srgbClr val="3C4A50"/>
                          </a:solidFill>
                        </a:rPr>
                        <a:t>Use a vendor whose reference data keeps delisted tickers — and deliberately include failures.</a:t>
                      </a:r>
                      <a:endParaRPr lang="en-US" sz="115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E1A22"/>
                          </a:solidFill>
                        </a:rPr>
                        <a:t>The author's own knowledge</a:t>
                      </a:r>
                      <a:endParaRPr lang="en-US" sz="120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7FAF9"/>
                    </a:solidFill>
                  </a:tcPr>
                </a:tc>
                <a:tc>
                  <a:txBody>
                    <a:bodyPr/>
                    <a:lstStyle/>
                    <a:p>
                      <a:pPr indent="0" marL="0">
                        <a:buNone/>
                      </a:pPr>
                      <a:r>
                        <a:rPr lang="en-US" sz="1150" dirty="0">
                          <a:solidFill>
                            <a:srgbClr val="3C4A50"/>
                          </a:solidFill>
                        </a:rPr>
                        <a:t>An author who knows the ending writes exhibits that quietly foreshadow it.</a:t>
                      </a:r>
                      <a:endParaRPr lang="en-US" sz="115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7FAF9"/>
                    </a:solidFill>
                  </a:tcPr>
                </a:tc>
                <a:tc>
                  <a:txBody>
                    <a:bodyPr/>
                    <a:lstStyle/>
                    <a:p>
                      <a:pPr indent="0" marL="0">
                        <a:buNone/>
                      </a:pPr>
                      <a:r>
                        <a:rPr lang="en-US" sz="1150" dirty="0">
                          <a:solidFill>
                            <a:srgbClr val="3C4A50"/>
                          </a:solidFill>
                        </a:rPr>
                        <a:t>Process, not code: a second author writes the expert key cold, seeing only T-dated material.</a:t>
                      </a:r>
                      <a:endParaRPr lang="en-US" sz="1150" dirty="0"/>
                    </a:p>
                  </a:txBody>
                  <a:tcPr marL="76200" marR="76200" marT="76200" marB="76200" anchor="t">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7FAF9"/>
                    </a:solidFill>
                  </a:tcPr>
                </a:tc>
              </a:tr>
            </a:tbl>
          </a:graphicData>
        </a:graphic>
      </p:graphicFrame>
      <p:sp>
        <p:nvSpPr>
          <p:cNvPr id="4" name="Text 1"/>
          <p:cNvSpPr txBox="1"/>
          <p:nvPr/>
        </p:nvSpPr>
        <p:spPr>
          <a:xfrm>
            <a:off x="566928" y="5440680"/>
            <a:ext cx="11027664" cy="457200"/>
          </a:xfrm>
          <a:prstGeom prst="rect">
            <a:avLst/>
          </a:prstGeom>
          <a:noFill/>
          <a:ln/>
        </p:spPr>
        <p:txBody>
          <a:bodyPr wrap="square" lIns="0" tIns="0" rIns="0" bIns="0" rtlCol="0" anchor="ctr"/>
          <a:lstStyle/>
          <a:p>
            <a:pPr indent="0" marL="0">
              <a:buNone/>
            </a:pPr>
            <a:r>
              <a:rPr lang="en-US" sz="1300" i="1" dirty="0">
                <a:solidFill>
                  <a:srgbClr val="0E1A22"/>
                </a:solidFill>
              </a:rPr>
              <a:t>Authoring a case by hand will leak the future, and the leak is silent. That is why it is checked mechanically rather than left to discipline.</a:t>
            </a:r>
            <a:endParaRPr lang="en-US" sz="130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guardrail: validate_pit_safety()</a:t>
            </a:r>
            <a:endParaRPr lang="en-US" sz="2700" dirty="0"/>
          </a:p>
        </p:txBody>
      </p:sp>
      <p:sp>
        <p:nvSpPr>
          <p:cNvPr id="3" name="Text 1"/>
          <p:cNvSpPr txBox="1"/>
          <p:nvPr/>
        </p:nvSpPr>
        <p:spPr>
          <a:xfrm>
            <a:off x="566928" y="1115568"/>
            <a:ext cx="10789920" cy="548640"/>
          </a:xfrm>
          <a:prstGeom prst="rect">
            <a:avLst/>
          </a:prstGeom>
          <a:noFill/>
          <a:ln/>
        </p:spPr>
        <p:txBody>
          <a:bodyPr wrap="square" lIns="0" tIns="0" rIns="0" bIns="0" rtlCol="0" anchor="t"/>
          <a:lstStyle/>
          <a:p>
            <a:pPr indent="0" marL="0">
              <a:lnSpc>
                <a:spcPts val="1900"/>
              </a:lnSpc>
              <a:buNone/>
            </a:pPr>
            <a:r>
              <a:rPr lang="en-US" sz="1350" dirty="0">
                <a:solidFill>
                  <a:srgbClr val="C6D4D1"/>
                </a:solidFill>
              </a:rPr>
              <a:t>Every manifest is checked against the SEC's own filing dates before it can ship. Run it in CI — a leaked case is worse than no case, because it teaches students the information was gettable.</a:t>
            </a:r>
            <a:endParaRPr lang="en-US" sz="1350" dirty="0"/>
          </a:p>
        </p:txBody>
      </p:sp>
      <p:sp>
        <p:nvSpPr>
          <p:cNvPr id="4" name="card"/>
          <p:cNvSpPr/>
          <p:nvPr/>
        </p:nvSpPr>
        <p:spPr>
          <a:xfrm>
            <a:off x="566928" y="1828800"/>
            <a:ext cx="11027664" cy="2395728"/>
          </a:xfrm>
          <a:prstGeom prst="roundRect">
            <a:avLst>
              <a:gd name="adj" fmla="val 2290"/>
            </a:avLst>
          </a:prstGeom>
          <a:solidFill>
            <a:srgbClr val="17262E"/>
          </a:solidFill>
          <a:ln w="9525">
            <a:solidFill>
              <a:srgbClr val="2A3A42"/>
            </a:solidFill>
            <a:prstDash val="solid"/>
          </a:ln>
        </p:spPr>
      </p:sp>
      <p:sp>
        <p:nvSpPr>
          <p:cNvPr id="5" name="Text 3"/>
          <p:cNvSpPr txBox="1"/>
          <p:nvPr/>
        </p:nvSpPr>
        <p:spPr>
          <a:xfrm>
            <a:off x="877824" y="2066544"/>
            <a:ext cx="10424160" cy="1920240"/>
          </a:xfrm>
          <a:prstGeom prst="rect">
            <a:avLst/>
          </a:prstGeom>
          <a:noFill/>
          <a:ln/>
        </p:spPr>
        <p:txBody>
          <a:bodyPr wrap="square" lIns="0" tIns="0" rIns="0" bIns="0" rtlCol="0" anchor="ctr"/>
          <a:lstStyle/>
          <a:p>
            <a:pPr indent="0" marL="0">
              <a:lnSpc>
                <a:spcPts val="1500"/>
              </a:lnSpc>
              <a:buNone/>
            </a:pPr>
            <a:r>
              <a:rPr lang="en-US" sz="1100" b="1" dirty="0">
                <a:solidFill>
                  <a:srgbClr val="E79C9C"/>
                </a:solidFill>
                <a:latin typeface="Courier New" pitchFamily="34" charset="0"/>
                <a:ea typeface="Courier New" pitchFamily="34" charset="-122"/>
                <a:cs typeface="Courier New" pitchFamily="34" charset="-120"/>
              </a:rPr>
              <a:t>MISMATCH</a:t>
            </a:r>
            <a:pPr indent="0" marL="0">
              <a:lnSpc>
                <a:spcPts val="1500"/>
              </a:lnSpc>
              <a:buNone/>
            </a:pPr>
            <a:r>
              <a:rPr lang="en-US" sz="1100" dirty="0">
                <a:solidFill>
                  <a:srgbClr val="D8E2E0"/>
                </a:solidFill>
                <a:latin typeface="Courier New" pitchFamily="34" charset="0"/>
                <a:ea typeface="Courier New" pitchFamily="34" charset="-122"/>
                <a:cs typeface="Courier New" pitchFamily="34" charset="-120"/>
              </a:rPr>
              <a:t>: Revenues 2019-12-31 manifest says 2,284,800,000 but accn
0001628280-20-001914 reports 2,751,600,000. This is the signature of a
value copied from a CURRENT database rather than the as-filed document.
</a:t>
            </a:r>
            <a:pPr indent="0" marL="0">
              <a:lnSpc>
                <a:spcPts val="1500"/>
              </a:lnSpc>
              <a:buNone/>
            </a:pPr>
            <a:r>
              <a:rPr lang="en-US" sz="1100" b="1" dirty="0">
                <a:solidFill>
                  <a:srgbClr val="E79C9C"/>
                </a:solidFill>
                <a:latin typeface="Courier New" pitchFamily="34" charset="0"/>
                <a:ea typeface="Courier New" pitchFamily="34" charset="-122"/>
                <a:cs typeface="Courier New" pitchFamily="34" charset="-120"/>
              </a:rPr>
              <a:t>LEAK</a:t>
            </a:r>
            <a:pPr indent="0" marL="0">
              <a:lnSpc>
                <a:spcPts val="1500"/>
              </a:lnSpc>
              <a:buNone/>
            </a:pPr>
            <a:r>
              <a:rPr lang="en-US" sz="1100" dirty="0">
                <a:solidFill>
                  <a:srgbClr val="D8E2E0"/>
                </a:solidFill>
                <a:latin typeface="Courier New" pitchFamily="34" charset="0"/>
                <a:ea typeface="Courier New" pitchFamily="34" charset="-122"/>
                <a:cs typeface="Courier New" pitchFamily="34" charset="-120"/>
              </a:rPr>
              <a:t>: fact GrossProfit 2019-01-01..2019-12-31 was filed 2022-02-24,
after the freeze date 2020-06-30.
</a:t>
            </a:r>
            <a:pPr indent="0" marL="0">
              <a:lnSpc>
                <a:spcPts val="1500"/>
              </a:lnSpc>
              <a:buNone/>
            </a:pPr>
            <a:r>
              <a:rPr lang="en-US" sz="1100" b="1" dirty="0">
                <a:solidFill>
                  <a:srgbClr val="E7C89C"/>
                </a:solidFill>
                <a:latin typeface="Courier New" pitchFamily="34" charset="0"/>
                <a:ea typeface="Courier New" pitchFamily="34" charset="-122"/>
                <a:cs typeface="Courier New" pitchFamily="34" charset="-120"/>
              </a:rPr>
              <a:t>DEGENERATE</a:t>
            </a:r>
            <a:pPr indent="0" marL="0">
              <a:lnSpc>
                <a:spcPts val="1500"/>
              </a:lnSpc>
              <a:buNone/>
            </a:pPr>
            <a:r>
              <a:rPr lang="en-US" sz="1100" dirty="0">
                <a:solidFill>
                  <a:srgbClr val="D8E2E0"/>
                </a:solidFill>
                <a:latin typeface="Courier New" pitchFamily="34" charset="0"/>
                <a:ea typeface="Courier New" pitchFamily="34" charset="-122"/>
                <a:cs typeface="Courier New" pitchFamily="34" charset="-120"/>
              </a:rPr>
              <a:t>: calibration question Q9 resolves 2020-01-01, on or before</a:t>
            </a:r>
            <a:endParaRPr lang="en-US" sz="1100" dirty="0"/>
          </a:p>
          <a:p>
            <a:pPr indent="0" marL="0">
              <a:lnSpc>
                <a:spcPts val="1500"/>
              </a:lnSpc>
              <a:buNone/>
            </a:pPr>
            <a:r>
              <a:rPr lang="en-US" sz="1100" dirty="0">
                <a:solidFill>
                  <a:srgbClr val="D8E2E0"/>
                </a:solidFill>
                <a:latin typeface="Courier New" pitchFamily="34" charset="0"/>
                <a:ea typeface="Courier New" pitchFamily="34" charset="-122"/>
                <a:cs typeface="Courier New" pitchFamily="34" charset="-120"/>
              </a:rPr>
              <a:t>the freeze date — it is already knowable.</a:t>
            </a:r>
            <a:endParaRPr lang="en-US" sz="1100" dirty="0"/>
          </a:p>
        </p:txBody>
      </p:sp>
      <p:sp>
        <p:nvSpPr>
          <p:cNvPr id="6" name="Text 4"/>
          <p:cNvSpPr txBox="1"/>
          <p:nvPr/>
        </p:nvSpPr>
        <p:spPr>
          <a:xfrm>
            <a:off x="566928" y="4480560"/>
            <a:ext cx="274320" cy="274320"/>
          </a:xfrm>
          <a:prstGeom prst="rect">
            <a:avLst/>
          </a:prstGeom>
          <a:noFill/>
          <a:ln/>
        </p:spPr>
        <p:txBody>
          <a:bodyPr wrap="square" lIns="0" tIns="0" rIns="0" bIns="0" rtlCol="0" anchor="ctr"/>
          <a:lstStyle/>
          <a:p>
            <a:pPr indent="0" marL="0">
              <a:buNone/>
            </a:pPr>
            <a:r>
              <a:rPr lang="en-US" sz="1400" b="1" dirty="0">
                <a:solidFill>
                  <a:srgbClr val="5E9A91"/>
                </a:solidFill>
              </a:rPr>
              <a:t>✓</a:t>
            </a:r>
            <a:endParaRPr lang="en-US" sz="1400" dirty="0"/>
          </a:p>
        </p:txBody>
      </p:sp>
      <p:sp>
        <p:nvSpPr>
          <p:cNvPr id="7" name="Text 5"/>
          <p:cNvSpPr txBox="1"/>
          <p:nvPr/>
        </p:nvSpPr>
        <p:spPr>
          <a:xfrm>
            <a:off x="859536" y="4480560"/>
            <a:ext cx="5120640" cy="256032"/>
          </a:xfrm>
          <a:prstGeom prst="rect">
            <a:avLst/>
          </a:prstGeom>
          <a:noFill/>
          <a:ln/>
        </p:spPr>
        <p:txBody>
          <a:bodyPr wrap="square" lIns="0" tIns="0" rIns="0" bIns="0" rtlCol="0" anchor="ctr"/>
          <a:lstStyle/>
          <a:p>
            <a:pPr indent="0" marL="0">
              <a:buNone/>
            </a:pPr>
            <a:r>
              <a:rPr lang="en-US" sz="1250" b="1" dirty="0">
                <a:solidFill>
                  <a:srgbClr val="FFFFFF"/>
                </a:solidFill>
              </a:rPr>
              <a:t>No fact filed after T</a:t>
            </a:r>
            <a:endParaRPr lang="en-US" sz="1250" dirty="0"/>
          </a:p>
        </p:txBody>
      </p:sp>
      <p:sp>
        <p:nvSpPr>
          <p:cNvPr id="8" name="Text 6"/>
          <p:cNvSpPr txBox="1"/>
          <p:nvPr/>
        </p:nvSpPr>
        <p:spPr>
          <a:xfrm>
            <a:off x="859536" y="4736592"/>
            <a:ext cx="5029200" cy="365760"/>
          </a:xfrm>
          <a:prstGeom prst="rect">
            <a:avLst/>
          </a:prstGeom>
          <a:noFill/>
          <a:ln/>
        </p:spPr>
        <p:txBody>
          <a:bodyPr wrap="square" lIns="0" tIns="0" rIns="0" bIns="0" rtlCol="0" anchor="t"/>
          <a:lstStyle/>
          <a:p>
            <a:pPr indent="0" marL="0">
              <a:lnSpc>
                <a:spcPts val="1300"/>
              </a:lnSpc>
              <a:buNone/>
            </a:pPr>
            <a:r>
              <a:rPr lang="en-US" sz="1050" dirty="0">
                <a:solidFill>
                  <a:srgbClr val="8FA8A3"/>
                </a:solidFill>
              </a:rPr>
              <a:t>Every served value's filing date is on or before the freeze date.</a:t>
            </a:r>
            <a:endParaRPr lang="en-US" sz="1050" dirty="0"/>
          </a:p>
        </p:txBody>
      </p:sp>
      <p:sp>
        <p:nvSpPr>
          <p:cNvPr id="9" name="Text 7"/>
          <p:cNvSpPr txBox="1"/>
          <p:nvPr/>
        </p:nvSpPr>
        <p:spPr>
          <a:xfrm>
            <a:off x="6099048" y="4480560"/>
            <a:ext cx="274320" cy="274320"/>
          </a:xfrm>
          <a:prstGeom prst="rect">
            <a:avLst/>
          </a:prstGeom>
          <a:noFill/>
          <a:ln/>
        </p:spPr>
        <p:txBody>
          <a:bodyPr wrap="square" lIns="0" tIns="0" rIns="0" bIns="0" rtlCol="0" anchor="ctr"/>
          <a:lstStyle/>
          <a:p>
            <a:pPr indent="0" marL="0">
              <a:buNone/>
            </a:pPr>
            <a:r>
              <a:rPr lang="en-US" sz="1400" b="1" dirty="0">
                <a:solidFill>
                  <a:srgbClr val="5E9A91"/>
                </a:solidFill>
              </a:rPr>
              <a:t>✓</a:t>
            </a:r>
            <a:endParaRPr lang="en-US" sz="1400" dirty="0"/>
          </a:p>
        </p:txBody>
      </p:sp>
      <p:sp>
        <p:nvSpPr>
          <p:cNvPr id="10" name="Text 8"/>
          <p:cNvSpPr txBox="1"/>
          <p:nvPr/>
        </p:nvSpPr>
        <p:spPr>
          <a:xfrm>
            <a:off x="6391656" y="4480560"/>
            <a:ext cx="5120640" cy="256032"/>
          </a:xfrm>
          <a:prstGeom prst="rect">
            <a:avLst/>
          </a:prstGeom>
          <a:noFill/>
          <a:ln/>
        </p:spPr>
        <p:txBody>
          <a:bodyPr wrap="square" lIns="0" tIns="0" rIns="0" bIns="0" rtlCol="0" anchor="ctr"/>
          <a:lstStyle/>
          <a:p>
            <a:pPr indent="0" marL="0">
              <a:buNone/>
            </a:pPr>
            <a:r>
              <a:rPr lang="en-US" sz="1250" b="1" dirty="0">
                <a:solidFill>
                  <a:srgbClr val="FFFFFF"/>
                </a:solidFill>
              </a:rPr>
              <a:t>Every value exists in the record</a:t>
            </a:r>
            <a:endParaRPr lang="en-US" sz="1250" dirty="0"/>
          </a:p>
        </p:txBody>
      </p:sp>
      <p:sp>
        <p:nvSpPr>
          <p:cNvPr id="11" name="Text 9"/>
          <p:cNvSpPr txBox="1"/>
          <p:nvPr/>
        </p:nvSpPr>
        <p:spPr>
          <a:xfrm>
            <a:off x="6391656" y="4736592"/>
            <a:ext cx="5029200" cy="365760"/>
          </a:xfrm>
          <a:prstGeom prst="rect">
            <a:avLst/>
          </a:prstGeom>
          <a:noFill/>
          <a:ln/>
        </p:spPr>
        <p:txBody>
          <a:bodyPr wrap="square" lIns="0" tIns="0" rIns="0" bIns="0" rtlCol="0" anchor="t"/>
          <a:lstStyle/>
          <a:p>
            <a:pPr indent="0" marL="0">
              <a:lnSpc>
                <a:spcPts val="1300"/>
              </a:lnSpc>
              <a:buNone/>
            </a:pPr>
            <a:r>
              <a:rPr lang="en-US" sz="1050" dirty="0">
                <a:solidFill>
                  <a:srgbClr val="8FA8A3"/>
                </a:solidFill>
              </a:rPr>
              <a:t>Checked against its accession number — this is what catches a pasted current figure.</a:t>
            </a:r>
            <a:endParaRPr lang="en-US" sz="1050" dirty="0"/>
          </a:p>
        </p:txBody>
      </p:sp>
      <p:sp>
        <p:nvSpPr>
          <p:cNvPr id="12" name="Text 10"/>
          <p:cNvSpPr txBox="1"/>
          <p:nvPr/>
        </p:nvSpPr>
        <p:spPr>
          <a:xfrm>
            <a:off x="566928" y="5230368"/>
            <a:ext cx="274320" cy="274320"/>
          </a:xfrm>
          <a:prstGeom prst="rect">
            <a:avLst/>
          </a:prstGeom>
          <a:noFill/>
          <a:ln/>
        </p:spPr>
        <p:txBody>
          <a:bodyPr wrap="square" lIns="0" tIns="0" rIns="0" bIns="0" rtlCol="0" anchor="ctr"/>
          <a:lstStyle/>
          <a:p>
            <a:pPr indent="0" marL="0">
              <a:buNone/>
            </a:pPr>
            <a:r>
              <a:rPr lang="en-US" sz="1400" b="1" dirty="0">
                <a:solidFill>
                  <a:srgbClr val="5E9A91"/>
                </a:solidFill>
              </a:rPr>
              <a:t>✓</a:t>
            </a:r>
            <a:endParaRPr lang="en-US" sz="1400" dirty="0"/>
          </a:p>
        </p:txBody>
      </p:sp>
      <p:sp>
        <p:nvSpPr>
          <p:cNvPr id="13" name="Text 11"/>
          <p:cNvSpPr txBox="1"/>
          <p:nvPr/>
        </p:nvSpPr>
        <p:spPr>
          <a:xfrm>
            <a:off x="859536" y="5230368"/>
            <a:ext cx="5120640" cy="256032"/>
          </a:xfrm>
          <a:prstGeom prst="rect">
            <a:avLst/>
          </a:prstGeom>
          <a:noFill/>
          <a:ln/>
        </p:spPr>
        <p:txBody>
          <a:bodyPr wrap="square" lIns="0" tIns="0" rIns="0" bIns="0" rtlCol="0" anchor="ctr"/>
          <a:lstStyle/>
          <a:p>
            <a:pPr indent="0" marL="0">
              <a:buNone/>
            </a:pPr>
            <a:r>
              <a:rPr lang="en-US" sz="1250" b="1" dirty="0">
                <a:solidFill>
                  <a:srgbClr val="FFFFFF"/>
                </a:solidFill>
              </a:rPr>
              <a:t>No filing dated after T</a:t>
            </a:r>
            <a:endParaRPr lang="en-US" sz="1250" dirty="0"/>
          </a:p>
        </p:txBody>
      </p:sp>
      <p:sp>
        <p:nvSpPr>
          <p:cNvPr id="14" name="Text 12"/>
          <p:cNvSpPr txBox="1"/>
          <p:nvPr/>
        </p:nvSpPr>
        <p:spPr>
          <a:xfrm>
            <a:off x="859536" y="5486400"/>
            <a:ext cx="5029200" cy="365760"/>
          </a:xfrm>
          <a:prstGeom prst="rect">
            <a:avLst/>
          </a:prstGeom>
          <a:noFill/>
          <a:ln/>
        </p:spPr>
        <p:txBody>
          <a:bodyPr wrap="square" lIns="0" tIns="0" rIns="0" bIns="0" rtlCol="0" anchor="t"/>
          <a:lstStyle/>
          <a:p>
            <a:pPr indent="0" marL="0">
              <a:lnSpc>
                <a:spcPts val="1300"/>
              </a:lnSpc>
              <a:buNone/>
            </a:pPr>
            <a:r>
              <a:rPr lang="en-US" sz="1050" dirty="0">
                <a:solidFill>
                  <a:srgbClr val="8FA8A3"/>
                </a:solidFill>
              </a:rPr>
              <a:t>The filing list the student browses is itself time-bounded.</a:t>
            </a:r>
            <a:endParaRPr lang="en-US" sz="1050" dirty="0"/>
          </a:p>
        </p:txBody>
      </p:sp>
      <p:sp>
        <p:nvSpPr>
          <p:cNvPr id="15" name="Text 13"/>
          <p:cNvSpPr txBox="1"/>
          <p:nvPr/>
        </p:nvSpPr>
        <p:spPr>
          <a:xfrm>
            <a:off x="6099048" y="5230368"/>
            <a:ext cx="274320" cy="274320"/>
          </a:xfrm>
          <a:prstGeom prst="rect">
            <a:avLst/>
          </a:prstGeom>
          <a:noFill/>
          <a:ln/>
        </p:spPr>
        <p:txBody>
          <a:bodyPr wrap="square" lIns="0" tIns="0" rIns="0" bIns="0" rtlCol="0" anchor="ctr"/>
          <a:lstStyle/>
          <a:p>
            <a:pPr indent="0" marL="0">
              <a:buNone/>
            </a:pPr>
            <a:r>
              <a:rPr lang="en-US" sz="1400" b="1" dirty="0">
                <a:solidFill>
                  <a:srgbClr val="5E9A91"/>
                </a:solidFill>
              </a:rPr>
              <a:t>✓</a:t>
            </a:r>
            <a:endParaRPr lang="en-US" sz="1400" dirty="0"/>
          </a:p>
        </p:txBody>
      </p:sp>
      <p:sp>
        <p:nvSpPr>
          <p:cNvPr id="16" name="Text 14"/>
          <p:cNvSpPr txBox="1"/>
          <p:nvPr/>
        </p:nvSpPr>
        <p:spPr>
          <a:xfrm>
            <a:off x="6391656" y="5230368"/>
            <a:ext cx="5120640" cy="256032"/>
          </a:xfrm>
          <a:prstGeom prst="rect">
            <a:avLst/>
          </a:prstGeom>
          <a:noFill/>
          <a:ln/>
        </p:spPr>
        <p:txBody>
          <a:bodyPr wrap="square" lIns="0" tIns="0" rIns="0" bIns="0" rtlCol="0" anchor="ctr"/>
          <a:lstStyle/>
          <a:p>
            <a:pPr indent="0" marL="0">
              <a:buNone/>
            </a:pPr>
            <a:r>
              <a:rPr lang="en-US" sz="1250" b="1" dirty="0">
                <a:solidFill>
                  <a:srgbClr val="FFFFFF"/>
                </a:solidFill>
              </a:rPr>
              <a:t>No question resolves before T</a:t>
            </a:r>
            <a:endParaRPr lang="en-US" sz="1250" dirty="0"/>
          </a:p>
        </p:txBody>
      </p:sp>
      <p:sp>
        <p:nvSpPr>
          <p:cNvPr id="17" name="Text 15"/>
          <p:cNvSpPr txBox="1"/>
          <p:nvPr/>
        </p:nvSpPr>
        <p:spPr>
          <a:xfrm>
            <a:off x="6391656" y="5486400"/>
            <a:ext cx="5029200" cy="365760"/>
          </a:xfrm>
          <a:prstGeom prst="rect">
            <a:avLst/>
          </a:prstGeom>
          <a:noFill/>
          <a:ln/>
        </p:spPr>
        <p:txBody>
          <a:bodyPr wrap="square" lIns="0" tIns="0" rIns="0" bIns="0" rtlCol="0" anchor="t"/>
          <a:lstStyle/>
          <a:p>
            <a:pPr indent="0" marL="0">
              <a:lnSpc>
                <a:spcPts val="1300"/>
              </a:lnSpc>
              <a:buNone/>
            </a:pPr>
            <a:r>
              <a:rPr lang="en-US" sz="1050" dirty="0">
                <a:solidFill>
                  <a:srgbClr val="8FA8A3"/>
                </a:solidFill>
              </a:rPr>
              <a:t>A calibration question answerable from the pack is not a forecast.</a:t>
            </a:r>
            <a:endParaRPr lang="en-US" sz="105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Where the data comes from</a:t>
            </a:r>
            <a:endParaRPr lang="en-US" sz="2700" dirty="0"/>
          </a:p>
        </p:txBody>
      </p:sp>
      <p:sp>
        <p:nvSpPr>
          <p:cNvPr id="3" name="card"/>
          <p:cNvSpPr/>
          <p:nvPr/>
        </p:nvSpPr>
        <p:spPr>
          <a:xfrm>
            <a:off x="566928" y="1143000"/>
            <a:ext cx="5394960" cy="2286000"/>
          </a:xfrm>
          <a:prstGeom prst="roundRect">
            <a:avLst>
              <a:gd name="adj" fmla="val 2400"/>
            </a:avLst>
          </a:prstGeom>
          <a:solidFill>
            <a:srgbClr val="EEF4F0"/>
          </a:solidFill>
          <a:ln w="9525">
            <a:solidFill>
              <a:srgbClr val="CFE0D6"/>
            </a:solidFill>
            <a:prstDash val="solid"/>
          </a:ln>
        </p:spPr>
      </p:sp>
      <p:sp>
        <p:nvSpPr>
          <p:cNvPr id="4" name="Text 2"/>
          <p:cNvSpPr txBox="1"/>
          <p:nvPr/>
        </p:nvSpPr>
        <p:spPr>
          <a:xfrm>
            <a:off x="859536" y="1371600"/>
            <a:ext cx="4754880" cy="329184"/>
          </a:xfrm>
          <a:prstGeom prst="rect">
            <a:avLst/>
          </a:prstGeom>
          <a:noFill/>
          <a:ln/>
        </p:spPr>
        <p:txBody>
          <a:bodyPr wrap="square" lIns="0" tIns="0" rIns="0" bIns="0" rtlCol="0" anchor="ctr"/>
          <a:lstStyle/>
          <a:p>
            <a:pPr indent="0" marL="0">
              <a:buNone/>
            </a:pPr>
            <a:r>
              <a:rPr lang="en-US" sz="1600" b="1" dirty="0">
                <a:solidFill>
                  <a:srgbClr val="2F6B45"/>
                </a:solidFill>
                <a:latin typeface="Cambria" pitchFamily="34" charset="0"/>
                <a:ea typeface="Cambria" pitchFamily="34" charset="-122"/>
                <a:cs typeface="Cambria" pitchFamily="34" charset="-120"/>
              </a:rPr>
              <a:t>Free, and verified reachable</a:t>
            </a:r>
            <a:endParaRPr lang="en-US" sz="1600" dirty="0"/>
          </a:p>
        </p:txBody>
      </p:sp>
      <p:sp>
        <p:nvSpPr>
          <p:cNvPr id="5" name="Text 3"/>
          <p:cNvSpPr txBox="1"/>
          <p:nvPr/>
        </p:nvSpPr>
        <p:spPr>
          <a:xfrm>
            <a:off x="859536" y="1783080"/>
            <a:ext cx="4846320" cy="155448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200" dirty="0">
                <a:solidFill>
                  <a:srgbClr val="0E1A22"/>
                </a:solidFill>
              </a:rPr>
              <a:t>SEC XBRL — companyconcept, companyfacts, submissions, frames</a:t>
            </a:r>
            <a:endParaRPr lang="en-US" sz="1200" dirty="0"/>
          </a:p>
          <a:p>
            <a:pPr marL="342900" indent="-342900">
              <a:lnSpc>
                <a:spcPts val="1500"/>
              </a:lnSpc>
              <a:spcAft>
                <a:spcPts val="700"/>
              </a:spcAft>
              <a:buSzPct val="100000"/>
              <a:buChar char="•"/>
            </a:pPr>
            <a:r>
              <a:rPr lang="en-US" sz="1200" dirty="0">
                <a:solidFill>
                  <a:srgbClr val="0E1A22"/>
                </a:solidFill>
              </a:rPr>
              <a:t>Every fact carries its filing date and accession number</a:t>
            </a:r>
            <a:endParaRPr lang="en-US" sz="1200" dirty="0"/>
          </a:p>
          <a:p>
            <a:pPr marL="342900" indent="-342900">
              <a:lnSpc>
                <a:spcPts val="1500"/>
              </a:lnSpc>
              <a:spcAft>
                <a:spcPts val="700"/>
              </a:spcAft>
              <a:buSzPct val="100000"/>
              <a:buChar char="•"/>
            </a:pPr>
            <a:r>
              <a:rPr lang="en-US" sz="1200" dirty="0">
                <a:solidFill>
                  <a:srgbClr val="0E1A22"/>
                </a:solidFill>
              </a:rPr>
              <a:t>Solves the restatement leak outright, at no cost</a:t>
            </a:r>
            <a:endParaRPr lang="en-US" sz="1200" dirty="0"/>
          </a:p>
          <a:p>
            <a:pPr marL="342900" indent="-342900">
              <a:lnSpc>
                <a:spcPts val="1500"/>
              </a:lnSpc>
              <a:spcAft>
                <a:spcPts val="700"/>
              </a:spcAft>
              <a:buSzPct val="100000"/>
              <a:buChar char="•"/>
            </a:pPr>
            <a:r>
              <a:rPr lang="en-US" sz="1200" dirty="0">
                <a:solidFill>
                  <a:srgbClr val="0E1A22"/>
                </a:solidFill>
              </a:rPr>
              <a:t>Transcripts from IR sites for a fixed library</a:t>
            </a:r>
            <a:endParaRPr lang="en-US" sz="1200" dirty="0"/>
          </a:p>
        </p:txBody>
      </p:sp>
      <p:sp>
        <p:nvSpPr>
          <p:cNvPr id="6" name="card"/>
          <p:cNvSpPr/>
          <p:nvPr/>
        </p:nvSpPr>
        <p:spPr>
          <a:xfrm>
            <a:off x="6199632" y="1143000"/>
            <a:ext cx="5394960" cy="2286000"/>
          </a:xfrm>
          <a:prstGeom prst="roundRect">
            <a:avLst>
              <a:gd name="adj" fmla="val 2400"/>
            </a:avLst>
          </a:prstGeom>
          <a:solidFill>
            <a:srgbClr val="FDF8EF"/>
          </a:solidFill>
          <a:ln w="9525">
            <a:solidFill>
              <a:srgbClr val="EADCC2"/>
            </a:solidFill>
            <a:prstDash val="solid"/>
          </a:ln>
        </p:spPr>
      </p:sp>
      <p:sp>
        <p:nvSpPr>
          <p:cNvPr id="7" name="Text 5"/>
          <p:cNvSpPr txBox="1"/>
          <p:nvPr/>
        </p:nvSpPr>
        <p:spPr>
          <a:xfrm>
            <a:off x="6492240" y="1371600"/>
            <a:ext cx="4754880" cy="329184"/>
          </a:xfrm>
          <a:prstGeom prst="rect">
            <a:avLst/>
          </a:prstGeom>
          <a:noFill/>
          <a:ln/>
        </p:spPr>
        <p:txBody>
          <a:bodyPr wrap="square" lIns="0" tIns="0" rIns="0" bIns="0" rtlCol="0" anchor="ctr"/>
          <a:lstStyle/>
          <a:p>
            <a:pPr indent="0" marL="0">
              <a:buNone/>
            </a:pPr>
            <a:r>
              <a:rPr lang="en-US" sz="1600" b="1" dirty="0">
                <a:solidFill>
                  <a:srgbClr val="B07A2E"/>
                </a:solidFill>
                <a:latin typeface="Cambria" pitchFamily="34" charset="0"/>
                <a:ea typeface="Cambria" pitchFamily="34" charset="-122"/>
                <a:cs typeface="Cambria" pitchFamily="34" charset="-120"/>
              </a:rPr>
              <a:t>Costs money</a:t>
            </a:r>
            <a:endParaRPr lang="en-US" sz="1600" dirty="0"/>
          </a:p>
        </p:txBody>
      </p:sp>
      <p:sp>
        <p:nvSpPr>
          <p:cNvPr id="8" name="Text 6"/>
          <p:cNvSpPr txBox="1"/>
          <p:nvPr/>
        </p:nvSpPr>
        <p:spPr>
          <a:xfrm>
            <a:off x="6492240" y="1783080"/>
            <a:ext cx="4846320" cy="155448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200" dirty="0">
                <a:solidFill>
                  <a:srgbClr val="0E1A22"/>
                </a:solidFill>
              </a:rPr>
              <a:t>Prices with delisted tickers — the cheapest real gap</a:t>
            </a:r>
            <a:endParaRPr lang="en-US" sz="1200" dirty="0"/>
          </a:p>
          <a:p>
            <a:pPr marL="342900" indent="-342900">
              <a:lnSpc>
                <a:spcPts val="1500"/>
              </a:lnSpc>
              <a:spcAft>
                <a:spcPts val="700"/>
              </a:spcAft>
              <a:buSzPct val="100000"/>
              <a:buChar char="•"/>
            </a:pPr>
            <a:r>
              <a:rPr lang="en-US" sz="1200" dirty="0">
                <a:solidFill>
                  <a:srgbClr val="0E1A22"/>
                </a:solidFill>
              </a:rPr>
              <a:t>Historical index membership, only for index-flow cases</a:t>
            </a:r>
            <a:endParaRPr lang="en-US" sz="1200" dirty="0"/>
          </a:p>
          <a:p>
            <a:pPr marL="342900" indent="-342900">
              <a:lnSpc>
                <a:spcPts val="1500"/>
              </a:lnSpc>
              <a:spcAft>
                <a:spcPts val="700"/>
              </a:spcAft>
              <a:buSzPct val="100000"/>
              <a:buChar char="•"/>
            </a:pPr>
            <a:r>
              <a:rPr lang="en-US" sz="1200" dirty="0">
                <a:solidFill>
                  <a:srgbClr val="0E1A22"/>
                </a:solidFill>
              </a:rPr>
              <a:t>Historical option chains — or hand-curate one straddle per case</a:t>
            </a:r>
            <a:endParaRPr lang="en-US" sz="1200" dirty="0"/>
          </a:p>
          <a:p>
            <a:pPr marL="342900" indent="-342900">
              <a:lnSpc>
                <a:spcPts val="1500"/>
              </a:lnSpc>
              <a:spcAft>
                <a:spcPts val="700"/>
              </a:spcAft>
              <a:buSzPct val="100000"/>
              <a:buChar char="•"/>
            </a:pPr>
            <a:r>
              <a:rPr lang="en-US" sz="1200" dirty="0">
                <a:solidFill>
                  <a:srgbClr val="0E1A22"/>
                </a:solidFill>
              </a:rPr>
              <a:t>Historical consensus — the one genuine gap</a:t>
            </a:r>
            <a:endParaRPr lang="en-US" sz="1200" dirty="0"/>
          </a:p>
        </p:txBody>
      </p:sp>
      <p:sp>
        <p:nvSpPr>
          <p:cNvPr id="9" name="card"/>
          <p:cNvSpPr/>
          <p:nvPr/>
        </p:nvSpPr>
        <p:spPr>
          <a:xfrm>
            <a:off x="566928" y="3611880"/>
            <a:ext cx="11027664" cy="1691640"/>
          </a:xfrm>
          <a:prstGeom prst="roundRect">
            <a:avLst>
              <a:gd name="adj" fmla="val 3243"/>
            </a:avLst>
          </a:prstGeom>
          <a:solidFill>
            <a:srgbClr val="F5F8F7"/>
          </a:solidFill>
          <a:ln w="9525">
            <a:solidFill>
              <a:srgbClr val="DCE5E2"/>
            </a:solidFill>
            <a:prstDash val="solid"/>
          </a:ln>
        </p:spPr>
      </p:sp>
      <p:sp>
        <p:nvSpPr>
          <p:cNvPr id="10" name="Text 8"/>
          <p:cNvSpPr txBox="1"/>
          <p:nvPr/>
        </p:nvSpPr>
        <p:spPr>
          <a:xfrm>
            <a:off x="859536" y="3822192"/>
            <a:ext cx="7315200" cy="310896"/>
          </a:xfrm>
          <a:prstGeom prst="rect">
            <a:avLst/>
          </a:prstGeom>
          <a:noFill/>
          <a:ln/>
        </p:spPr>
        <p:txBody>
          <a:bodyPr wrap="square" lIns="0" tIns="0" rIns="0" bIns="0" rtlCol="0" anchor="ctr"/>
          <a:lstStyle/>
          <a:p>
            <a:pPr indent="0" marL="0">
              <a:buNone/>
            </a:pPr>
            <a:r>
              <a:rPr lang="en-US" sz="1500" b="1" dirty="0">
                <a:solidFill>
                  <a:srgbClr val="1A5F59"/>
                </a:solidFill>
              </a:rPr>
              <a:t>The consensus gap, and the recommended workaround</a:t>
            </a:r>
            <a:endParaRPr lang="en-US" sz="1500" dirty="0"/>
          </a:p>
        </p:txBody>
      </p:sp>
      <p:sp>
        <p:nvSpPr>
          <p:cNvPr id="11" name="Text 9"/>
          <p:cNvSpPr txBox="1"/>
          <p:nvPr/>
        </p:nvSpPr>
        <p:spPr>
          <a:xfrm>
            <a:off x="859536" y="4187952"/>
            <a:ext cx="10424160" cy="1005840"/>
          </a:xfrm>
          <a:prstGeom prst="rect">
            <a:avLst/>
          </a:prstGeom>
          <a:noFill/>
          <a:ln/>
        </p:spPr>
        <p:txBody>
          <a:bodyPr wrap="square" lIns="0" tIns="0" rIns="0" bIns="0" rtlCol="0" anchor="t"/>
          <a:lstStyle/>
          <a:p>
            <a:pPr indent="0" marL="0">
              <a:lnSpc>
                <a:spcPts val="1700"/>
              </a:lnSpc>
              <a:buNone/>
            </a:pPr>
            <a:r>
              <a:rPr lang="en-US" sz="1250" b="1" dirty="0">
                <a:solidFill>
                  <a:srgbClr val="3C4A50"/>
                </a:solidFill>
              </a:rPr>
              <a:t>Start by using management guidance as the bar instead of consensus — </a:t>
            </a:r>
            <a:pPr indent="0" marL="0">
              <a:lnSpc>
                <a:spcPts val="1700"/>
              </a:lnSpc>
              <a:buNone/>
            </a:pPr>
            <a:r>
              <a:rPr lang="en-US" sz="1250" dirty="0">
                <a:solidFill>
                  <a:srgbClr val="3C4A50"/>
                </a:solidFill>
              </a:rPr>
              <a:t>it is in the 8-K, the release and the transcript, so it is free, point-in-time and unambiguous. For a production library, hand-curate consensus for the fixed cases: 20–40 cases is a few hundred data points, and the figures are quoted verbatim in contemporaneous coverage and in the transcripts themselves. Record the provenance either way — a case whose bar is guidance tests a subtly different skill than one whose bar is consensus.</a:t>
            </a:r>
            <a:endParaRPr lang="en-US" sz="1250" dirty="0"/>
          </a:p>
        </p:txBody>
      </p:sp>
      <p:sp>
        <p:nvSpPr>
          <p:cNvPr id="12" name="Text 10"/>
          <p:cNvSpPr txBox="1"/>
          <p:nvPr/>
        </p:nvSpPr>
        <p:spPr>
          <a:xfrm>
            <a:off x="566928" y="5486400"/>
            <a:ext cx="11027664" cy="548640"/>
          </a:xfrm>
          <a:prstGeom prst="rect">
            <a:avLst/>
          </a:prstGeom>
          <a:noFill/>
          <a:ln/>
        </p:spPr>
        <p:txBody>
          <a:bodyPr wrap="square" lIns="0" tIns="0" rIns="0" bIns="0" rtlCol="0" anchor="ctr"/>
          <a:lstStyle/>
          <a:p>
            <a:pPr indent="0" marL="0">
              <a:lnSpc>
                <a:spcPts val="1500"/>
              </a:lnSpc>
              <a:buNone/>
            </a:pPr>
            <a:r>
              <a:rPr lang="en-US" sz="1150" i="1" dirty="0">
                <a:solidFill>
                  <a:srgbClr val="5B6B78"/>
                </a:solidFill>
              </a:rPr>
              <a:t>Two gotchas found by building it: the SEC requires an email-style User-Agent (a URL alone returns 403), and data.sec.gov and www.sec.gov have separate reachability — you can end up with every number and no documents.</a:t>
            </a:r>
            <a:endParaRPr lang="en-US" sz="115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66928" y="2651760"/>
            <a:ext cx="10058400" cy="1097280"/>
          </a:xfrm>
          <a:prstGeom prst="rect">
            <a:avLst/>
          </a:prstGeom>
          <a:noFill/>
          <a:ln/>
        </p:spPr>
        <p:txBody>
          <a:bodyPr wrap="square" lIns="0" tIns="0" rIns="0" bIns="0" rtlCol="0"/>
          <a:lstStyle/>
          <a:p>
            <a:pPr indent="0" marL="0">
              <a:buNone/>
            </a:pPr>
            <a:r>
              <a:rPr lang="en-US" sz="3400" b="1" dirty="0">
                <a:solidFill>
                  <a:srgbClr val="FFFFFF"/>
                </a:solidFill>
                <a:latin typeface="Cambria" pitchFamily="34" charset="0"/>
                <a:ea typeface="Cambria" pitchFamily="34" charset="-122"/>
                <a:cs typeface="Cambria" pitchFamily="34" charset="-120"/>
              </a:rPr>
              <a:t>Three cases a student can walk through</a:t>
            </a:r>
            <a:endParaRPr lang="en-US" sz="3400" dirty="0"/>
          </a:p>
        </p:txBody>
      </p:sp>
      <p:sp>
        <p:nvSpPr>
          <p:cNvPr id="3" name="Text 0"/>
          <p:cNvSpPr/>
          <p:nvPr>
            <p:ph idx="101" type="body" hasCustomPrompt="1"/>
          </p:nvPr>
        </p:nvSpPr>
        <p:spPr>
          <a:xfrm>
            <a:off x="566928" y="3794760"/>
            <a:ext cx="9144000" cy="914400"/>
          </a:xfrm>
          <a:prstGeom prst="rect">
            <a:avLst/>
          </a:prstGeom>
          <a:noFill/>
          <a:ln/>
        </p:spPr>
        <p:txBody>
          <a:bodyPr wrap="square" lIns="0" tIns="0" rIns="0" bIns="0" rtlCol="0"/>
          <a:lstStyle/>
          <a:p>
            <a:pPr indent="0" marL="0">
              <a:lnSpc>
                <a:spcPts val="2000"/>
              </a:lnSpc>
              <a:buNone/>
            </a:pPr>
            <a:r>
              <a:rPr lang="en-US" sz="1450" dirty="0">
                <a:solidFill>
                  <a:srgbClr val="CFE2DE"/>
                </a:solidFill>
              </a:rPr>
              <a:t>For each: what they are given, what they must produce, how it is graded, and what a good and a bad answer actually look like.</a:t>
            </a:r>
            <a:endParaRPr lang="en-US" sz="1450" dirty="0"/>
          </a:p>
        </p:txBody>
      </p:sp>
      <p:sp>
        <p:nvSpPr>
          <p:cNvPr id="4" name="Shape 2"/>
          <p:cNvSpPr/>
          <p:nvPr/>
        </p:nvSpPr>
        <p:spPr>
          <a:xfrm>
            <a:off x="566928" y="4754880"/>
            <a:ext cx="3493008" cy="1143000"/>
          </a:xfrm>
          <a:prstGeom prst="roundRect">
            <a:avLst>
              <a:gd name="adj" fmla="val 4800"/>
            </a:avLst>
          </a:prstGeom>
          <a:solidFill>
            <a:srgbClr val="15544F"/>
          </a:solidFill>
          <a:ln w="9525">
            <a:solidFill>
              <a:srgbClr val="2E6E68"/>
            </a:solidFill>
            <a:prstDash val="solid"/>
          </a:ln>
        </p:spPr>
      </p:sp>
      <p:sp>
        <p:nvSpPr>
          <p:cNvPr id="5" name="Shape 3"/>
          <p:cNvSpPr/>
          <p:nvPr/>
        </p:nvSpPr>
        <p:spPr>
          <a:xfrm>
            <a:off x="804672" y="4974336"/>
            <a:ext cx="384048" cy="384048"/>
          </a:xfrm>
          <a:prstGeom prst="roundRect">
            <a:avLst>
              <a:gd name="adj" fmla="val 28571"/>
            </a:avLst>
          </a:prstGeom>
          <a:solidFill>
            <a:srgbClr val="0F3F3A"/>
          </a:solidFill>
          <a:ln w="12700">
            <a:solidFill>
              <a:srgbClr val="0F3F3A"/>
            </a:solidFill>
            <a:prstDash val="solid"/>
          </a:ln>
        </p:spPr>
      </p:sp>
      <p:sp>
        <p:nvSpPr>
          <p:cNvPr id="6" name="Text 4"/>
          <p:cNvSpPr txBox="1"/>
          <p:nvPr/>
        </p:nvSpPr>
        <p:spPr>
          <a:xfrm>
            <a:off x="804672" y="49743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7" name="Text 5"/>
          <p:cNvSpPr txBox="1"/>
          <p:nvPr/>
        </p:nvSpPr>
        <p:spPr>
          <a:xfrm>
            <a:off x="1316736" y="4956048"/>
            <a:ext cx="2606040" cy="54864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rPr>
              <a:t>The raise that was smaller than the beat</a:t>
            </a:r>
            <a:endParaRPr lang="en-US" sz="1300" dirty="0"/>
          </a:p>
        </p:txBody>
      </p:sp>
      <p:sp>
        <p:nvSpPr>
          <p:cNvPr id="8" name="Text 6"/>
          <p:cNvSpPr txBox="1"/>
          <p:nvPr/>
        </p:nvSpPr>
        <p:spPr>
          <a:xfrm>
            <a:off x="1316736" y="5504688"/>
            <a:ext cx="2606040" cy="237744"/>
          </a:xfrm>
          <a:prstGeom prst="rect">
            <a:avLst/>
          </a:prstGeom>
          <a:noFill/>
          <a:ln/>
        </p:spPr>
        <p:txBody>
          <a:bodyPr wrap="square" lIns="0" tIns="0" rIns="0" bIns="0" rtlCol="0" anchor="ctr"/>
          <a:lstStyle/>
          <a:p>
            <a:pPr indent="0" marL="0">
              <a:buNone/>
            </a:pPr>
            <a:r>
              <a:rPr lang="en-US" sz="1000" dirty="0">
                <a:solidFill>
                  <a:srgbClr val="9FC7C2"/>
                </a:solidFill>
              </a:rPr>
              <a:t>Free data</a:t>
            </a:r>
            <a:endParaRPr lang="en-US" sz="1000" dirty="0"/>
          </a:p>
        </p:txBody>
      </p:sp>
      <p:sp>
        <p:nvSpPr>
          <p:cNvPr id="9" name="Shape 7"/>
          <p:cNvSpPr/>
          <p:nvPr/>
        </p:nvSpPr>
        <p:spPr>
          <a:xfrm>
            <a:off x="4288536" y="4754880"/>
            <a:ext cx="3493008" cy="1143000"/>
          </a:xfrm>
          <a:prstGeom prst="roundRect">
            <a:avLst>
              <a:gd name="adj" fmla="val 4800"/>
            </a:avLst>
          </a:prstGeom>
          <a:solidFill>
            <a:srgbClr val="15544F"/>
          </a:solidFill>
          <a:ln w="9525">
            <a:solidFill>
              <a:srgbClr val="2E6E68"/>
            </a:solidFill>
            <a:prstDash val="solid"/>
          </a:ln>
        </p:spPr>
      </p:sp>
      <p:sp>
        <p:nvSpPr>
          <p:cNvPr id="10" name="Shape 8"/>
          <p:cNvSpPr/>
          <p:nvPr/>
        </p:nvSpPr>
        <p:spPr>
          <a:xfrm>
            <a:off x="4526280" y="4974336"/>
            <a:ext cx="384048" cy="384048"/>
          </a:xfrm>
          <a:prstGeom prst="roundRect">
            <a:avLst>
              <a:gd name="adj" fmla="val 28571"/>
            </a:avLst>
          </a:prstGeom>
          <a:solidFill>
            <a:srgbClr val="0F3F3A"/>
          </a:solidFill>
          <a:ln w="12700">
            <a:solidFill>
              <a:srgbClr val="0F3F3A"/>
            </a:solidFill>
            <a:prstDash val="solid"/>
          </a:ln>
        </p:spPr>
      </p:sp>
      <p:sp>
        <p:nvSpPr>
          <p:cNvPr id="11" name="Text 9"/>
          <p:cNvSpPr txBox="1"/>
          <p:nvPr/>
        </p:nvSpPr>
        <p:spPr>
          <a:xfrm>
            <a:off x="4526280" y="49743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2" name="Text 10"/>
          <p:cNvSpPr txBox="1"/>
          <p:nvPr/>
        </p:nvSpPr>
        <p:spPr>
          <a:xfrm>
            <a:off x="5038344" y="4956048"/>
            <a:ext cx="2606040" cy="54864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rPr>
              <a:t>Eight years of twelve percent</a:t>
            </a:r>
            <a:endParaRPr lang="en-US" sz="1300" dirty="0"/>
          </a:p>
        </p:txBody>
      </p:sp>
      <p:sp>
        <p:nvSpPr>
          <p:cNvPr id="13" name="Text 11"/>
          <p:cNvSpPr txBox="1"/>
          <p:nvPr/>
        </p:nvSpPr>
        <p:spPr>
          <a:xfrm>
            <a:off x="5038344" y="5504688"/>
            <a:ext cx="2606040" cy="237744"/>
          </a:xfrm>
          <a:prstGeom prst="rect">
            <a:avLst/>
          </a:prstGeom>
          <a:noFill/>
          <a:ln/>
        </p:spPr>
        <p:txBody>
          <a:bodyPr wrap="square" lIns="0" tIns="0" rIns="0" bIns="0" rtlCol="0" anchor="ctr"/>
          <a:lstStyle/>
          <a:p>
            <a:pPr indent="0" marL="0">
              <a:buNone/>
            </a:pPr>
            <a:r>
              <a:rPr lang="en-US" sz="1000" dirty="0">
                <a:solidFill>
                  <a:srgbClr val="9FC7C2"/>
                </a:solidFill>
              </a:rPr>
              <a:t>Free data</a:t>
            </a:r>
            <a:endParaRPr lang="en-US" sz="1000" dirty="0"/>
          </a:p>
        </p:txBody>
      </p:sp>
      <p:sp>
        <p:nvSpPr>
          <p:cNvPr id="14" name="Shape 12"/>
          <p:cNvSpPr/>
          <p:nvPr/>
        </p:nvSpPr>
        <p:spPr>
          <a:xfrm>
            <a:off x="8010144" y="4754880"/>
            <a:ext cx="3493008" cy="1143000"/>
          </a:xfrm>
          <a:prstGeom prst="roundRect">
            <a:avLst>
              <a:gd name="adj" fmla="val 4800"/>
            </a:avLst>
          </a:prstGeom>
          <a:solidFill>
            <a:srgbClr val="15544F"/>
          </a:solidFill>
          <a:ln w="9525">
            <a:solidFill>
              <a:srgbClr val="2E6E68"/>
            </a:solidFill>
            <a:prstDash val="solid"/>
          </a:ln>
        </p:spPr>
      </p:sp>
      <p:sp>
        <p:nvSpPr>
          <p:cNvPr id="15" name="Shape 13"/>
          <p:cNvSpPr/>
          <p:nvPr/>
        </p:nvSpPr>
        <p:spPr>
          <a:xfrm>
            <a:off x="8247888" y="4974336"/>
            <a:ext cx="384048" cy="384048"/>
          </a:xfrm>
          <a:prstGeom prst="roundRect">
            <a:avLst>
              <a:gd name="adj" fmla="val 28571"/>
            </a:avLst>
          </a:prstGeom>
          <a:solidFill>
            <a:srgbClr val="0F3F3A"/>
          </a:solidFill>
          <a:ln w="12700">
            <a:solidFill>
              <a:srgbClr val="0F3F3A"/>
            </a:solidFill>
            <a:prstDash val="solid"/>
          </a:ln>
        </p:spPr>
      </p:sp>
      <p:sp>
        <p:nvSpPr>
          <p:cNvPr id="16" name="Text 14"/>
          <p:cNvSpPr txBox="1"/>
          <p:nvPr/>
        </p:nvSpPr>
        <p:spPr>
          <a:xfrm>
            <a:off x="8247888" y="49743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7" name="Text 15"/>
          <p:cNvSpPr txBox="1"/>
          <p:nvPr/>
        </p:nvSpPr>
        <p:spPr>
          <a:xfrm>
            <a:off x="8759952" y="4956048"/>
            <a:ext cx="2606040" cy="54864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rPr>
              <a:t>The numbers you were never shown</a:t>
            </a:r>
            <a:endParaRPr lang="en-US" sz="1300" dirty="0"/>
          </a:p>
        </p:txBody>
      </p:sp>
      <p:sp>
        <p:nvSpPr>
          <p:cNvPr id="18" name="Text 16"/>
          <p:cNvSpPr txBox="1"/>
          <p:nvPr/>
        </p:nvSpPr>
        <p:spPr>
          <a:xfrm>
            <a:off x="8759952" y="5504688"/>
            <a:ext cx="2606040" cy="237744"/>
          </a:xfrm>
          <a:prstGeom prst="rect">
            <a:avLst/>
          </a:prstGeom>
          <a:noFill/>
          <a:ln/>
        </p:spPr>
        <p:txBody>
          <a:bodyPr wrap="square" lIns="0" tIns="0" rIns="0" bIns="0" rtlCol="0" anchor="ctr"/>
          <a:lstStyle/>
          <a:p>
            <a:pPr indent="0" marL="0">
              <a:buNone/>
            </a:pPr>
            <a:r>
              <a:rPr lang="en-US" sz="1000" dirty="0">
                <a:solidFill>
                  <a:srgbClr val="9FC7C2"/>
                </a:solidFill>
              </a:rPr>
              <a:t>Already built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Case A — what the student is given</a:t>
            </a:r>
            <a:endParaRPr lang="en-US" sz="2700" dirty="0"/>
          </a:p>
        </p:txBody>
      </p:sp>
      <p:sp>
        <p:nvSpPr>
          <p:cNvPr id="3" name="Shape 1"/>
          <p:cNvSpPr/>
          <p:nvPr/>
        </p:nvSpPr>
        <p:spPr>
          <a:xfrm>
            <a:off x="566928" y="1097280"/>
            <a:ext cx="384048" cy="384048"/>
          </a:xfrm>
          <a:prstGeom prst="roundRect">
            <a:avLst>
              <a:gd name="adj" fmla="val 28571"/>
            </a:avLst>
          </a:prstGeom>
          <a:solidFill>
            <a:srgbClr val="1A5F59"/>
          </a:solidFill>
          <a:ln w="12700">
            <a:solidFill>
              <a:srgbClr val="1A5F59"/>
            </a:solidFill>
            <a:prstDash val="solid"/>
          </a:ln>
        </p:spPr>
      </p:sp>
      <p:sp>
        <p:nvSpPr>
          <p:cNvPr id="4" name="Text 2"/>
          <p:cNvSpPr txBox="1"/>
          <p:nvPr/>
        </p:nvSpPr>
        <p:spPr>
          <a:xfrm>
            <a:off x="566928" y="1097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5" name="Text 3"/>
          <p:cNvSpPr txBox="1"/>
          <p:nvPr/>
        </p:nvSpPr>
        <p:spPr>
          <a:xfrm>
            <a:off x="1097280" y="1078992"/>
            <a:ext cx="8595360" cy="365760"/>
          </a:xfrm>
          <a:prstGeom prst="rect">
            <a:avLst/>
          </a:prstGeom>
          <a:noFill/>
          <a:ln/>
        </p:spPr>
        <p:txBody>
          <a:bodyPr wrap="square" lIns="0" tIns="0" rIns="0" bIns="0" rtlCol="0" anchor="ctr"/>
          <a:lstStyle/>
          <a:p>
            <a:pPr indent="0" marL="0">
              <a:buNone/>
            </a:pPr>
            <a:r>
              <a:rPr lang="en-US" sz="1700" b="1" dirty="0">
                <a:solidFill>
                  <a:srgbClr val="0E1A22"/>
                </a:solidFill>
                <a:latin typeface="Cambria" pitchFamily="34" charset="0"/>
                <a:ea typeface="Cambria" pitchFamily="34" charset="-122"/>
                <a:cs typeface="Cambria" pitchFamily="34" charset="-120"/>
              </a:rPr>
              <a:t>The raise that was smaller than the beat</a:t>
            </a:r>
            <a:endParaRPr lang="en-US" sz="1700" dirty="0"/>
          </a:p>
        </p:txBody>
      </p:sp>
      <p:sp>
        <p:nvSpPr>
          <p:cNvPr id="6" name="Text 4"/>
          <p:cNvSpPr txBox="1"/>
          <p:nvPr/>
        </p:nvSpPr>
        <p:spPr>
          <a:xfrm>
            <a:off x="1097280" y="1426464"/>
            <a:ext cx="10424160" cy="274320"/>
          </a:xfrm>
          <a:prstGeom prst="rect">
            <a:avLst/>
          </a:prstGeom>
          <a:noFill/>
          <a:ln/>
        </p:spPr>
        <p:txBody>
          <a:bodyPr wrap="square" lIns="0" tIns="0" rIns="0" bIns="0" rtlCol="0" anchor="ctr"/>
          <a:lstStyle/>
          <a:p>
            <a:pPr indent="0" marL="0">
              <a:buNone/>
            </a:pPr>
            <a:r>
              <a:rPr lang="en-US" sz="1150" dirty="0">
                <a:solidFill>
                  <a:srgbClr val="5B6B78"/>
                </a:solidFill>
              </a:rPr>
              <a:t>Serves Modules 13, 06 and 10  ·  freeze date T = the morning of the Q2 print</a:t>
            </a:r>
            <a:endParaRPr lang="en-US" sz="1150" dirty="0"/>
          </a:p>
        </p:txBody>
      </p:sp>
      <p:sp>
        <p:nvSpPr>
          <p:cNvPr id="7" name="Text 5"/>
          <p:cNvSpPr txBox="1"/>
          <p:nvPr/>
        </p:nvSpPr>
        <p:spPr>
          <a:xfrm>
            <a:off x="566928" y="1874520"/>
            <a:ext cx="5486400" cy="237744"/>
          </a:xfrm>
          <a:prstGeom prst="rect">
            <a:avLst/>
          </a:prstGeom>
          <a:noFill/>
          <a:ln/>
        </p:spPr>
        <p:txBody>
          <a:bodyPr wrap="square" lIns="0" tIns="0" rIns="0" bIns="0" rtlCol="0" anchor="ctr"/>
          <a:lstStyle/>
          <a:p>
            <a:pPr indent="0" marL="0">
              <a:buNone/>
            </a:pPr>
            <a:r>
              <a:rPr lang="en-US" sz="1000" b="1" spc="120" kern="0" dirty="0">
                <a:solidFill>
                  <a:srgbClr val="5B6B78"/>
                </a:solidFill>
              </a:rPr>
              <a:t>REFERENCE PACK SERVED AT T</a:t>
            </a:r>
            <a:endParaRPr lang="en-US" sz="1000" dirty="0"/>
          </a:p>
        </p:txBody>
      </p:sp>
      <p:sp>
        <p:nvSpPr>
          <p:cNvPr id="8" name="card"/>
          <p:cNvSpPr/>
          <p:nvPr/>
        </p:nvSpPr>
        <p:spPr>
          <a:xfrm>
            <a:off x="566928" y="2194560"/>
            <a:ext cx="5486400" cy="502920"/>
          </a:xfrm>
          <a:prstGeom prst="roundRect">
            <a:avLst>
              <a:gd name="adj" fmla="val 10909"/>
            </a:avLst>
          </a:prstGeom>
          <a:solidFill>
            <a:srgbClr val="FFFFFF"/>
          </a:solidFill>
          <a:ln w="9525">
            <a:solidFill>
              <a:srgbClr val="E2E8E6"/>
            </a:solidFill>
            <a:prstDash val="solid"/>
          </a:ln>
        </p:spPr>
      </p:sp>
      <p:sp>
        <p:nvSpPr>
          <p:cNvPr id="9" name="Text 7"/>
          <p:cNvSpPr txBox="1"/>
          <p:nvPr/>
        </p:nvSpPr>
        <p:spPr>
          <a:xfrm>
            <a:off x="749808" y="2240280"/>
            <a:ext cx="1783080" cy="411480"/>
          </a:xfrm>
          <a:prstGeom prst="rect">
            <a:avLst/>
          </a:prstGeom>
          <a:noFill/>
          <a:ln/>
        </p:spPr>
        <p:txBody>
          <a:bodyPr wrap="square" lIns="0" tIns="0" rIns="0" bIns="0" rtlCol="0" anchor="ctr"/>
          <a:lstStyle/>
          <a:p>
            <a:pPr indent="0" marL="0">
              <a:buNone/>
            </a:pPr>
            <a:r>
              <a:rPr lang="en-US" sz="1150" b="1" dirty="0">
                <a:solidFill>
                  <a:srgbClr val="1A5F59"/>
                </a:solidFill>
              </a:rPr>
              <a:t>Segment financials</a:t>
            </a:r>
            <a:endParaRPr lang="en-US" sz="1150" dirty="0"/>
          </a:p>
        </p:txBody>
      </p:sp>
      <p:sp>
        <p:nvSpPr>
          <p:cNvPr id="10" name="Text 8"/>
          <p:cNvSpPr txBox="1"/>
          <p:nvPr/>
        </p:nvSpPr>
        <p:spPr>
          <a:xfrm>
            <a:off x="2578608" y="2240280"/>
            <a:ext cx="3337560" cy="411480"/>
          </a:xfrm>
          <a:prstGeom prst="rect">
            <a:avLst/>
          </a:prstGeom>
          <a:noFill/>
          <a:ln/>
        </p:spPr>
        <p:txBody>
          <a:bodyPr wrap="square" lIns="0" tIns="0" rIns="0" bIns="0" rtlCol="0" anchor="ctr"/>
          <a:lstStyle/>
          <a:p>
            <a:pPr indent="0" marL="0">
              <a:lnSpc>
                <a:spcPts val="1300"/>
              </a:lnSpc>
              <a:buNone/>
            </a:pPr>
            <a:r>
              <a:rPr lang="en-US" sz="1050" dirty="0">
                <a:solidFill>
                  <a:srgbClr val="3C4A50"/>
                </a:solidFill>
              </a:rPr>
              <a:t>Eight quarters, as-filed — every figure carries its filing date and accession number</a:t>
            </a:r>
            <a:endParaRPr lang="en-US" sz="1050" dirty="0"/>
          </a:p>
        </p:txBody>
      </p:sp>
      <p:sp>
        <p:nvSpPr>
          <p:cNvPr id="11" name="card"/>
          <p:cNvSpPr/>
          <p:nvPr/>
        </p:nvSpPr>
        <p:spPr>
          <a:xfrm>
            <a:off x="566928" y="2770632"/>
            <a:ext cx="5486400" cy="502920"/>
          </a:xfrm>
          <a:prstGeom prst="roundRect">
            <a:avLst>
              <a:gd name="adj" fmla="val 10909"/>
            </a:avLst>
          </a:prstGeom>
          <a:solidFill>
            <a:srgbClr val="F7FAF9"/>
          </a:solidFill>
          <a:ln w="9525">
            <a:solidFill>
              <a:srgbClr val="E2E8E6"/>
            </a:solidFill>
            <a:prstDash val="solid"/>
          </a:ln>
        </p:spPr>
      </p:sp>
      <p:sp>
        <p:nvSpPr>
          <p:cNvPr id="12" name="Text 10"/>
          <p:cNvSpPr txBox="1"/>
          <p:nvPr/>
        </p:nvSpPr>
        <p:spPr>
          <a:xfrm>
            <a:off x="749808" y="2816352"/>
            <a:ext cx="1783080" cy="411480"/>
          </a:xfrm>
          <a:prstGeom prst="rect">
            <a:avLst/>
          </a:prstGeom>
          <a:noFill/>
          <a:ln/>
        </p:spPr>
        <p:txBody>
          <a:bodyPr wrap="square" lIns="0" tIns="0" rIns="0" bIns="0" rtlCol="0" anchor="ctr"/>
          <a:lstStyle/>
          <a:p>
            <a:pPr indent="0" marL="0">
              <a:buNone/>
            </a:pPr>
            <a:r>
              <a:rPr lang="en-US" sz="1150" b="1" dirty="0">
                <a:solidFill>
                  <a:srgbClr val="1A5F59"/>
                </a:solidFill>
              </a:rPr>
              <a:t>Filings</a:t>
            </a:r>
            <a:endParaRPr lang="en-US" sz="1150" dirty="0"/>
          </a:p>
        </p:txBody>
      </p:sp>
      <p:sp>
        <p:nvSpPr>
          <p:cNvPr id="13" name="Text 11"/>
          <p:cNvSpPr txBox="1"/>
          <p:nvPr/>
        </p:nvSpPr>
        <p:spPr>
          <a:xfrm>
            <a:off x="2578608" y="2816352"/>
            <a:ext cx="3337560" cy="411480"/>
          </a:xfrm>
          <a:prstGeom prst="rect">
            <a:avLst/>
          </a:prstGeom>
          <a:noFill/>
          <a:ln/>
        </p:spPr>
        <p:txBody>
          <a:bodyPr wrap="square" lIns="0" tIns="0" rIns="0" bIns="0" rtlCol="0" anchor="ctr"/>
          <a:lstStyle/>
          <a:p>
            <a:pPr indent="0" marL="0">
              <a:lnSpc>
                <a:spcPts val="1300"/>
              </a:lnSpc>
              <a:buNone/>
            </a:pPr>
            <a:r>
              <a:rPr lang="en-US" sz="1050" dirty="0">
                <a:solidFill>
                  <a:srgbClr val="3C4A50"/>
                </a:solidFill>
              </a:rPr>
              <a:t>Every 10-K, 10-Q and 8-K filed on or before T, and nothing after it</a:t>
            </a:r>
            <a:endParaRPr lang="en-US" sz="1050" dirty="0"/>
          </a:p>
        </p:txBody>
      </p:sp>
      <p:sp>
        <p:nvSpPr>
          <p:cNvPr id="14" name="card"/>
          <p:cNvSpPr/>
          <p:nvPr/>
        </p:nvSpPr>
        <p:spPr>
          <a:xfrm>
            <a:off x="566928" y="3346704"/>
            <a:ext cx="5486400" cy="502920"/>
          </a:xfrm>
          <a:prstGeom prst="roundRect">
            <a:avLst>
              <a:gd name="adj" fmla="val 10909"/>
            </a:avLst>
          </a:prstGeom>
          <a:solidFill>
            <a:srgbClr val="FFFFFF"/>
          </a:solidFill>
          <a:ln w="9525">
            <a:solidFill>
              <a:srgbClr val="E2E8E6"/>
            </a:solidFill>
            <a:prstDash val="solid"/>
          </a:ln>
        </p:spPr>
      </p:sp>
      <p:sp>
        <p:nvSpPr>
          <p:cNvPr id="15" name="Text 13"/>
          <p:cNvSpPr txBox="1"/>
          <p:nvPr/>
        </p:nvSpPr>
        <p:spPr>
          <a:xfrm>
            <a:off x="749808" y="3392424"/>
            <a:ext cx="1783080" cy="411480"/>
          </a:xfrm>
          <a:prstGeom prst="rect">
            <a:avLst/>
          </a:prstGeom>
          <a:noFill/>
          <a:ln/>
        </p:spPr>
        <p:txBody>
          <a:bodyPr wrap="square" lIns="0" tIns="0" rIns="0" bIns="0" rtlCol="0" anchor="ctr"/>
          <a:lstStyle/>
          <a:p>
            <a:pPr indent="0" marL="0">
              <a:buNone/>
            </a:pPr>
            <a:r>
              <a:rPr lang="en-US" sz="1150" b="1" dirty="0">
                <a:solidFill>
                  <a:srgbClr val="1A5F59"/>
                </a:solidFill>
              </a:rPr>
              <a:t>Transcripts</a:t>
            </a:r>
            <a:endParaRPr lang="en-US" sz="1150" dirty="0"/>
          </a:p>
        </p:txBody>
      </p:sp>
      <p:sp>
        <p:nvSpPr>
          <p:cNvPr id="16" name="Text 14"/>
          <p:cNvSpPr txBox="1"/>
          <p:nvPr/>
        </p:nvSpPr>
        <p:spPr>
          <a:xfrm>
            <a:off x="2578608" y="3392424"/>
            <a:ext cx="3337560" cy="411480"/>
          </a:xfrm>
          <a:prstGeom prst="rect">
            <a:avLst/>
          </a:prstGeom>
          <a:noFill/>
          <a:ln/>
        </p:spPr>
        <p:txBody>
          <a:bodyPr wrap="square" lIns="0" tIns="0" rIns="0" bIns="0" rtlCol="0" anchor="ctr"/>
          <a:lstStyle/>
          <a:p>
            <a:pPr indent="0" marL="0">
              <a:lnSpc>
                <a:spcPts val="1300"/>
              </a:lnSpc>
              <a:buNone/>
            </a:pPr>
            <a:r>
              <a:rPr lang="en-US" sz="1050" dirty="0">
                <a:solidFill>
                  <a:srgbClr val="3C4A50"/>
                </a:solidFill>
              </a:rPr>
              <a:t>The last two earnings calls, including the Q&amp;A</a:t>
            </a:r>
            <a:endParaRPr lang="en-US" sz="1050" dirty="0"/>
          </a:p>
        </p:txBody>
      </p:sp>
      <p:sp>
        <p:nvSpPr>
          <p:cNvPr id="17" name="card"/>
          <p:cNvSpPr/>
          <p:nvPr/>
        </p:nvSpPr>
        <p:spPr>
          <a:xfrm>
            <a:off x="566928" y="3922776"/>
            <a:ext cx="5486400" cy="502920"/>
          </a:xfrm>
          <a:prstGeom prst="roundRect">
            <a:avLst>
              <a:gd name="adj" fmla="val 10909"/>
            </a:avLst>
          </a:prstGeom>
          <a:solidFill>
            <a:srgbClr val="F7FAF9"/>
          </a:solidFill>
          <a:ln w="9525">
            <a:solidFill>
              <a:srgbClr val="E2E8E6"/>
            </a:solidFill>
            <a:prstDash val="solid"/>
          </a:ln>
        </p:spPr>
      </p:sp>
      <p:sp>
        <p:nvSpPr>
          <p:cNvPr id="18" name="Text 16"/>
          <p:cNvSpPr txBox="1"/>
          <p:nvPr/>
        </p:nvSpPr>
        <p:spPr>
          <a:xfrm>
            <a:off x="749808" y="3968496"/>
            <a:ext cx="1783080" cy="411480"/>
          </a:xfrm>
          <a:prstGeom prst="rect">
            <a:avLst/>
          </a:prstGeom>
          <a:noFill/>
          <a:ln/>
        </p:spPr>
        <p:txBody>
          <a:bodyPr wrap="square" lIns="0" tIns="0" rIns="0" bIns="0" rtlCol="0" anchor="ctr"/>
          <a:lstStyle/>
          <a:p>
            <a:pPr indent="0" marL="0">
              <a:buNone/>
            </a:pPr>
            <a:r>
              <a:rPr lang="en-US" sz="1150" b="1" dirty="0">
                <a:solidFill>
                  <a:srgbClr val="1A5F59"/>
                </a:solidFill>
              </a:rPr>
              <a:t>The bar</a:t>
            </a:r>
            <a:endParaRPr lang="en-US" sz="1150" dirty="0"/>
          </a:p>
        </p:txBody>
      </p:sp>
      <p:sp>
        <p:nvSpPr>
          <p:cNvPr id="19" name="Text 17"/>
          <p:cNvSpPr txBox="1"/>
          <p:nvPr/>
        </p:nvSpPr>
        <p:spPr>
          <a:xfrm>
            <a:off x="2578608" y="3968496"/>
            <a:ext cx="3337560" cy="411480"/>
          </a:xfrm>
          <a:prstGeom prst="rect">
            <a:avLst/>
          </a:prstGeom>
          <a:noFill/>
          <a:ln/>
        </p:spPr>
        <p:txBody>
          <a:bodyPr wrap="square" lIns="0" tIns="0" rIns="0" bIns="0" rtlCol="0" anchor="ctr"/>
          <a:lstStyle/>
          <a:p>
            <a:pPr indent="0" marL="0">
              <a:lnSpc>
                <a:spcPts val="1300"/>
              </a:lnSpc>
              <a:buNone/>
            </a:pPr>
            <a:r>
              <a:rPr lang="en-US" sz="1050" dirty="0">
                <a:solidFill>
                  <a:srgbClr val="3C4A50"/>
                </a:solidFill>
              </a:rPr>
              <a:t>Management's FY guidance as given at Q1, plus hand-curated consensus revenue and EPS</a:t>
            </a:r>
            <a:endParaRPr lang="en-US" sz="1050" dirty="0"/>
          </a:p>
        </p:txBody>
      </p:sp>
      <p:sp>
        <p:nvSpPr>
          <p:cNvPr id="20" name="card"/>
          <p:cNvSpPr/>
          <p:nvPr/>
        </p:nvSpPr>
        <p:spPr>
          <a:xfrm>
            <a:off x="566928" y="4498848"/>
            <a:ext cx="5486400" cy="502920"/>
          </a:xfrm>
          <a:prstGeom prst="roundRect">
            <a:avLst>
              <a:gd name="adj" fmla="val 10909"/>
            </a:avLst>
          </a:prstGeom>
          <a:solidFill>
            <a:srgbClr val="FFFFFF"/>
          </a:solidFill>
          <a:ln w="9525">
            <a:solidFill>
              <a:srgbClr val="E2E8E6"/>
            </a:solidFill>
            <a:prstDash val="solid"/>
          </a:ln>
        </p:spPr>
      </p:sp>
      <p:sp>
        <p:nvSpPr>
          <p:cNvPr id="21" name="Text 19"/>
          <p:cNvSpPr txBox="1"/>
          <p:nvPr/>
        </p:nvSpPr>
        <p:spPr>
          <a:xfrm>
            <a:off x="749808" y="4544568"/>
            <a:ext cx="1783080" cy="411480"/>
          </a:xfrm>
          <a:prstGeom prst="rect">
            <a:avLst/>
          </a:prstGeom>
          <a:noFill/>
          <a:ln/>
        </p:spPr>
        <p:txBody>
          <a:bodyPr wrap="square" lIns="0" tIns="0" rIns="0" bIns="0" rtlCol="0" anchor="ctr"/>
          <a:lstStyle/>
          <a:p>
            <a:pPr indent="0" marL="0">
              <a:buNone/>
            </a:pPr>
            <a:r>
              <a:rPr lang="en-US" sz="1150" b="1" dirty="0">
                <a:solidFill>
                  <a:srgbClr val="1A5F59"/>
                </a:solidFill>
              </a:rPr>
              <a:t>Market data</a:t>
            </a:r>
            <a:endParaRPr lang="en-US" sz="1150" dirty="0"/>
          </a:p>
        </p:txBody>
      </p:sp>
      <p:sp>
        <p:nvSpPr>
          <p:cNvPr id="22" name="Text 20"/>
          <p:cNvSpPr txBox="1"/>
          <p:nvPr/>
        </p:nvSpPr>
        <p:spPr>
          <a:xfrm>
            <a:off x="2578608" y="4544568"/>
            <a:ext cx="3337560" cy="411480"/>
          </a:xfrm>
          <a:prstGeom prst="rect">
            <a:avLst/>
          </a:prstGeom>
          <a:noFill/>
          <a:ln/>
        </p:spPr>
        <p:txBody>
          <a:bodyPr wrap="square" lIns="0" tIns="0" rIns="0" bIns="0" rtlCol="0" anchor="ctr"/>
          <a:lstStyle/>
          <a:p>
            <a:pPr indent="0" marL="0">
              <a:lnSpc>
                <a:spcPts val="1300"/>
              </a:lnSpc>
              <a:buNone/>
            </a:pPr>
            <a:r>
              <a:rPr lang="en-US" sz="1050" dirty="0">
                <a:solidFill>
                  <a:srgbClr val="3C4A50"/>
                </a:solidFill>
              </a:rPr>
              <a:t>Price, forward multiple vs. its own history, and one ATM straddle price</a:t>
            </a:r>
            <a:endParaRPr lang="en-US" sz="1050" dirty="0"/>
          </a:p>
        </p:txBody>
      </p:sp>
      <p:sp>
        <p:nvSpPr>
          <p:cNvPr id="23" name="Text 21"/>
          <p:cNvSpPr txBox="1"/>
          <p:nvPr/>
        </p:nvSpPr>
        <p:spPr>
          <a:xfrm>
            <a:off x="6309360" y="1874520"/>
            <a:ext cx="5486400" cy="237744"/>
          </a:xfrm>
          <a:prstGeom prst="rect">
            <a:avLst/>
          </a:prstGeom>
          <a:noFill/>
          <a:ln/>
        </p:spPr>
        <p:txBody>
          <a:bodyPr wrap="square" lIns="0" tIns="0" rIns="0" bIns="0" rtlCol="0" anchor="ctr"/>
          <a:lstStyle/>
          <a:p>
            <a:pPr indent="0" marL="0">
              <a:buNone/>
            </a:pPr>
            <a:r>
              <a:rPr lang="en-US" sz="1000" b="1" spc="120" kern="0" dirty="0">
                <a:solidFill>
                  <a:srgbClr val="5B6B78"/>
                </a:solidFill>
              </a:rPr>
              <a:t>WHAT THEY MUST PRODUCE — FIVE TIMED DELIVERABLES</a:t>
            </a:r>
            <a:endParaRPr lang="en-US" sz="1000" dirty="0"/>
          </a:p>
        </p:txBody>
      </p:sp>
      <p:sp>
        <p:nvSpPr>
          <p:cNvPr id="24" name="card"/>
          <p:cNvSpPr/>
          <p:nvPr/>
        </p:nvSpPr>
        <p:spPr>
          <a:xfrm>
            <a:off x="6309360" y="2194560"/>
            <a:ext cx="5285232" cy="502920"/>
          </a:xfrm>
          <a:prstGeom prst="roundRect">
            <a:avLst>
              <a:gd name="adj" fmla="val 10909"/>
            </a:avLst>
          </a:prstGeom>
          <a:solidFill>
            <a:srgbClr val="FFFFFF"/>
          </a:solidFill>
          <a:ln w="9525">
            <a:solidFill>
              <a:srgbClr val="E2E8E6"/>
            </a:solidFill>
            <a:prstDash val="solid"/>
          </a:ln>
        </p:spPr>
      </p:sp>
      <p:sp>
        <p:nvSpPr>
          <p:cNvPr id="25" name="Text 23"/>
          <p:cNvSpPr txBox="1"/>
          <p:nvPr/>
        </p:nvSpPr>
        <p:spPr>
          <a:xfrm>
            <a:off x="6446520" y="2240280"/>
            <a:ext cx="868680" cy="411480"/>
          </a:xfrm>
          <a:prstGeom prst="rect">
            <a:avLst/>
          </a:prstGeom>
          <a:solidFill>
            <a:srgbClr val="5B6B78"/>
          </a:solidFill>
          <a:ln/>
        </p:spPr>
        <p:txBody>
          <a:bodyPr wrap="square" lIns="0" tIns="0" rIns="0" bIns="0" rtlCol="0" anchor="ctr"/>
          <a:lstStyle/>
          <a:p>
            <a:pPr algn="ctr" indent="0" marL="0">
              <a:buNone/>
            </a:pPr>
            <a:r>
              <a:rPr lang="en-US" sz="950" b="1" dirty="0">
                <a:solidFill>
                  <a:srgbClr val="FFFFFF"/>
                </a:solidFill>
              </a:rPr>
              <a:t>T − 2</a:t>
            </a:r>
            <a:endParaRPr lang="en-US" sz="950" dirty="0"/>
          </a:p>
        </p:txBody>
      </p:sp>
      <p:sp>
        <p:nvSpPr>
          <p:cNvPr id="26" name="Text 24"/>
          <p:cNvSpPr txBox="1"/>
          <p:nvPr/>
        </p:nvSpPr>
        <p:spPr>
          <a:xfrm>
            <a:off x="7388352" y="2231136"/>
            <a:ext cx="1600200" cy="429768"/>
          </a:xfrm>
          <a:prstGeom prst="rect">
            <a:avLst/>
          </a:prstGeom>
          <a:noFill/>
          <a:ln/>
        </p:spPr>
        <p:txBody>
          <a:bodyPr wrap="square" lIns="0" tIns="0" rIns="0" bIns="0" rtlCol="0" anchor="ctr"/>
          <a:lstStyle/>
          <a:p>
            <a:pPr indent="0" marL="0">
              <a:lnSpc>
                <a:spcPts val="1200"/>
              </a:lnSpc>
              <a:buNone/>
            </a:pPr>
            <a:r>
              <a:rPr lang="en-US" sz="1050" b="1" dirty="0">
                <a:solidFill>
                  <a:srgbClr val="0E1A22"/>
                </a:solidFill>
              </a:rPr>
              <a:t>Preview memo, 90 min</a:t>
            </a:r>
            <a:endParaRPr lang="en-US" sz="1050" dirty="0"/>
          </a:p>
        </p:txBody>
      </p:sp>
      <p:sp>
        <p:nvSpPr>
          <p:cNvPr id="27" name="Text 25"/>
          <p:cNvSpPr txBox="1"/>
          <p:nvPr/>
        </p:nvSpPr>
        <p:spPr>
          <a:xfrm>
            <a:off x="9052560" y="2231136"/>
            <a:ext cx="2468880" cy="429768"/>
          </a:xfrm>
          <a:prstGeom prst="rect">
            <a:avLst/>
          </a:prstGeom>
          <a:noFill/>
          <a:ln/>
        </p:spPr>
        <p:txBody>
          <a:bodyPr wrap="square" lIns="0" tIns="0" rIns="0" bIns="0" rtlCol="0" anchor="ctr"/>
          <a:lstStyle/>
          <a:p>
            <a:pPr indent="0" marL="0">
              <a:lnSpc>
                <a:spcPts val="1150"/>
              </a:lnSpc>
              <a:buNone/>
            </a:pPr>
            <a:r>
              <a:rPr lang="en-US" sz="950" dirty="0">
                <a:solidFill>
                  <a:srgbClr val="3C4A50"/>
                </a:solidFill>
              </a:rPr>
              <a:t>The bar, our number, positioning, risk/reward — and a written pre-commitment of what we do in each outcome</a:t>
            </a:r>
            <a:endParaRPr lang="en-US" sz="950" dirty="0"/>
          </a:p>
        </p:txBody>
      </p:sp>
      <p:sp>
        <p:nvSpPr>
          <p:cNvPr id="28" name="card"/>
          <p:cNvSpPr/>
          <p:nvPr/>
        </p:nvSpPr>
        <p:spPr>
          <a:xfrm>
            <a:off x="6309360" y="2770632"/>
            <a:ext cx="5285232" cy="502920"/>
          </a:xfrm>
          <a:prstGeom prst="roundRect">
            <a:avLst>
              <a:gd name="adj" fmla="val 10909"/>
            </a:avLst>
          </a:prstGeom>
          <a:solidFill>
            <a:srgbClr val="F7FAF9"/>
          </a:solidFill>
          <a:ln w="9525">
            <a:solidFill>
              <a:srgbClr val="E2E8E6"/>
            </a:solidFill>
            <a:prstDash val="solid"/>
          </a:ln>
        </p:spPr>
      </p:sp>
      <p:sp>
        <p:nvSpPr>
          <p:cNvPr id="29" name="Text 27"/>
          <p:cNvSpPr txBox="1"/>
          <p:nvPr/>
        </p:nvSpPr>
        <p:spPr>
          <a:xfrm>
            <a:off x="6446520" y="2816352"/>
            <a:ext cx="868680" cy="411480"/>
          </a:xfrm>
          <a:prstGeom prst="rect">
            <a:avLst/>
          </a:prstGeom>
          <a:solidFill>
            <a:srgbClr val="5B6B78"/>
          </a:solidFill>
          <a:ln/>
        </p:spPr>
        <p:txBody>
          <a:bodyPr wrap="square" lIns="0" tIns="0" rIns="0" bIns="0" rtlCol="0" anchor="ctr"/>
          <a:lstStyle/>
          <a:p>
            <a:pPr algn="ctr" indent="0" marL="0">
              <a:buNone/>
            </a:pPr>
            <a:r>
              <a:rPr lang="en-US" sz="950" b="1" dirty="0">
                <a:solidFill>
                  <a:srgbClr val="FFFFFF"/>
                </a:solidFill>
              </a:rPr>
              <a:t>T</a:t>
            </a:r>
            <a:endParaRPr lang="en-US" sz="950" dirty="0"/>
          </a:p>
        </p:txBody>
      </p:sp>
      <p:sp>
        <p:nvSpPr>
          <p:cNvPr id="30" name="Text 28"/>
          <p:cNvSpPr txBox="1"/>
          <p:nvPr/>
        </p:nvSpPr>
        <p:spPr>
          <a:xfrm>
            <a:off x="7388352" y="2807208"/>
            <a:ext cx="1600200" cy="429768"/>
          </a:xfrm>
          <a:prstGeom prst="rect">
            <a:avLst/>
          </a:prstGeom>
          <a:noFill/>
          <a:ln/>
        </p:spPr>
        <p:txBody>
          <a:bodyPr wrap="square" lIns="0" tIns="0" rIns="0" bIns="0" rtlCol="0" anchor="ctr"/>
          <a:lstStyle/>
          <a:p>
            <a:pPr indent="0" marL="0">
              <a:lnSpc>
                <a:spcPts val="1200"/>
              </a:lnSpc>
              <a:buNone/>
            </a:pPr>
            <a:r>
              <a:rPr lang="en-US" sz="1050" b="1" dirty="0">
                <a:solidFill>
                  <a:srgbClr val="0E1A22"/>
                </a:solidFill>
              </a:rPr>
              <a:t>First read, 15 min</a:t>
            </a:r>
            <a:endParaRPr lang="en-US" sz="1050" dirty="0"/>
          </a:p>
        </p:txBody>
      </p:sp>
      <p:sp>
        <p:nvSpPr>
          <p:cNvPr id="31" name="Text 29"/>
          <p:cNvSpPr txBox="1"/>
          <p:nvPr/>
        </p:nvSpPr>
        <p:spPr>
          <a:xfrm>
            <a:off x="9052560" y="2807208"/>
            <a:ext cx="2468880" cy="429768"/>
          </a:xfrm>
          <a:prstGeom prst="rect">
            <a:avLst/>
          </a:prstGeom>
          <a:noFill/>
          <a:ln/>
        </p:spPr>
        <p:txBody>
          <a:bodyPr wrap="square" lIns="0" tIns="0" rIns="0" bIns="0" rtlCol="0" anchor="ctr"/>
          <a:lstStyle/>
          <a:p>
            <a:pPr indent="0" marL="0">
              <a:lnSpc>
                <a:spcPts val="1150"/>
              </a:lnSpc>
              <a:buNone/>
            </a:pPr>
            <a:r>
              <a:rPr lang="en-US" sz="950" dirty="0">
                <a:solidFill>
                  <a:srgbClr val="3C4A50"/>
                </a:solidFill>
              </a:rPr>
              <a:t>Five fixed stages, starting with the guidance paragraph</a:t>
            </a:r>
            <a:endParaRPr lang="en-US" sz="950" dirty="0"/>
          </a:p>
        </p:txBody>
      </p:sp>
      <p:sp>
        <p:nvSpPr>
          <p:cNvPr id="32" name="card"/>
          <p:cNvSpPr/>
          <p:nvPr/>
        </p:nvSpPr>
        <p:spPr>
          <a:xfrm>
            <a:off x="6309360" y="3346704"/>
            <a:ext cx="5285232" cy="502920"/>
          </a:xfrm>
          <a:prstGeom prst="roundRect">
            <a:avLst>
              <a:gd name="adj" fmla="val 10909"/>
            </a:avLst>
          </a:prstGeom>
          <a:solidFill>
            <a:srgbClr val="FFFFFF"/>
          </a:solidFill>
          <a:ln w="9525">
            <a:solidFill>
              <a:srgbClr val="E2E8E6"/>
            </a:solidFill>
            <a:prstDash val="solid"/>
          </a:ln>
        </p:spPr>
      </p:sp>
      <p:sp>
        <p:nvSpPr>
          <p:cNvPr id="33" name="Text 31"/>
          <p:cNvSpPr txBox="1"/>
          <p:nvPr/>
        </p:nvSpPr>
        <p:spPr>
          <a:xfrm>
            <a:off x="6446520" y="3392424"/>
            <a:ext cx="868680" cy="411480"/>
          </a:xfrm>
          <a:prstGeom prst="rect">
            <a:avLst/>
          </a:prstGeom>
          <a:solidFill>
            <a:srgbClr val="5B6B78"/>
          </a:solidFill>
          <a:ln/>
        </p:spPr>
        <p:txBody>
          <a:bodyPr wrap="square" lIns="0" tIns="0" rIns="0" bIns="0" rtlCol="0" anchor="ctr"/>
          <a:lstStyle/>
          <a:p>
            <a:pPr algn="ctr" indent="0" marL="0">
              <a:buNone/>
            </a:pPr>
            <a:r>
              <a:rPr lang="en-US" sz="950" b="1" dirty="0">
                <a:solidFill>
                  <a:srgbClr val="FFFFFF"/>
                </a:solidFill>
              </a:rPr>
              <a:t>T + 90min</a:t>
            </a:r>
            <a:endParaRPr lang="en-US" sz="950" dirty="0"/>
          </a:p>
        </p:txBody>
      </p:sp>
      <p:sp>
        <p:nvSpPr>
          <p:cNvPr id="34" name="Text 32"/>
          <p:cNvSpPr txBox="1"/>
          <p:nvPr/>
        </p:nvSpPr>
        <p:spPr>
          <a:xfrm>
            <a:off x="7388352" y="3383280"/>
            <a:ext cx="1600200" cy="429768"/>
          </a:xfrm>
          <a:prstGeom prst="rect">
            <a:avLst/>
          </a:prstGeom>
          <a:noFill/>
          <a:ln/>
        </p:spPr>
        <p:txBody>
          <a:bodyPr wrap="square" lIns="0" tIns="0" rIns="0" bIns="0" rtlCol="0" anchor="ctr"/>
          <a:lstStyle/>
          <a:p>
            <a:pPr indent="0" marL="0">
              <a:lnSpc>
                <a:spcPts val="1200"/>
              </a:lnSpc>
              <a:buNone/>
            </a:pPr>
            <a:r>
              <a:rPr lang="en-US" sz="1050" b="1" dirty="0">
                <a:solidFill>
                  <a:srgbClr val="0E1A22"/>
                </a:solidFill>
              </a:rPr>
              <a:t>Updated model</a:t>
            </a:r>
            <a:endParaRPr lang="en-US" sz="1050" dirty="0"/>
          </a:p>
        </p:txBody>
      </p:sp>
      <p:sp>
        <p:nvSpPr>
          <p:cNvPr id="35" name="Text 33"/>
          <p:cNvSpPr txBox="1"/>
          <p:nvPr/>
        </p:nvSpPr>
        <p:spPr>
          <a:xfrm>
            <a:off x="9052560" y="3383280"/>
            <a:ext cx="2468880" cy="429768"/>
          </a:xfrm>
          <a:prstGeom prst="rect">
            <a:avLst/>
          </a:prstGeom>
          <a:noFill/>
          <a:ln/>
        </p:spPr>
        <p:txBody>
          <a:bodyPr wrap="square" lIns="0" tIns="0" rIns="0" bIns="0" rtlCol="0" anchor="ctr"/>
          <a:lstStyle/>
          <a:p>
            <a:pPr indent="0" marL="0">
              <a:lnSpc>
                <a:spcPts val="1150"/>
              </a:lnSpc>
              <a:buNone/>
            </a:pPr>
            <a:r>
              <a:rPr lang="en-US" sz="950" dirty="0">
                <a:solidFill>
                  <a:srgbClr val="3C4A50"/>
                </a:solidFill>
              </a:rPr>
              <a:t>Re-set the forward bar, the multiple and the gap</a:t>
            </a:r>
            <a:endParaRPr lang="en-US" sz="950" dirty="0"/>
          </a:p>
        </p:txBody>
      </p:sp>
      <p:sp>
        <p:nvSpPr>
          <p:cNvPr id="36" name="card"/>
          <p:cNvSpPr/>
          <p:nvPr/>
        </p:nvSpPr>
        <p:spPr>
          <a:xfrm>
            <a:off x="6309360" y="3922776"/>
            <a:ext cx="5285232" cy="502920"/>
          </a:xfrm>
          <a:prstGeom prst="roundRect">
            <a:avLst>
              <a:gd name="adj" fmla="val 10909"/>
            </a:avLst>
          </a:prstGeom>
          <a:solidFill>
            <a:srgbClr val="F7FAF9"/>
          </a:solidFill>
          <a:ln w="9525">
            <a:solidFill>
              <a:srgbClr val="E2E8E6"/>
            </a:solidFill>
            <a:prstDash val="solid"/>
          </a:ln>
        </p:spPr>
      </p:sp>
      <p:sp>
        <p:nvSpPr>
          <p:cNvPr id="37" name="Text 35"/>
          <p:cNvSpPr txBox="1"/>
          <p:nvPr/>
        </p:nvSpPr>
        <p:spPr>
          <a:xfrm>
            <a:off x="6446520" y="3968496"/>
            <a:ext cx="868680" cy="411480"/>
          </a:xfrm>
          <a:prstGeom prst="rect">
            <a:avLst/>
          </a:prstGeom>
          <a:solidFill>
            <a:srgbClr val="5B6B78"/>
          </a:solidFill>
          <a:ln/>
        </p:spPr>
        <p:txBody>
          <a:bodyPr wrap="square" lIns="0" tIns="0" rIns="0" bIns="0" rtlCol="0" anchor="ctr"/>
          <a:lstStyle/>
          <a:p>
            <a:pPr algn="ctr" indent="0" marL="0">
              <a:buNone/>
            </a:pPr>
            <a:r>
              <a:rPr lang="en-US" sz="950" b="1" dirty="0">
                <a:solidFill>
                  <a:srgbClr val="FFFFFF"/>
                </a:solidFill>
              </a:rPr>
              <a:t>next open</a:t>
            </a:r>
            <a:endParaRPr lang="en-US" sz="950" dirty="0"/>
          </a:p>
        </p:txBody>
      </p:sp>
      <p:sp>
        <p:nvSpPr>
          <p:cNvPr id="38" name="Text 36"/>
          <p:cNvSpPr txBox="1"/>
          <p:nvPr/>
        </p:nvSpPr>
        <p:spPr>
          <a:xfrm>
            <a:off x="7388352" y="3959352"/>
            <a:ext cx="1600200" cy="429768"/>
          </a:xfrm>
          <a:prstGeom prst="rect">
            <a:avLst/>
          </a:prstGeom>
          <a:noFill/>
          <a:ln/>
        </p:spPr>
        <p:txBody>
          <a:bodyPr wrap="square" lIns="0" tIns="0" rIns="0" bIns="0" rtlCol="0" anchor="ctr"/>
          <a:lstStyle/>
          <a:p>
            <a:pPr indent="0" marL="0">
              <a:lnSpc>
                <a:spcPts val="1200"/>
              </a:lnSpc>
              <a:buNone/>
            </a:pPr>
            <a:r>
              <a:rPr lang="en-US" sz="1050" b="1" dirty="0">
                <a:solidFill>
                  <a:srgbClr val="0E1A22"/>
                </a:solidFill>
              </a:rPr>
              <a:t>Action + sizing</a:t>
            </a:r>
            <a:endParaRPr lang="en-US" sz="1050" dirty="0"/>
          </a:p>
        </p:txBody>
      </p:sp>
      <p:sp>
        <p:nvSpPr>
          <p:cNvPr id="39" name="Text 37"/>
          <p:cNvSpPr txBox="1"/>
          <p:nvPr/>
        </p:nvSpPr>
        <p:spPr>
          <a:xfrm>
            <a:off x="9052560" y="3959352"/>
            <a:ext cx="2468880" cy="429768"/>
          </a:xfrm>
          <a:prstGeom prst="rect">
            <a:avLst/>
          </a:prstGeom>
          <a:noFill/>
          <a:ln/>
        </p:spPr>
        <p:txBody>
          <a:bodyPr wrap="square" lIns="0" tIns="0" rIns="0" bIns="0" rtlCol="0" anchor="ctr"/>
          <a:lstStyle/>
          <a:p>
            <a:pPr indent="0" marL="0">
              <a:lnSpc>
                <a:spcPts val="1150"/>
              </a:lnSpc>
              <a:buNone/>
            </a:pPr>
            <a:r>
              <a:rPr lang="en-US" sz="950" dirty="0">
                <a:solidFill>
                  <a:srgbClr val="3C4A50"/>
                </a:solidFill>
              </a:rPr>
              <a:t>Buy, hold, trim or exit, with the size</a:t>
            </a:r>
            <a:endParaRPr lang="en-US" sz="950" dirty="0"/>
          </a:p>
        </p:txBody>
      </p:sp>
      <p:sp>
        <p:nvSpPr>
          <p:cNvPr id="40" name="card"/>
          <p:cNvSpPr/>
          <p:nvPr/>
        </p:nvSpPr>
        <p:spPr>
          <a:xfrm>
            <a:off x="6309360" y="4498848"/>
            <a:ext cx="5285232" cy="502920"/>
          </a:xfrm>
          <a:prstGeom prst="roundRect">
            <a:avLst>
              <a:gd name="adj" fmla="val 10909"/>
            </a:avLst>
          </a:prstGeom>
          <a:solidFill>
            <a:srgbClr val="FFFFFF"/>
          </a:solidFill>
          <a:ln w="9525">
            <a:solidFill>
              <a:srgbClr val="E2E8E6"/>
            </a:solidFill>
            <a:prstDash val="solid"/>
          </a:ln>
        </p:spPr>
      </p:sp>
      <p:sp>
        <p:nvSpPr>
          <p:cNvPr id="41" name="Text 39"/>
          <p:cNvSpPr txBox="1"/>
          <p:nvPr/>
        </p:nvSpPr>
        <p:spPr>
          <a:xfrm>
            <a:off x="6446520" y="4544568"/>
            <a:ext cx="868680" cy="411480"/>
          </a:xfrm>
          <a:prstGeom prst="rect">
            <a:avLst/>
          </a:prstGeom>
          <a:solidFill>
            <a:srgbClr val="5B6B78"/>
          </a:solidFill>
          <a:ln/>
        </p:spPr>
        <p:txBody>
          <a:bodyPr wrap="square" lIns="0" tIns="0" rIns="0" bIns="0" rtlCol="0" anchor="ctr"/>
          <a:lstStyle/>
          <a:p>
            <a:pPr algn="ctr" indent="0" marL="0">
              <a:buNone/>
            </a:pPr>
            <a:r>
              <a:rPr lang="en-US" sz="950" b="1" dirty="0">
                <a:solidFill>
                  <a:srgbClr val="FFFFFF"/>
                </a:solidFill>
              </a:rPr>
              <a:t>T + 60d</a:t>
            </a:r>
            <a:endParaRPr lang="en-US" sz="950" dirty="0"/>
          </a:p>
        </p:txBody>
      </p:sp>
      <p:sp>
        <p:nvSpPr>
          <p:cNvPr id="42" name="Text 40"/>
          <p:cNvSpPr txBox="1"/>
          <p:nvPr/>
        </p:nvSpPr>
        <p:spPr>
          <a:xfrm>
            <a:off x="7388352" y="4535424"/>
            <a:ext cx="1600200" cy="429768"/>
          </a:xfrm>
          <a:prstGeom prst="rect">
            <a:avLst/>
          </a:prstGeom>
          <a:noFill/>
          <a:ln/>
        </p:spPr>
        <p:txBody>
          <a:bodyPr wrap="square" lIns="0" tIns="0" rIns="0" bIns="0" rtlCol="0" anchor="ctr"/>
          <a:lstStyle/>
          <a:p>
            <a:pPr indent="0" marL="0">
              <a:lnSpc>
                <a:spcPts val="1200"/>
              </a:lnSpc>
              <a:buNone/>
            </a:pPr>
            <a:r>
              <a:rPr lang="en-US" sz="1050" b="1" dirty="0">
                <a:solidFill>
                  <a:srgbClr val="0E1A22"/>
                </a:solidFill>
              </a:rPr>
              <a:t>Post-mortem</a:t>
            </a:r>
            <a:endParaRPr lang="en-US" sz="1050" dirty="0"/>
          </a:p>
        </p:txBody>
      </p:sp>
      <p:sp>
        <p:nvSpPr>
          <p:cNvPr id="43" name="Text 41"/>
          <p:cNvSpPr txBox="1"/>
          <p:nvPr/>
        </p:nvSpPr>
        <p:spPr>
          <a:xfrm>
            <a:off x="9052560" y="4535424"/>
            <a:ext cx="2468880" cy="429768"/>
          </a:xfrm>
          <a:prstGeom prst="rect">
            <a:avLst/>
          </a:prstGeom>
          <a:noFill/>
          <a:ln/>
        </p:spPr>
        <p:txBody>
          <a:bodyPr wrap="square" lIns="0" tIns="0" rIns="0" bIns="0" rtlCol="0" anchor="ctr"/>
          <a:lstStyle/>
          <a:p>
            <a:pPr indent="0" marL="0">
              <a:lnSpc>
                <a:spcPts val="1150"/>
              </a:lnSpc>
              <a:buNone/>
            </a:pPr>
            <a:r>
              <a:rPr lang="en-US" sz="950" dirty="0">
                <a:solidFill>
                  <a:srgbClr val="3C4A50"/>
                </a:solidFill>
              </a:rPr>
              <a:t>Scored against their own pre-commitment</a:t>
            </a:r>
            <a:endParaRPr lang="en-US" sz="950" dirty="0"/>
          </a:p>
        </p:txBody>
      </p:sp>
      <p:sp>
        <p:nvSpPr>
          <p:cNvPr id="44" name="Text 42"/>
          <p:cNvSpPr txBox="1"/>
          <p:nvPr/>
        </p:nvSpPr>
        <p:spPr>
          <a:xfrm>
            <a:off x="566928" y="5285232"/>
            <a:ext cx="11027664" cy="457200"/>
          </a:xfrm>
          <a:prstGeom prst="rect">
            <a:avLst/>
          </a:prstGeom>
          <a:noFill/>
          <a:ln/>
        </p:spPr>
        <p:txBody>
          <a:bodyPr wrap="square" lIns="0" tIns="0" rIns="0" bIns="0" rtlCol="0" anchor="ctr"/>
          <a:lstStyle/>
          <a:p>
            <a:pPr indent="0" marL="0">
              <a:lnSpc>
                <a:spcPts val="1600"/>
              </a:lnSpc>
              <a:buNone/>
            </a:pPr>
            <a:r>
              <a:rPr lang="en-US" sz="1200" i="1" dirty="0">
                <a:solidFill>
                  <a:srgbClr val="5B6B78"/>
                </a:solidFill>
              </a:rPr>
              <a:t>Total student time ≈ 4 hours across the sequence. Fourteen traps are planted in the pack; each is scored independently, so catching three of four earns three-quarters of the marks.</a:t>
            </a:r>
            <a:endParaRPr lang="en-US" sz="120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Case A — the arithmetic hiding inside a guidance raise</a:t>
            </a:r>
            <a:endParaRPr lang="en-US" sz="2700" dirty="0"/>
          </a:p>
        </p:txBody>
      </p:sp>
      <p:sp>
        <p:nvSpPr>
          <p:cNvPr id="3" name="Text 1"/>
          <p:cNvSpPr txBox="1"/>
          <p:nvPr/>
        </p:nvSpPr>
        <p:spPr>
          <a:xfrm>
            <a:off x="566928" y="1097280"/>
            <a:ext cx="11027664" cy="365760"/>
          </a:xfrm>
          <a:prstGeom prst="rect">
            <a:avLst/>
          </a:prstGeom>
          <a:noFill/>
          <a:ln/>
        </p:spPr>
        <p:txBody>
          <a:bodyPr wrap="square" lIns="0" tIns="0" rIns="0" bIns="0" rtlCol="0" anchor="t"/>
          <a:lstStyle/>
          <a:p>
            <a:pPr indent="0" marL="0">
              <a:lnSpc>
                <a:spcPts val="1900"/>
              </a:lnSpc>
              <a:buNone/>
            </a:pPr>
            <a:r>
              <a:rPr lang="en-US" sz="1350" b="1" dirty="0">
                <a:solidFill>
                  <a:srgbClr val="0E1A22"/>
                </a:solidFill>
              </a:rPr>
              <a:t>The print: </a:t>
            </a:r>
            <a:pPr indent="0" marL="0">
              <a:lnSpc>
                <a:spcPts val="1900"/>
              </a:lnSpc>
              <a:buNone/>
            </a:pPr>
            <a:r>
              <a:rPr lang="en-US" sz="1350" dirty="0">
                <a:solidFill>
                  <a:srgbClr val="0E1A22"/>
                </a:solidFill>
              </a:rPr>
              <a:t>Q2 revenue beats by $30m. FY guidance is raised by $20m. Management's call language is confident. Every headline reads “beat and raise.”</a:t>
            </a:r>
            <a:endParaRPr lang="en-US" sz="1350" dirty="0"/>
          </a:p>
        </p:txBody>
      </p:sp>
      <p:sp>
        <p:nvSpPr>
          <p:cNvPr id="4" name="card"/>
          <p:cNvSpPr/>
          <p:nvPr/>
        </p:nvSpPr>
        <p:spPr>
          <a:xfrm>
            <a:off x="566928" y="1691640"/>
            <a:ext cx="2487168" cy="1024128"/>
          </a:xfrm>
          <a:prstGeom prst="roundRect">
            <a:avLst>
              <a:gd name="adj" fmla="val 5357"/>
            </a:avLst>
          </a:prstGeom>
          <a:solidFill>
            <a:srgbClr val="F5F8F7"/>
          </a:solidFill>
          <a:ln w="9525">
            <a:solidFill>
              <a:srgbClr val="DCE5E2"/>
            </a:solidFill>
            <a:prstDash val="solid"/>
          </a:ln>
        </p:spPr>
      </p:sp>
      <p:sp>
        <p:nvSpPr>
          <p:cNvPr id="5" name="Text 3"/>
          <p:cNvSpPr txBox="1"/>
          <p:nvPr/>
        </p:nvSpPr>
        <p:spPr>
          <a:xfrm>
            <a:off x="749808" y="1810512"/>
            <a:ext cx="2103120" cy="457200"/>
          </a:xfrm>
          <a:prstGeom prst="rect">
            <a:avLst/>
          </a:prstGeom>
          <a:noFill/>
          <a:ln/>
        </p:spPr>
        <p:txBody>
          <a:bodyPr wrap="square" lIns="0" tIns="0" rIns="0" bIns="0" rtlCol="0" anchor="ctr"/>
          <a:lstStyle/>
          <a:p>
            <a:pPr indent="0" marL="0">
              <a:buNone/>
            </a:pPr>
            <a:r>
              <a:rPr lang="en-US" sz="2400" b="1" dirty="0">
                <a:solidFill>
                  <a:srgbClr val="5B6B78"/>
                </a:solidFill>
                <a:latin typeface="Cambria" pitchFamily="34" charset="0"/>
                <a:ea typeface="Cambria" pitchFamily="34" charset="-122"/>
                <a:cs typeface="Cambria" pitchFamily="34" charset="-120"/>
              </a:rPr>
              <a:t>$30m</a:t>
            </a:r>
            <a:endParaRPr lang="en-US" sz="2400" dirty="0"/>
          </a:p>
        </p:txBody>
      </p:sp>
      <p:sp>
        <p:nvSpPr>
          <p:cNvPr id="6" name="Text 4"/>
          <p:cNvSpPr txBox="1"/>
          <p:nvPr/>
        </p:nvSpPr>
        <p:spPr>
          <a:xfrm>
            <a:off x="749808" y="2286000"/>
            <a:ext cx="2103120" cy="274320"/>
          </a:xfrm>
          <a:prstGeom prst="rect">
            <a:avLst/>
          </a:prstGeom>
          <a:noFill/>
          <a:ln/>
        </p:spPr>
        <p:txBody>
          <a:bodyPr wrap="square" lIns="0" tIns="0" rIns="0" bIns="0" rtlCol="0" anchor="ctr"/>
          <a:lstStyle/>
          <a:p>
            <a:pPr indent="0" marL="0">
              <a:buNone/>
            </a:pPr>
            <a:r>
              <a:rPr lang="en-US" sz="1050" dirty="0">
                <a:solidFill>
                  <a:srgbClr val="5B6B78"/>
                </a:solidFill>
              </a:rPr>
              <a:t>Q2 revenue beat</a:t>
            </a:r>
            <a:endParaRPr lang="en-US" sz="1050" dirty="0"/>
          </a:p>
        </p:txBody>
      </p:sp>
      <p:sp>
        <p:nvSpPr>
          <p:cNvPr id="7" name="Text 5"/>
          <p:cNvSpPr txBox="1"/>
          <p:nvPr/>
        </p:nvSpPr>
        <p:spPr>
          <a:xfrm>
            <a:off x="3072384" y="2011680"/>
            <a:ext cx="237744" cy="365760"/>
          </a:xfrm>
          <a:prstGeom prst="rect">
            <a:avLst/>
          </a:prstGeom>
          <a:noFill/>
          <a:ln/>
        </p:spPr>
        <p:txBody>
          <a:bodyPr wrap="square" lIns="0" tIns="0" rIns="0" bIns="0" rtlCol="0" anchor="ctr"/>
          <a:lstStyle/>
          <a:p>
            <a:pPr algn="ctr" indent="0" marL="0">
              <a:buNone/>
            </a:pPr>
            <a:r>
              <a:rPr lang="en-US" sz="1800" b="1" dirty="0">
                <a:solidFill>
                  <a:srgbClr val="5B6B78"/>
                </a:solidFill>
              </a:rPr>
              <a:t>−</a:t>
            </a:r>
            <a:endParaRPr lang="en-US" sz="1800" dirty="0"/>
          </a:p>
        </p:txBody>
      </p:sp>
      <p:sp>
        <p:nvSpPr>
          <p:cNvPr id="8" name="card"/>
          <p:cNvSpPr/>
          <p:nvPr/>
        </p:nvSpPr>
        <p:spPr>
          <a:xfrm>
            <a:off x="3310128" y="1691640"/>
            <a:ext cx="2487168" cy="1024128"/>
          </a:xfrm>
          <a:prstGeom prst="roundRect">
            <a:avLst>
              <a:gd name="adj" fmla="val 5357"/>
            </a:avLst>
          </a:prstGeom>
          <a:solidFill>
            <a:srgbClr val="F5F8F7"/>
          </a:solidFill>
          <a:ln w="9525">
            <a:solidFill>
              <a:srgbClr val="DCE5E2"/>
            </a:solidFill>
            <a:prstDash val="solid"/>
          </a:ln>
        </p:spPr>
      </p:sp>
      <p:sp>
        <p:nvSpPr>
          <p:cNvPr id="9" name="Text 7"/>
          <p:cNvSpPr txBox="1"/>
          <p:nvPr/>
        </p:nvSpPr>
        <p:spPr>
          <a:xfrm>
            <a:off x="3493008" y="1810512"/>
            <a:ext cx="2103120" cy="457200"/>
          </a:xfrm>
          <a:prstGeom prst="rect">
            <a:avLst/>
          </a:prstGeom>
          <a:noFill/>
          <a:ln/>
        </p:spPr>
        <p:txBody>
          <a:bodyPr wrap="square" lIns="0" tIns="0" rIns="0" bIns="0" rtlCol="0" anchor="ctr"/>
          <a:lstStyle/>
          <a:p>
            <a:pPr indent="0" marL="0">
              <a:buNone/>
            </a:pPr>
            <a:r>
              <a:rPr lang="en-US" sz="2400" b="1" dirty="0">
                <a:solidFill>
                  <a:srgbClr val="5B6B78"/>
                </a:solidFill>
                <a:latin typeface="Cambria" pitchFamily="34" charset="0"/>
                <a:ea typeface="Cambria" pitchFamily="34" charset="-122"/>
                <a:cs typeface="Cambria" pitchFamily="34" charset="-120"/>
              </a:rPr>
              <a:t>$20m</a:t>
            </a:r>
            <a:endParaRPr lang="en-US" sz="2400" dirty="0"/>
          </a:p>
        </p:txBody>
      </p:sp>
      <p:sp>
        <p:nvSpPr>
          <p:cNvPr id="10" name="Text 8"/>
          <p:cNvSpPr txBox="1"/>
          <p:nvPr/>
        </p:nvSpPr>
        <p:spPr>
          <a:xfrm>
            <a:off x="3493008" y="2286000"/>
            <a:ext cx="2103120" cy="274320"/>
          </a:xfrm>
          <a:prstGeom prst="rect">
            <a:avLst/>
          </a:prstGeom>
          <a:noFill/>
          <a:ln/>
        </p:spPr>
        <p:txBody>
          <a:bodyPr wrap="square" lIns="0" tIns="0" rIns="0" bIns="0" rtlCol="0" anchor="ctr"/>
          <a:lstStyle/>
          <a:p>
            <a:pPr indent="0" marL="0">
              <a:buNone/>
            </a:pPr>
            <a:r>
              <a:rPr lang="en-US" sz="1050" dirty="0">
                <a:solidFill>
                  <a:srgbClr val="5B6B78"/>
                </a:solidFill>
              </a:rPr>
              <a:t>FY guidance raise</a:t>
            </a:r>
            <a:endParaRPr lang="en-US" sz="1050" dirty="0"/>
          </a:p>
        </p:txBody>
      </p:sp>
      <p:sp>
        <p:nvSpPr>
          <p:cNvPr id="11" name="Text 9"/>
          <p:cNvSpPr txBox="1"/>
          <p:nvPr/>
        </p:nvSpPr>
        <p:spPr>
          <a:xfrm>
            <a:off x="5815584" y="2011680"/>
            <a:ext cx="237744" cy="365760"/>
          </a:xfrm>
          <a:prstGeom prst="rect">
            <a:avLst/>
          </a:prstGeom>
          <a:noFill/>
          <a:ln/>
        </p:spPr>
        <p:txBody>
          <a:bodyPr wrap="square" lIns="0" tIns="0" rIns="0" bIns="0" rtlCol="0" anchor="ctr"/>
          <a:lstStyle/>
          <a:p>
            <a:pPr algn="ctr" indent="0" marL="0">
              <a:buNone/>
            </a:pPr>
            <a:r>
              <a:rPr lang="en-US" sz="1800" b="1" dirty="0">
                <a:solidFill>
                  <a:srgbClr val="5B6B78"/>
                </a:solidFill>
              </a:rPr>
              <a:t>=</a:t>
            </a:r>
            <a:endParaRPr lang="en-US" sz="1800" dirty="0"/>
          </a:p>
        </p:txBody>
      </p:sp>
      <p:sp>
        <p:nvSpPr>
          <p:cNvPr id="12" name="card"/>
          <p:cNvSpPr/>
          <p:nvPr/>
        </p:nvSpPr>
        <p:spPr>
          <a:xfrm>
            <a:off x="6053328" y="1691640"/>
            <a:ext cx="2487168" cy="1024128"/>
          </a:xfrm>
          <a:prstGeom prst="roundRect">
            <a:avLst>
              <a:gd name="adj" fmla="val 5357"/>
            </a:avLst>
          </a:prstGeom>
          <a:solidFill>
            <a:srgbClr val="FAF2F2"/>
          </a:solidFill>
          <a:ln w="9525">
            <a:solidFill>
              <a:srgbClr val="E8D4D4"/>
            </a:solidFill>
            <a:prstDash val="solid"/>
          </a:ln>
        </p:spPr>
      </p:sp>
      <p:sp>
        <p:nvSpPr>
          <p:cNvPr id="13" name="Text 11"/>
          <p:cNvSpPr txBox="1"/>
          <p:nvPr/>
        </p:nvSpPr>
        <p:spPr>
          <a:xfrm>
            <a:off x="6236208" y="1810512"/>
            <a:ext cx="2103120" cy="457200"/>
          </a:xfrm>
          <a:prstGeom prst="rect">
            <a:avLst/>
          </a:prstGeom>
          <a:noFill/>
          <a:ln/>
        </p:spPr>
        <p:txBody>
          <a:bodyPr wrap="square" lIns="0" tIns="0" rIns="0" bIns="0" rtlCol="0" anchor="ctr"/>
          <a:lstStyle/>
          <a:p>
            <a:pPr indent="0" marL="0">
              <a:buNone/>
            </a:pPr>
            <a:r>
              <a:rPr lang="en-US" sz="2400" b="1" dirty="0">
                <a:solidFill>
                  <a:srgbClr val="9C3A3A"/>
                </a:solidFill>
                <a:latin typeface="Cambria" pitchFamily="34" charset="0"/>
                <a:ea typeface="Cambria" pitchFamily="34" charset="-122"/>
                <a:cs typeface="Cambria" pitchFamily="34" charset="-120"/>
              </a:rPr>
              <a:t>−$10m</a:t>
            </a:r>
            <a:endParaRPr lang="en-US" sz="2400" dirty="0"/>
          </a:p>
        </p:txBody>
      </p:sp>
      <p:sp>
        <p:nvSpPr>
          <p:cNvPr id="14" name="Text 12"/>
          <p:cNvSpPr txBox="1"/>
          <p:nvPr/>
        </p:nvSpPr>
        <p:spPr>
          <a:xfrm>
            <a:off x="6236208" y="2286000"/>
            <a:ext cx="2103120" cy="274320"/>
          </a:xfrm>
          <a:prstGeom prst="rect">
            <a:avLst/>
          </a:prstGeom>
          <a:noFill/>
          <a:ln/>
        </p:spPr>
        <p:txBody>
          <a:bodyPr wrap="square" lIns="0" tIns="0" rIns="0" bIns="0" rtlCol="0" anchor="ctr"/>
          <a:lstStyle/>
          <a:p>
            <a:pPr indent="0" marL="0">
              <a:buNone/>
            </a:pPr>
            <a:r>
              <a:rPr lang="en-US" sz="1050" dirty="0">
                <a:solidFill>
                  <a:srgbClr val="5B6B78"/>
                </a:solidFill>
              </a:rPr>
              <a:t>implied 2H revenue</a:t>
            </a:r>
            <a:endParaRPr lang="en-US" sz="1050" dirty="0"/>
          </a:p>
        </p:txBody>
      </p:sp>
      <p:sp>
        <p:nvSpPr>
          <p:cNvPr id="15" name="card"/>
          <p:cNvSpPr/>
          <p:nvPr/>
        </p:nvSpPr>
        <p:spPr>
          <a:xfrm>
            <a:off x="8851392" y="1691640"/>
            <a:ext cx="2743200" cy="1024128"/>
          </a:xfrm>
          <a:prstGeom prst="roundRect">
            <a:avLst>
              <a:gd name="adj" fmla="val 5357"/>
            </a:avLst>
          </a:prstGeom>
          <a:solidFill>
            <a:srgbClr val="1A5F59"/>
          </a:solidFill>
          <a:ln w="9525">
            <a:solidFill>
              <a:srgbClr val="1A5F59"/>
            </a:solidFill>
            <a:prstDash val="solid"/>
          </a:ln>
        </p:spPr>
      </p:sp>
      <p:sp>
        <p:nvSpPr>
          <p:cNvPr id="16" name="Text 14"/>
          <p:cNvSpPr txBox="1"/>
          <p:nvPr/>
        </p:nvSpPr>
        <p:spPr>
          <a:xfrm>
            <a:off x="9034272" y="1810512"/>
            <a:ext cx="237744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14.17 pts</a:t>
            </a:r>
            <a:endParaRPr lang="en-US" sz="2400" dirty="0"/>
          </a:p>
        </p:txBody>
      </p:sp>
      <p:sp>
        <p:nvSpPr>
          <p:cNvPr id="17" name="Text 15"/>
          <p:cNvSpPr txBox="1"/>
          <p:nvPr/>
        </p:nvSpPr>
        <p:spPr>
          <a:xfrm>
            <a:off x="9034272" y="2286000"/>
            <a:ext cx="2377440" cy="274320"/>
          </a:xfrm>
          <a:prstGeom prst="rect">
            <a:avLst/>
          </a:prstGeom>
          <a:noFill/>
          <a:ln/>
        </p:spPr>
        <p:txBody>
          <a:bodyPr wrap="square" lIns="0" tIns="0" rIns="0" bIns="0" rtlCol="0" anchor="ctr"/>
          <a:lstStyle/>
          <a:p>
            <a:pPr indent="0" marL="0">
              <a:buNone/>
            </a:pPr>
            <a:r>
              <a:rPr lang="en-US" sz="1050" dirty="0">
                <a:solidFill>
                  <a:srgbClr val="BFD9D5"/>
                </a:solidFill>
              </a:rPr>
              <a:t>of deceleration, inside a raise</a:t>
            </a:r>
            <a:endParaRPr lang="en-US" sz="1050" dirty="0"/>
          </a:p>
        </p:txBody>
      </p:sp>
      <p:sp>
        <p:nvSpPr>
          <p:cNvPr id="18" name="Text 16"/>
          <p:cNvSpPr txBox="1"/>
          <p:nvPr/>
        </p:nvSpPr>
        <p:spPr>
          <a:xfrm>
            <a:off x="566928" y="2880360"/>
            <a:ext cx="5486400" cy="237744"/>
          </a:xfrm>
          <a:prstGeom prst="rect">
            <a:avLst/>
          </a:prstGeom>
          <a:noFill/>
          <a:ln/>
        </p:spPr>
        <p:txBody>
          <a:bodyPr wrap="square" lIns="0" tIns="0" rIns="0" bIns="0" rtlCol="0" anchor="ctr"/>
          <a:lstStyle/>
          <a:p>
            <a:pPr indent="0" marL="0">
              <a:buNone/>
            </a:pPr>
            <a:r>
              <a:rPr lang="en-US" sz="1000" b="1" spc="120" kern="0" dirty="0">
                <a:solidFill>
                  <a:srgbClr val="5B6B78"/>
                </a:solidFill>
              </a:rPr>
              <a:t>THE CHAIN, STEP BY STEP</a:t>
            </a:r>
            <a:endParaRPr lang="en-US" sz="1000" dirty="0"/>
          </a:p>
        </p:txBody>
      </p:sp>
      <p:sp>
        <p:nvSpPr>
          <p:cNvPr id="19" name="Text 17"/>
          <p:cNvSpPr txBox="1"/>
          <p:nvPr/>
        </p:nvSpPr>
        <p:spPr>
          <a:xfrm>
            <a:off x="566928" y="3200400"/>
            <a:ext cx="6858000" cy="1737360"/>
          </a:xfrm>
          <a:prstGeom prst="rect">
            <a:avLst/>
          </a:prstGeom>
          <a:noFill/>
          <a:ln/>
        </p:spPr>
        <p:txBody>
          <a:bodyPr wrap="square" lIns="0" tIns="0" rIns="0" bIns="0" rtlCol="0" anchor="ctr"/>
          <a:lstStyle/>
          <a:p>
            <a:pPr marL="342900" indent="-342900">
              <a:lnSpc>
                <a:spcPts val="1700"/>
              </a:lnSpc>
              <a:spcAft>
                <a:spcPts val="900"/>
              </a:spcAft>
              <a:buSzPct val="100000"/>
              <a:buChar char="•"/>
            </a:pPr>
            <a:r>
              <a:rPr lang="en-US" sz="1250" dirty="0">
                <a:solidFill>
                  <a:srgbClr val="0E1A22"/>
                </a:solidFill>
              </a:rPr>
              <a:t>Implied 2H revenue falls from $2,030m to $2,020m — the raise is $10m smaller than the beat</a:t>
            </a:r>
            <a:endParaRPr lang="en-US" sz="1250" dirty="0"/>
          </a:p>
          <a:p>
            <a:pPr marL="342900" indent="-342900">
              <a:lnSpc>
                <a:spcPts val="1700"/>
              </a:lnSpc>
              <a:spcAft>
                <a:spcPts val="900"/>
              </a:spcAft>
              <a:buSzPct val="100000"/>
              <a:buChar char="•"/>
            </a:pPr>
            <a:r>
              <a:rPr lang="en-US" sz="1250" dirty="0">
                <a:solidFill>
                  <a:srgbClr val="0E1A22"/>
                </a:solidFill>
              </a:rPr>
              <a:t>1H growth was +12.71%; implied 2H growth is −1.46%</a:t>
            </a:r>
            <a:endParaRPr lang="en-US" sz="1250" dirty="0"/>
          </a:p>
          <a:p>
            <a:pPr marL="342900" indent="-342900">
              <a:lnSpc>
                <a:spcPts val="1700"/>
              </a:lnSpc>
              <a:spcAft>
                <a:spcPts val="900"/>
              </a:spcAft>
              <a:buSzPct val="100000"/>
              <a:buChar char="•"/>
            </a:pPr>
            <a:r>
              <a:rPr lang="en-US" sz="1250" dirty="0">
                <a:solidFill>
                  <a:srgbClr val="0E1A22"/>
                </a:solidFill>
              </a:rPr>
              <a:t>That gap decomposes: 2.70 pts is a harder comp, 11.47 pts is a genuine implied slowdown  (2.70 + 11.47 = 14.17 ✓)</a:t>
            </a:r>
            <a:endParaRPr lang="en-US" sz="1250" dirty="0"/>
          </a:p>
          <a:p>
            <a:pPr marL="342900" indent="-342900">
              <a:lnSpc>
                <a:spcPts val="1700"/>
              </a:lnSpc>
              <a:spcAft>
                <a:spcPts val="900"/>
              </a:spcAft>
              <a:buSzPct val="100000"/>
              <a:buChar char="•"/>
            </a:pPr>
            <a:r>
              <a:rPr lang="en-US" sz="1250" dirty="0">
                <a:solidFill>
                  <a:srgbClr val="0E1A22"/>
                </a:solidFill>
              </a:rPr>
              <a:t>Implied Q4 is −2.86% y/y, while FY+1 consensus requires +6.16%</a:t>
            </a:r>
            <a:endParaRPr lang="en-US" sz="1250" dirty="0"/>
          </a:p>
        </p:txBody>
      </p:sp>
      <p:sp>
        <p:nvSpPr>
          <p:cNvPr id="20" name="card"/>
          <p:cNvSpPr/>
          <p:nvPr/>
        </p:nvSpPr>
        <p:spPr>
          <a:xfrm>
            <a:off x="7680960" y="3127248"/>
            <a:ext cx="3913632" cy="1828800"/>
          </a:xfrm>
          <a:prstGeom prst="roundRect">
            <a:avLst>
              <a:gd name="adj" fmla="val 3000"/>
            </a:avLst>
          </a:prstGeom>
          <a:solidFill>
            <a:srgbClr val="FDF8EF"/>
          </a:solidFill>
          <a:ln w="9525">
            <a:solidFill>
              <a:srgbClr val="EADCC2"/>
            </a:solidFill>
            <a:prstDash val="solid"/>
          </a:ln>
        </p:spPr>
      </p:sp>
      <p:sp>
        <p:nvSpPr>
          <p:cNvPr id="21" name="Text 19"/>
          <p:cNvSpPr txBox="1"/>
          <p:nvPr/>
        </p:nvSpPr>
        <p:spPr>
          <a:xfrm>
            <a:off x="7936992" y="3310128"/>
            <a:ext cx="3474720" cy="274320"/>
          </a:xfrm>
          <a:prstGeom prst="rect">
            <a:avLst/>
          </a:prstGeom>
          <a:noFill/>
          <a:ln/>
        </p:spPr>
        <p:txBody>
          <a:bodyPr wrap="square" lIns="0" tIns="0" rIns="0" bIns="0" rtlCol="0" anchor="ctr"/>
          <a:lstStyle/>
          <a:p>
            <a:pPr indent="0" marL="0">
              <a:buNone/>
            </a:pPr>
            <a:r>
              <a:rPr lang="en-US" sz="1300" b="1" dirty="0">
                <a:solidFill>
                  <a:srgbClr val="B07A2E"/>
                </a:solidFill>
              </a:rPr>
              <a:t>The kill shot</a:t>
            </a:r>
            <a:endParaRPr lang="en-US" sz="1300" dirty="0"/>
          </a:p>
        </p:txBody>
      </p:sp>
      <p:sp>
        <p:nvSpPr>
          <p:cNvPr id="22" name="Text 20"/>
          <p:cNvSpPr txBox="1"/>
          <p:nvPr/>
        </p:nvSpPr>
        <p:spPr>
          <a:xfrm>
            <a:off x="7936992" y="3621024"/>
            <a:ext cx="3429000" cy="1188720"/>
          </a:xfrm>
          <a:prstGeom prst="rect">
            <a:avLst/>
          </a:prstGeom>
          <a:noFill/>
          <a:ln/>
        </p:spPr>
        <p:txBody>
          <a:bodyPr wrap="square" lIns="0" tIns="0" rIns="0" bIns="0" rtlCol="0" anchor="t"/>
          <a:lstStyle/>
          <a:p>
            <a:pPr indent="0" marL="0">
              <a:lnSpc>
                <a:spcPts val="1600"/>
              </a:lnSpc>
              <a:buNone/>
            </a:pPr>
            <a:r>
              <a:rPr lang="en-US" sz="1200" dirty="0">
                <a:solidFill>
                  <a:srgbClr val="6B5424"/>
                </a:solidFill>
              </a:rPr>
              <a:t>A 9-point reacceleration that nobody has underwritten — derived from arithmetic alone, with no view of the business required.</a:t>
            </a:r>
            <a:endParaRPr lang="en-US" sz="1200" dirty="0"/>
          </a:p>
        </p:txBody>
      </p:sp>
      <p:sp>
        <p:nvSpPr>
          <p:cNvPr id="23" name="Text 21"/>
          <p:cNvSpPr txBox="1"/>
          <p:nvPr/>
        </p:nvSpPr>
        <p:spPr>
          <a:xfrm>
            <a:off x="566928" y="5193792"/>
            <a:ext cx="11027664" cy="365760"/>
          </a:xfrm>
          <a:prstGeom prst="rect">
            <a:avLst/>
          </a:prstGeom>
          <a:noFill/>
          <a:ln/>
        </p:spPr>
        <p:txBody>
          <a:bodyPr wrap="square" lIns="0" tIns="0" rIns="0" bIns="0" rtlCol="0" anchor="ctr"/>
          <a:lstStyle/>
          <a:p>
            <a:pPr indent="0" marL="0">
              <a:buNone/>
            </a:pPr>
            <a:r>
              <a:rPr lang="en-US" sz="1350" b="1" i="1" dirty="0">
                <a:solidFill>
                  <a:srgbClr val="0E1A22"/>
                </a:solidFill>
              </a:rPr>
              <a:t>This is the whole case: the headline says beat-and-raise, and the arithmetic says the second half just got worse.</a:t>
            </a:r>
            <a:endParaRPr lang="en-US" sz="135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Case A — how the response is graded</a:t>
            </a:r>
            <a:endParaRPr lang="en-US" sz="2700" dirty="0"/>
          </a:p>
        </p:txBody>
      </p:sp>
      <p:sp>
        <p:nvSpPr>
          <p:cNvPr id="3" name="card"/>
          <p:cNvSpPr/>
          <p:nvPr/>
        </p:nvSpPr>
        <p:spPr>
          <a:xfrm>
            <a:off x="566928" y="1143000"/>
            <a:ext cx="3493008" cy="3429000"/>
          </a:xfrm>
          <a:prstGeom prst="roundRect">
            <a:avLst>
              <a:gd name="adj" fmla="val 1600"/>
            </a:avLst>
          </a:prstGeom>
          <a:solidFill>
            <a:srgbClr val="F5F8F7"/>
          </a:solidFill>
          <a:ln w="9525">
            <a:solidFill>
              <a:srgbClr val="DCE5E2"/>
            </a:solidFill>
            <a:prstDash val="solid"/>
          </a:ln>
        </p:spPr>
      </p:sp>
      <p:sp>
        <p:nvSpPr>
          <p:cNvPr id="4" name="Text 2"/>
          <p:cNvSpPr txBox="1"/>
          <p:nvPr/>
        </p:nvSpPr>
        <p:spPr>
          <a:xfrm>
            <a:off x="822960" y="1371600"/>
            <a:ext cx="2286000" cy="310896"/>
          </a:xfrm>
          <a:prstGeom prst="rect">
            <a:avLst/>
          </a:prstGeom>
          <a:noFill/>
          <a:ln/>
        </p:spPr>
        <p:txBody>
          <a:bodyPr wrap="square" lIns="0" tIns="0" rIns="0" bIns="0" rtlCol="0" anchor="ctr"/>
          <a:lstStyle/>
          <a:p>
            <a:pPr indent="0" marL="0">
              <a:buNone/>
            </a:pPr>
            <a:r>
              <a:rPr lang="en-US" sz="1500" b="1" dirty="0">
                <a:solidFill>
                  <a:srgbClr val="1A5F59"/>
                </a:solidFill>
                <a:latin typeface="Cambria" pitchFamily="34" charset="0"/>
                <a:ea typeface="Cambria" pitchFamily="34" charset="-122"/>
                <a:cs typeface="Cambria" pitchFamily="34" charset="-120"/>
              </a:rPr>
              <a:t>Deterministic</a:t>
            </a:r>
            <a:endParaRPr lang="en-US" sz="1500" dirty="0"/>
          </a:p>
        </p:txBody>
      </p:sp>
      <p:sp>
        <p:nvSpPr>
          <p:cNvPr id="5" name="Text 3"/>
          <p:cNvSpPr txBox="1"/>
          <p:nvPr/>
        </p:nvSpPr>
        <p:spPr>
          <a:xfrm>
            <a:off x="2944368" y="1371600"/>
            <a:ext cx="914400" cy="310896"/>
          </a:xfrm>
          <a:prstGeom prst="rect">
            <a:avLst/>
          </a:prstGeom>
          <a:noFill/>
          <a:ln/>
        </p:spPr>
        <p:txBody>
          <a:bodyPr wrap="square" lIns="0" tIns="0" rIns="0" bIns="0" rtlCol="0" anchor="ctr"/>
          <a:lstStyle/>
          <a:p>
            <a:pPr algn="r" indent="0" marL="0">
              <a:buNone/>
            </a:pPr>
            <a:r>
              <a:rPr lang="en-US" sz="1400" b="1" dirty="0">
                <a:solidFill>
                  <a:srgbClr val="1A5F59"/>
                </a:solidFill>
              </a:rPr>
              <a:t>55 pts</a:t>
            </a:r>
            <a:endParaRPr lang="en-US" sz="1400" dirty="0"/>
          </a:p>
        </p:txBody>
      </p:sp>
      <p:sp>
        <p:nvSpPr>
          <p:cNvPr id="6" name="Text 4"/>
          <p:cNvSpPr txBox="1"/>
          <p:nvPr/>
        </p:nvSpPr>
        <p:spPr>
          <a:xfrm>
            <a:off x="822960" y="1810512"/>
            <a:ext cx="3017520" cy="260604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100" dirty="0">
                <a:solidFill>
                  <a:srgbClr val="3C4A50"/>
                </a:solidFill>
              </a:rPr>
              <a:t>Model update checked against the golden model by check cells</a:t>
            </a:r>
            <a:endParaRPr lang="en-US" sz="1100" dirty="0"/>
          </a:p>
          <a:p>
            <a:pPr marL="342900" indent="-342900">
              <a:lnSpc>
                <a:spcPts val="1400"/>
              </a:lnSpc>
              <a:spcAft>
                <a:spcPts val="800"/>
              </a:spcAft>
              <a:buSzPct val="100000"/>
              <a:buChar char="•"/>
            </a:pPr>
            <a:r>
              <a:rPr lang="en-US" sz="1100" dirty="0">
                <a:solidFill>
                  <a:srgbClr val="3C4A50"/>
                </a:solidFill>
              </a:rPr>
              <a:t>Perturbation test: change an input, confirm outputs move correctly</a:t>
            </a:r>
            <a:endParaRPr lang="en-US" sz="1100" dirty="0"/>
          </a:p>
          <a:p>
            <a:pPr marL="342900" indent="-342900">
              <a:lnSpc>
                <a:spcPts val="1400"/>
              </a:lnSpc>
              <a:spcAft>
                <a:spcPts val="800"/>
              </a:spcAft>
              <a:buSzPct val="100000"/>
              <a:buChar char="•"/>
            </a:pPr>
            <a:r>
              <a:rPr lang="en-US" sz="1100" dirty="0">
                <a:solidFill>
                  <a:srgbClr val="3C4A50"/>
                </a:solidFill>
              </a:rPr>
              <a:t>The bridge, implied 2H, both 2-year stack conventions, the exit rate</a:t>
            </a:r>
            <a:endParaRPr lang="en-US" sz="1100" dirty="0"/>
          </a:p>
          <a:p>
            <a:pPr marL="342900" indent="-342900">
              <a:lnSpc>
                <a:spcPts val="1400"/>
              </a:lnSpc>
              <a:spcAft>
                <a:spcPts val="800"/>
              </a:spcAft>
              <a:buSzPct val="100000"/>
              <a:buChar char="•"/>
            </a:pPr>
            <a:r>
              <a:rPr lang="en-US" sz="1100" dirty="0">
                <a:solidFill>
                  <a:srgbClr val="3C4A50"/>
                </a:solidFill>
              </a:rPr>
              <a:t>Fourteen planted traps, each scored independently</a:t>
            </a:r>
            <a:endParaRPr lang="en-US" sz="1100" dirty="0"/>
          </a:p>
        </p:txBody>
      </p:sp>
      <p:sp>
        <p:nvSpPr>
          <p:cNvPr id="7" name="card"/>
          <p:cNvSpPr/>
          <p:nvPr/>
        </p:nvSpPr>
        <p:spPr>
          <a:xfrm>
            <a:off x="4288536" y="1143000"/>
            <a:ext cx="3493008" cy="3429000"/>
          </a:xfrm>
          <a:prstGeom prst="roundRect">
            <a:avLst>
              <a:gd name="adj" fmla="val 1600"/>
            </a:avLst>
          </a:prstGeom>
          <a:solidFill>
            <a:srgbClr val="F5F8F7"/>
          </a:solidFill>
          <a:ln w="9525">
            <a:solidFill>
              <a:srgbClr val="DCE5E2"/>
            </a:solidFill>
            <a:prstDash val="solid"/>
          </a:ln>
        </p:spPr>
      </p:sp>
      <p:sp>
        <p:nvSpPr>
          <p:cNvPr id="8" name="Text 6"/>
          <p:cNvSpPr txBox="1"/>
          <p:nvPr/>
        </p:nvSpPr>
        <p:spPr>
          <a:xfrm>
            <a:off x="4544568" y="1371600"/>
            <a:ext cx="2286000" cy="310896"/>
          </a:xfrm>
          <a:prstGeom prst="rect">
            <a:avLst/>
          </a:prstGeom>
          <a:noFill/>
          <a:ln/>
        </p:spPr>
        <p:txBody>
          <a:bodyPr wrap="square" lIns="0" tIns="0" rIns="0" bIns="0" rtlCol="0" anchor="ctr"/>
          <a:lstStyle/>
          <a:p>
            <a:pPr indent="0" marL="0">
              <a:buNone/>
            </a:pPr>
            <a:r>
              <a:rPr lang="en-US" sz="1500" b="1" dirty="0">
                <a:solidFill>
                  <a:srgbClr val="5E9A91"/>
                </a:solidFill>
                <a:latin typeface="Cambria" pitchFamily="34" charset="0"/>
                <a:ea typeface="Cambria" pitchFamily="34" charset="-122"/>
                <a:cs typeface="Cambria" pitchFamily="34" charset="-120"/>
              </a:rPr>
              <a:t>Rubric-graded</a:t>
            </a:r>
            <a:endParaRPr lang="en-US" sz="1500" dirty="0"/>
          </a:p>
        </p:txBody>
      </p:sp>
      <p:sp>
        <p:nvSpPr>
          <p:cNvPr id="9" name="Text 7"/>
          <p:cNvSpPr txBox="1"/>
          <p:nvPr/>
        </p:nvSpPr>
        <p:spPr>
          <a:xfrm>
            <a:off x="6665976" y="1371600"/>
            <a:ext cx="914400" cy="310896"/>
          </a:xfrm>
          <a:prstGeom prst="rect">
            <a:avLst/>
          </a:prstGeom>
          <a:noFill/>
          <a:ln/>
        </p:spPr>
        <p:txBody>
          <a:bodyPr wrap="square" lIns="0" tIns="0" rIns="0" bIns="0" rtlCol="0" anchor="ctr"/>
          <a:lstStyle/>
          <a:p>
            <a:pPr algn="r" indent="0" marL="0">
              <a:buNone/>
            </a:pPr>
            <a:r>
              <a:rPr lang="en-US" sz="1400" b="1" dirty="0">
                <a:solidFill>
                  <a:srgbClr val="5E9A91"/>
                </a:solidFill>
              </a:rPr>
              <a:t>45 pts</a:t>
            </a:r>
            <a:endParaRPr lang="en-US" sz="1400" dirty="0"/>
          </a:p>
        </p:txBody>
      </p:sp>
      <p:sp>
        <p:nvSpPr>
          <p:cNvPr id="10" name="Text 8"/>
          <p:cNvSpPr txBox="1"/>
          <p:nvPr/>
        </p:nvSpPr>
        <p:spPr>
          <a:xfrm>
            <a:off x="4544568" y="1810512"/>
            <a:ext cx="3017520" cy="260604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100" dirty="0">
                <a:solidFill>
                  <a:srgbClr val="3C4A50"/>
                </a:solidFill>
              </a:rPr>
              <a:t>Preview-memo quality against anchored 0–5 scales</a:t>
            </a:r>
            <a:endParaRPr lang="en-US" sz="1100" dirty="0"/>
          </a:p>
          <a:p>
            <a:pPr marL="342900" indent="-342900">
              <a:lnSpc>
                <a:spcPts val="1400"/>
              </a:lnSpc>
              <a:spcAft>
                <a:spcPts val="800"/>
              </a:spcAft>
              <a:buSzPct val="100000"/>
              <a:buChar char="•"/>
            </a:pPr>
            <a:r>
              <a:rPr lang="en-US" sz="1100" dirty="0">
                <a:solidFill>
                  <a:srgbClr val="3C4A50"/>
                </a:solidFill>
              </a:rPr>
              <a:t>First-read discipline — did they read guidance first?</a:t>
            </a:r>
            <a:endParaRPr lang="en-US" sz="1100" dirty="0"/>
          </a:p>
          <a:p>
            <a:pPr marL="342900" indent="-342900">
              <a:lnSpc>
                <a:spcPts val="1400"/>
              </a:lnSpc>
              <a:spcAft>
                <a:spcPts val="800"/>
              </a:spcAft>
              <a:buSzPct val="100000"/>
              <a:buChar char="•"/>
            </a:pPr>
            <a:r>
              <a:rPr lang="en-US" sz="1100" dirty="0">
                <a:solidFill>
                  <a:srgbClr val="3C4A50"/>
                </a:solidFill>
              </a:rPr>
              <a:t>Pre-commitment consistency: did the action match the plan, and if not, is the deviation justified by new information rather than by the price?</a:t>
            </a:r>
            <a:endParaRPr lang="en-US" sz="1100" dirty="0"/>
          </a:p>
          <a:p>
            <a:pPr marL="342900" indent="-342900">
              <a:lnSpc>
                <a:spcPts val="1400"/>
              </a:lnSpc>
              <a:spcAft>
                <a:spcPts val="800"/>
              </a:spcAft>
              <a:buSzPct val="100000"/>
              <a:buChar char="•"/>
            </a:pPr>
            <a:r>
              <a:rPr lang="en-US" sz="1100" dirty="0">
                <a:solidFill>
                  <a:srgbClr val="3C4A50"/>
                </a:solidFill>
              </a:rPr>
              <a:t>Post-mortem honesty</a:t>
            </a:r>
            <a:endParaRPr lang="en-US" sz="1100" dirty="0"/>
          </a:p>
        </p:txBody>
      </p:sp>
      <p:sp>
        <p:nvSpPr>
          <p:cNvPr id="11" name="card"/>
          <p:cNvSpPr/>
          <p:nvPr/>
        </p:nvSpPr>
        <p:spPr>
          <a:xfrm>
            <a:off x="8010144" y="1143000"/>
            <a:ext cx="3493008" cy="3429000"/>
          </a:xfrm>
          <a:prstGeom prst="roundRect">
            <a:avLst>
              <a:gd name="adj" fmla="val 1600"/>
            </a:avLst>
          </a:prstGeom>
          <a:solidFill>
            <a:srgbClr val="FAF2F2"/>
          </a:solidFill>
          <a:ln w="9525">
            <a:solidFill>
              <a:srgbClr val="E8D4D4"/>
            </a:solidFill>
            <a:prstDash val="solid"/>
          </a:ln>
        </p:spPr>
      </p:sp>
      <p:sp>
        <p:nvSpPr>
          <p:cNvPr id="12" name="Text 10"/>
          <p:cNvSpPr txBox="1"/>
          <p:nvPr/>
        </p:nvSpPr>
        <p:spPr>
          <a:xfrm>
            <a:off x="8266176" y="1371600"/>
            <a:ext cx="2286000" cy="310896"/>
          </a:xfrm>
          <a:prstGeom prst="rect">
            <a:avLst/>
          </a:prstGeom>
          <a:noFill/>
          <a:ln/>
        </p:spPr>
        <p:txBody>
          <a:bodyPr wrap="square" lIns="0" tIns="0" rIns="0" bIns="0" rtlCol="0" anchor="ctr"/>
          <a:lstStyle/>
          <a:p>
            <a:pPr indent="0" marL="0">
              <a:buNone/>
            </a:pPr>
            <a:r>
              <a:rPr lang="en-US" sz="1500" b="1" dirty="0">
                <a:solidFill>
                  <a:srgbClr val="9C3A3A"/>
                </a:solidFill>
                <a:latin typeface="Cambria" pitchFamily="34" charset="0"/>
                <a:ea typeface="Cambria" pitchFamily="34" charset="-122"/>
                <a:cs typeface="Cambria" pitchFamily="34" charset="-120"/>
              </a:rPr>
              <a:t>Not graded</a:t>
            </a:r>
            <a:endParaRPr lang="en-US" sz="1500" dirty="0"/>
          </a:p>
        </p:txBody>
      </p:sp>
      <p:sp>
        <p:nvSpPr>
          <p:cNvPr id="13" name="Text 11"/>
          <p:cNvSpPr txBox="1"/>
          <p:nvPr/>
        </p:nvSpPr>
        <p:spPr>
          <a:xfrm>
            <a:off x="10387584" y="1371600"/>
            <a:ext cx="914400" cy="310896"/>
          </a:xfrm>
          <a:prstGeom prst="rect">
            <a:avLst/>
          </a:prstGeom>
          <a:noFill/>
          <a:ln/>
        </p:spPr>
        <p:txBody>
          <a:bodyPr wrap="square" lIns="0" tIns="0" rIns="0" bIns="0" rtlCol="0" anchor="ctr"/>
          <a:lstStyle/>
          <a:p>
            <a:pPr algn="r" indent="0" marL="0">
              <a:buNone/>
            </a:pPr>
            <a:r>
              <a:rPr lang="en-US" sz="1400" b="1" dirty="0">
                <a:solidFill>
                  <a:srgbClr val="9C3A3A"/>
                </a:solidFill>
              </a:rPr>
              <a:t>0 pts</a:t>
            </a:r>
            <a:endParaRPr lang="en-US" sz="1400" dirty="0"/>
          </a:p>
        </p:txBody>
      </p:sp>
      <p:sp>
        <p:nvSpPr>
          <p:cNvPr id="14" name="Text 12"/>
          <p:cNvSpPr txBox="1"/>
          <p:nvPr/>
        </p:nvSpPr>
        <p:spPr>
          <a:xfrm>
            <a:off x="8266176" y="1810512"/>
            <a:ext cx="3017520" cy="260604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100" dirty="0">
                <a:solidFill>
                  <a:srgbClr val="3C4A50"/>
                </a:solidFill>
              </a:rPr>
              <a:t>Whether the stock went up</a:t>
            </a:r>
            <a:endParaRPr lang="en-US" sz="1100" dirty="0"/>
          </a:p>
          <a:p>
            <a:pPr marL="342900" indent="-342900">
              <a:lnSpc>
                <a:spcPts val="1400"/>
              </a:lnSpc>
              <a:spcAft>
                <a:spcPts val="800"/>
              </a:spcAft>
              <a:buSzPct val="100000"/>
              <a:buChar char="•"/>
            </a:pPr>
            <a:r>
              <a:rPr lang="en-US" sz="1100" dirty="0">
                <a:solidFill>
                  <a:srgbClr val="3C4A50"/>
                </a:solidFill>
              </a:rPr>
              <a:t>Whether the trade made money</a:t>
            </a:r>
            <a:endParaRPr lang="en-US" sz="1100" dirty="0"/>
          </a:p>
          <a:p>
            <a:pPr marL="342900" indent="-342900">
              <a:lnSpc>
                <a:spcPts val="1400"/>
              </a:lnSpc>
              <a:spcAft>
                <a:spcPts val="800"/>
              </a:spcAft>
              <a:buSzPct val="100000"/>
              <a:buChar char="•"/>
            </a:pPr>
            <a:r>
              <a:rPr lang="en-US" sz="1100" dirty="0">
                <a:solidFill>
                  <a:srgbClr val="3C4A50"/>
                </a:solidFill>
              </a:rPr>
              <a:t>The outcome is revealed and used only to score the calibration of stated probabilities</a:t>
            </a:r>
            <a:endParaRPr lang="en-US" sz="1100" dirty="0"/>
          </a:p>
        </p:txBody>
      </p:sp>
      <p:sp>
        <p:nvSpPr>
          <p:cNvPr id="15" name="card"/>
          <p:cNvSpPr/>
          <p:nvPr/>
        </p:nvSpPr>
        <p:spPr>
          <a:xfrm>
            <a:off x="566928" y="4754880"/>
            <a:ext cx="11027664" cy="960120"/>
          </a:xfrm>
          <a:prstGeom prst="roundRect">
            <a:avLst>
              <a:gd name="adj" fmla="val 5714"/>
            </a:avLst>
          </a:prstGeom>
          <a:solidFill>
            <a:srgbClr val="EEF4F0"/>
          </a:solidFill>
          <a:ln w="9525">
            <a:solidFill>
              <a:srgbClr val="CFE0D6"/>
            </a:solidFill>
            <a:prstDash val="solid"/>
          </a:ln>
        </p:spPr>
      </p:sp>
      <p:sp>
        <p:nvSpPr>
          <p:cNvPr id="16" name="Text 14"/>
          <p:cNvSpPr txBox="1"/>
          <p:nvPr/>
        </p:nvSpPr>
        <p:spPr>
          <a:xfrm>
            <a:off x="841248" y="4901184"/>
            <a:ext cx="4572000" cy="274320"/>
          </a:xfrm>
          <a:prstGeom prst="rect">
            <a:avLst/>
          </a:prstGeom>
          <a:noFill/>
          <a:ln/>
        </p:spPr>
        <p:txBody>
          <a:bodyPr wrap="square" lIns="0" tIns="0" rIns="0" bIns="0" rtlCol="0" anchor="ctr"/>
          <a:lstStyle/>
          <a:p>
            <a:pPr indent="0" marL="0">
              <a:buNone/>
            </a:pPr>
            <a:r>
              <a:rPr lang="en-US" sz="1300" b="1" dirty="0">
                <a:solidFill>
                  <a:srgbClr val="2F6B45"/>
                </a:solidFill>
              </a:rPr>
              <a:t>The single highest-value dimension</a:t>
            </a:r>
            <a:endParaRPr lang="en-US" sz="1300" dirty="0"/>
          </a:p>
        </p:txBody>
      </p:sp>
      <p:sp>
        <p:nvSpPr>
          <p:cNvPr id="17" name="Text 15"/>
          <p:cNvSpPr txBox="1"/>
          <p:nvPr/>
        </p:nvSpPr>
        <p:spPr>
          <a:xfrm>
            <a:off x="841248" y="5193792"/>
            <a:ext cx="10424160" cy="457200"/>
          </a:xfrm>
          <a:prstGeom prst="rect">
            <a:avLst/>
          </a:prstGeom>
          <a:noFill/>
          <a:ln/>
        </p:spPr>
        <p:txBody>
          <a:bodyPr wrap="square" lIns="0" tIns="0" rIns="0" bIns="0" rtlCol="0" anchor="t"/>
          <a:lstStyle/>
          <a:p>
            <a:pPr indent="0" marL="0">
              <a:lnSpc>
                <a:spcPts val="1600"/>
              </a:lnSpc>
              <a:buNone/>
            </a:pPr>
            <a:r>
              <a:rPr lang="en-US" sz="1200" dirty="0">
                <a:solidFill>
                  <a:srgbClr val="2C4A38"/>
                </a:solidFill>
              </a:rPr>
              <a:t>Pre-commitment consistency is the closest thing in the program to a direct measurement of thesis-creep resistance — and it is only possible because the T−2 submission was locked before the print was released.</a:t>
            </a:r>
            <a:endParaRPr lang="en-US" sz="120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Case A — what a good and a bad answer look like</a:t>
            </a:r>
            <a:endParaRPr lang="en-US" sz="2700" dirty="0"/>
          </a:p>
        </p:txBody>
      </p:sp>
      <p:sp>
        <p:nvSpPr>
          <p:cNvPr id="3" name="card"/>
          <p:cNvSpPr/>
          <p:nvPr/>
        </p:nvSpPr>
        <p:spPr>
          <a:xfrm>
            <a:off x="566928" y="1143000"/>
            <a:ext cx="5394960" cy="4206240"/>
          </a:xfrm>
          <a:prstGeom prst="roundRect">
            <a:avLst>
              <a:gd name="adj" fmla="val 1304"/>
            </a:avLst>
          </a:prstGeom>
          <a:solidFill>
            <a:srgbClr val="EEF4F0"/>
          </a:solidFill>
          <a:ln w="9525">
            <a:solidFill>
              <a:srgbClr val="CFE0D6"/>
            </a:solidFill>
            <a:prstDash val="solid"/>
          </a:ln>
        </p:spPr>
      </p:sp>
      <p:sp>
        <p:nvSpPr>
          <p:cNvPr id="4" name="Shape 2"/>
          <p:cNvSpPr/>
          <p:nvPr/>
        </p:nvSpPr>
        <p:spPr>
          <a:xfrm>
            <a:off x="841248" y="1371600"/>
            <a:ext cx="1828800" cy="329184"/>
          </a:xfrm>
          <a:prstGeom prst="roundRect">
            <a:avLst>
              <a:gd name="adj" fmla="val 27778"/>
            </a:avLst>
          </a:prstGeom>
          <a:solidFill>
            <a:srgbClr val="2F6B45"/>
          </a:solidFill>
          <a:ln w="12700">
            <a:solidFill>
              <a:srgbClr val="2F6B45"/>
            </a:solidFill>
            <a:prstDash val="solid"/>
          </a:ln>
        </p:spPr>
      </p:sp>
      <p:sp>
        <p:nvSpPr>
          <p:cNvPr id="5" name="Text 3"/>
          <p:cNvSpPr txBox="1"/>
          <p:nvPr/>
        </p:nvSpPr>
        <p:spPr>
          <a:xfrm>
            <a:off x="841248" y="1371600"/>
            <a:ext cx="1828800" cy="329184"/>
          </a:xfrm>
          <a:prstGeom prst="rect">
            <a:avLst/>
          </a:prstGeom>
          <a:noFill/>
          <a:ln/>
        </p:spPr>
        <p:txBody>
          <a:bodyPr wrap="square" lIns="0" tIns="0" rIns="0" bIns="0" rtlCol="0" anchor="ctr"/>
          <a:lstStyle/>
          <a:p>
            <a:pPr algn="ctr" indent="0" marL="0">
              <a:buNone/>
            </a:pPr>
            <a:r>
              <a:rPr lang="en-US" sz="1050" b="1" spc="60" kern="0" dirty="0">
                <a:solidFill>
                  <a:srgbClr val="FFFFFF"/>
                </a:solidFill>
              </a:rPr>
              <a:t>STRONG RESPONSE</a:t>
            </a:r>
            <a:endParaRPr lang="en-US" sz="1050" dirty="0"/>
          </a:p>
        </p:txBody>
      </p:sp>
      <p:sp>
        <p:nvSpPr>
          <p:cNvPr id="6" name="Text 4"/>
          <p:cNvSpPr txBox="1"/>
          <p:nvPr/>
        </p:nvSpPr>
        <p:spPr>
          <a:xfrm>
            <a:off x="841248" y="1828800"/>
            <a:ext cx="4846320" cy="1371600"/>
          </a:xfrm>
          <a:prstGeom prst="rect">
            <a:avLst/>
          </a:prstGeom>
          <a:noFill/>
          <a:ln/>
        </p:spPr>
        <p:txBody>
          <a:bodyPr wrap="square" lIns="0" tIns="0" rIns="0" bIns="0" rtlCol="0" anchor="t"/>
          <a:lstStyle/>
          <a:p>
            <a:pPr indent="0" marL="0">
              <a:lnSpc>
                <a:spcPts val="1600"/>
              </a:lnSpc>
              <a:buNone/>
            </a:pPr>
            <a:r>
              <a:rPr lang="en-US" sz="1200" i="1" dirty="0">
                <a:solidFill>
                  <a:srgbClr val="0E1A22"/>
                </a:solidFill>
              </a:rPr>
              <a:t>“They beat by $30m and raised by $20m, so implied 2H revenue is $10m lower than it was this morning. 1H ran +12.71%; the back half is now implied at −1.46%. About 2.7 points of that is the comp; the rest is real. Q4 is implied at −2.86% against an FY+1 consensus needing +6.16%. I pre-committed to trimming on a guide that implied 2H deceleration. Trimming a third, keeping the rest into the analyst day.”</a:t>
            </a:r>
            <a:endParaRPr lang="en-US" sz="1200" dirty="0"/>
          </a:p>
        </p:txBody>
      </p:sp>
      <p:sp>
        <p:nvSpPr>
          <p:cNvPr id="7" name="Text 5"/>
          <p:cNvSpPr txBox="1"/>
          <p:nvPr/>
        </p:nvSpPr>
        <p:spPr>
          <a:xfrm>
            <a:off x="841248" y="3310128"/>
            <a:ext cx="4846320" cy="187452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dirty="0">
                <a:solidFill>
                  <a:srgbClr val="3C4A50"/>
                </a:solidFill>
              </a:rPr>
              <a:t>Did the subtraction nobody does — raise versus beat</a:t>
            </a:r>
            <a:endParaRPr lang="en-US" sz="1150" dirty="0"/>
          </a:p>
          <a:p>
            <a:pPr marL="342900" indent="-342900">
              <a:lnSpc>
                <a:spcPts val="1500"/>
              </a:lnSpc>
              <a:spcAft>
                <a:spcPts val="800"/>
              </a:spcAft>
              <a:buSzPct val="100000"/>
              <a:buChar char="•"/>
            </a:pPr>
            <a:r>
              <a:rPr lang="en-US" sz="1150" dirty="0">
                <a:solidFill>
                  <a:srgbClr val="3C4A50"/>
                </a:solidFill>
              </a:rPr>
              <a:t>Separated the comp effect from the genuine slowdown</a:t>
            </a:r>
            <a:endParaRPr lang="en-US" sz="1150" dirty="0"/>
          </a:p>
          <a:p>
            <a:pPr marL="342900" indent="-342900">
              <a:lnSpc>
                <a:spcPts val="1500"/>
              </a:lnSpc>
              <a:spcAft>
                <a:spcPts val="800"/>
              </a:spcAft>
              <a:buSzPct val="100000"/>
              <a:buChar char="•"/>
            </a:pPr>
            <a:r>
              <a:rPr lang="en-US" sz="1150" dirty="0">
                <a:solidFill>
                  <a:srgbClr val="3C4A50"/>
                </a:solidFill>
              </a:rPr>
              <a:t>Carried it forward to next year's consensus, where the real risk sits</a:t>
            </a:r>
            <a:endParaRPr lang="en-US" sz="1150" dirty="0"/>
          </a:p>
          <a:p>
            <a:pPr marL="342900" indent="-342900">
              <a:lnSpc>
                <a:spcPts val="1500"/>
              </a:lnSpc>
              <a:spcAft>
                <a:spcPts val="800"/>
              </a:spcAft>
              <a:buSzPct val="100000"/>
              <a:buChar char="•"/>
            </a:pPr>
            <a:r>
              <a:rPr lang="en-US" sz="1150" dirty="0">
                <a:solidFill>
                  <a:srgbClr val="3C4A50"/>
                </a:solidFill>
              </a:rPr>
              <a:t>Acted on the pre-commitment rather than on the price</a:t>
            </a:r>
            <a:endParaRPr lang="en-US" sz="1150" dirty="0"/>
          </a:p>
        </p:txBody>
      </p:sp>
      <p:sp>
        <p:nvSpPr>
          <p:cNvPr id="8" name="card"/>
          <p:cNvSpPr/>
          <p:nvPr/>
        </p:nvSpPr>
        <p:spPr>
          <a:xfrm>
            <a:off x="6199632" y="1143000"/>
            <a:ext cx="5394960" cy="4206240"/>
          </a:xfrm>
          <a:prstGeom prst="roundRect">
            <a:avLst>
              <a:gd name="adj" fmla="val 1304"/>
            </a:avLst>
          </a:prstGeom>
          <a:solidFill>
            <a:srgbClr val="FAF2F2"/>
          </a:solidFill>
          <a:ln w="9525">
            <a:solidFill>
              <a:srgbClr val="E8D4D4"/>
            </a:solidFill>
            <a:prstDash val="solid"/>
          </a:ln>
        </p:spPr>
      </p:sp>
      <p:sp>
        <p:nvSpPr>
          <p:cNvPr id="9" name="Shape 7"/>
          <p:cNvSpPr/>
          <p:nvPr/>
        </p:nvSpPr>
        <p:spPr>
          <a:xfrm>
            <a:off x="6473952" y="1371600"/>
            <a:ext cx="1828800" cy="329184"/>
          </a:xfrm>
          <a:prstGeom prst="roundRect">
            <a:avLst>
              <a:gd name="adj" fmla="val 27778"/>
            </a:avLst>
          </a:prstGeom>
          <a:solidFill>
            <a:srgbClr val="9C3A3A"/>
          </a:solidFill>
          <a:ln w="12700">
            <a:solidFill>
              <a:srgbClr val="9C3A3A"/>
            </a:solidFill>
            <a:prstDash val="solid"/>
          </a:ln>
        </p:spPr>
      </p:sp>
      <p:sp>
        <p:nvSpPr>
          <p:cNvPr id="10" name="Text 8"/>
          <p:cNvSpPr txBox="1"/>
          <p:nvPr/>
        </p:nvSpPr>
        <p:spPr>
          <a:xfrm>
            <a:off x="6473952" y="1371600"/>
            <a:ext cx="1828800" cy="329184"/>
          </a:xfrm>
          <a:prstGeom prst="rect">
            <a:avLst/>
          </a:prstGeom>
          <a:noFill/>
          <a:ln/>
        </p:spPr>
        <p:txBody>
          <a:bodyPr wrap="square" lIns="0" tIns="0" rIns="0" bIns="0" rtlCol="0" anchor="ctr"/>
          <a:lstStyle/>
          <a:p>
            <a:pPr algn="ctr" indent="0" marL="0">
              <a:buNone/>
            </a:pPr>
            <a:r>
              <a:rPr lang="en-US" sz="1050" b="1" spc="60" kern="0" dirty="0">
                <a:solidFill>
                  <a:srgbClr val="FFFFFF"/>
                </a:solidFill>
              </a:rPr>
              <a:t>WEAK RESPONSE</a:t>
            </a:r>
            <a:endParaRPr lang="en-US" sz="1050" dirty="0"/>
          </a:p>
        </p:txBody>
      </p:sp>
      <p:sp>
        <p:nvSpPr>
          <p:cNvPr id="11" name="Text 9"/>
          <p:cNvSpPr txBox="1"/>
          <p:nvPr/>
        </p:nvSpPr>
        <p:spPr>
          <a:xfrm>
            <a:off x="6473952" y="1828800"/>
            <a:ext cx="4846320" cy="1371600"/>
          </a:xfrm>
          <a:prstGeom prst="rect">
            <a:avLst/>
          </a:prstGeom>
          <a:noFill/>
          <a:ln/>
        </p:spPr>
        <p:txBody>
          <a:bodyPr wrap="square" lIns="0" tIns="0" rIns="0" bIns="0" rtlCol="0" anchor="t"/>
          <a:lstStyle/>
          <a:p>
            <a:pPr indent="0" marL="0">
              <a:lnSpc>
                <a:spcPts val="1600"/>
              </a:lnSpc>
              <a:buNone/>
            </a:pPr>
            <a:r>
              <a:rPr lang="en-US" sz="1200" i="1" dirty="0">
                <a:solidFill>
                  <a:srgbClr val="0E1A22"/>
                </a:solidFill>
              </a:rPr>
              <a:t>“Solid beat-and-raise quarter. Revenue ahead by $30m, management raised the full-year outlook and sounded confident on the call about demand into next year. Street numbers should move up. The thesis is intact and the setup into the analyst day looks good — staying long, no change to sizing.”</a:t>
            </a:r>
            <a:endParaRPr lang="en-US" sz="1200" dirty="0"/>
          </a:p>
        </p:txBody>
      </p:sp>
      <p:sp>
        <p:nvSpPr>
          <p:cNvPr id="12" name="Text 10"/>
          <p:cNvSpPr txBox="1"/>
          <p:nvPr/>
        </p:nvSpPr>
        <p:spPr>
          <a:xfrm>
            <a:off x="6473952" y="3310128"/>
            <a:ext cx="4846320" cy="187452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dirty="0">
                <a:solidFill>
                  <a:srgbClr val="3C4A50"/>
                </a:solidFill>
              </a:rPr>
              <a:t>Read the headline and the tone, not the arithmetic</a:t>
            </a:r>
            <a:endParaRPr lang="en-US" sz="1150" dirty="0"/>
          </a:p>
          <a:p>
            <a:pPr marL="342900" indent="-342900">
              <a:lnSpc>
                <a:spcPts val="1500"/>
              </a:lnSpc>
              <a:spcAft>
                <a:spcPts val="800"/>
              </a:spcAft>
              <a:buSzPct val="100000"/>
              <a:buChar char="•"/>
            </a:pPr>
            <a:r>
              <a:rPr lang="en-US" sz="1150" dirty="0">
                <a:solidFill>
                  <a:srgbClr val="3C4A50"/>
                </a:solidFill>
              </a:rPr>
              <a:t>Never compared the size of the raise to the size of the beat</a:t>
            </a:r>
            <a:endParaRPr lang="en-US" sz="1150" dirty="0"/>
          </a:p>
          <a:p>
            <a:pPr marL="342900" indent="-342900">
              <a:lnSpc>
                <a:spcPts val="1500"/>
              </a:lnSpc>
              <a:spcAft>
                <a:spcPts val="800"/>
              </a:spcAft>
              <a:buSzPct val="100000"/>
              <a:buChar char="•"/>
            </a:pPr>
            <a:r>
              <a:rPr lang="en-US" sz="1150" dirty="0">
                <a:solidFill>
                  <a:srgbClr val="3C4A50"/>
                </a:solidFill>
              </a:rPr>
              <a:t>“Street numbers should move up” is exactly backwards — the implied 2H just fell</a:t>
            </a:r>
            <a:endParaRPr lang="en-US" sz="1150" dirty="0"/>
          </a:p>
          <a:p>
            <a:pPr marL="342900" indent="-342900">
              <a:lnSpc>
                <a:spcPts val="1500"/>
              </a:lnSpc>
              <a:spcAft>
                <a:spcPts val="800"/>
              </a:spcAft>
              <a:buSzPct val="100000"/>
              <a:buChar char="•"/>
            </a:pPr>
            <a:r>
              <a:rPr lang="en-US" sz="1150" dirty="0">
                <a:solidFill>
                  <a:srgbClr val="3C4A50"/>
                </a:solidFill>
              </a:rPr>
              <a:t>No reference to the pre-commitment, so the action is unanchored</a:t>
            </a:r>
            <a:endParaRPr lang="en-US" sz="1150" dirty="0"/>
          </a:p>
        </p:txBody>
      </p:sp>
      <p:sp>
        <p:nvSpPr>
          <p:cNvPr id="13" name="Text 11"/>
          <p:cNvSpPr txBox="1"/>
          <p:nvPr/>
        </p:nvSpPr>
        <p:spPr>
          <a:xfrm>
            <a:off x="566928" y="5504688"/>
            <a:ext cx="11027664" cy="365760"/>
          </a:xfrm>
          <a:prstGeom prst="rect">
            <a:avLst/>
          </a:prstGeom>
          <a:noFill/>
          <a:ln/>
        </p:spPr>
        <p:txBody>
          <a:bodyPr wrap="square" lIns="0" tIns="0" rIns="0" bIns="0" rtlCol="0" anchor="ctr"/>
          <a:lstStyle/>
          <a:p>
            <a:pPr algn="ctr" indent="0" marL="0">
              <a:buNone/>
            </a:pPr>
            <a:r>
              <a:rPr lang="en-US" sz="1400" b="1" i="1" dirty="0">
                <a:solidFill>
                  <a:srgbClr val="0E1A22"/>
                </a:solidFill>
              </a:rPr>
              <a:t>Both students saw the same pack. The difference is one subtraction.</a:t>
            </a:r>
            <a:endParaRPr lang="en-US" sz="140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Case B — the task, the pack, and the frontier</a:t>
            </a:r>
            <a:endParaRPr lang="en-US" sz="2700" dirty="0"/>
          </a:p>
        </p:txBody>
      </p:sp>
      <p:sp>
        <p:nvSpPr>
          <p:cNvPr id="3" name="Shape 1"/>
          <p:cNvSpPr/>
          <p:nvPr/>
        </p:nvSpPr>
        <p:spPr>
          <a:xfrm>
            <a:off x="566928" y="1097280"/>
            <a:ext cx="384048" cy="384048"/>
          </a:xfrm>
          <a:prstGeom prst="roundRect">
            <a:avLst>
              <a:gd name="adj" fmla="val 28571"/>
            </a:avLst>
          </a:prstGeom>
          <a:solidFill>
            <a:srgbClr val="1A5F59"/>
          </a:solidFill>
          <a:ln w="12700">
            <a:solidFill>
              <a:srgbClr val="1A5F59"/>
            </a:solidFill>
            <a:prstDash val="solid"/>
          </a:ln>
        </p:spPr>
      </p:sp>
      <p:sp>
        <p:nvSpPr>
          <p:cNvPr id="4" name="Text 2"/>
          <p:cNvSpPr txBox="1"/>
          <p:nvPr/>
        </p:nvSpPr>
        <p:spPr>
          <a:xfrm>
            <a:off x="566928" y="1097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5" name="Text 3"/>
          <p:cNvSpPr txBox="1"/>
          <p:nvPr/>
        </p:nvSpPr>
        <p:spPr>
          <a:xfrm>
            <a:off x="1097280" y="1078992"/>
            <a:ext cx="8595360" cy="365760"/>
          </a:xfrm>
          <a:prstGeom prst="rect">
            <a:avLst/>
          </a:prstGeom>
          <a:noFill/>
          <a:ln/>
        </p:spPr>
        <p:txBody>
          <a:bodyPr wrap="square" lIns="0" tIns="0" rIns="0" bIns="0" rtlCol="0" anchor="ctr"/>
          <a:lstStyle/>
          <a:p>
            <a:pPr indent="0" marL="0">
              <a:buNone/>
            </a:pPr>
            <a:r>
              <a:rPr lang="en-US" sz="1700" b="1" dirty="0">
                <a:solidFill>
                  <a:srgbClr val="0E1A22"/>
                </a:solidFill>
                <a:latin typeface="Cambria" pitchFamily="34" charset="0"/>
                <a:ea typeface="Cambria" pitchFamily="34" charset="-122"/>
                <a:cs typeface="Cambria" pitchFamily="34" charset="-120"/>
              </a:rPr>
              <a:t>Eight years of twelve percent</a:t>
            </a:r>
            <a:endParaRPr lang="en-US" sz="1700" dirty="0"/>
          </a:p>
        </p:txBody>
      </p:sp>
      <p:sp>
        <p:nvSpPr>
          <p:cNvPr id="6" name="Text 4"/>
          <p:cNvSpPr txBox="1"/>
          <p:nvPr/>
        </p:nvSpPr>
        <p:spPr>
          <a:xfrm>
            <a:off x="1097280" y="1426464"/>
            <a:ext cx="10424160" cy="274320"/>
          </a:xfrm>
          <a:prstGeom prst="rect">
            <a:avLst/>
          </a:prstGeom>
          <a:noFill/>
          <a:ln/>
        </p:spPr>
        <p:txBody>
          <a:bodyPr wrap="square" lIns="0" tIns="0" rIns="0" bIns="0" rtlCol="0" anchor="ctr"/>
          <a:lstStyle/>
          <a:p>
            <a:pPr indent="0" marL="0">
              <a:buNone/>
            </a:pPr>
            <a:r>
              <a:rPr lang="en-US" sz="1150" dirty="0">
                <a:solidFill>
                  <a:srgbClr val="5B6B78"/>
                </a:solidFill>
              </a:rPr>
              <a:t>Serves Modules 10, 11 and 04  ·  T is an ordinary day with no catalyst pending — deliberately</a:t>
            </a:r>
            <a:endParaRPr lang="en-US" sz="1150" dirty="0"/>
          </a:p>
        </p:txBody>
      </p:sp>
      <p:sp>
        <p:nvSpPr>
          <p:cNvPr id="7" name="Text 5"/>
          <p:cNvSpPr txBox="1"/>
          <p:nvPr/>
        </p:nvSpPr>
        <p:spPr>
          <a:xfrm>
            <a:off x="566928" y="1828800"/>
            <a:ext cx="5486400" cy="237744"/>
          </a:xfrm>
          <a:prstGeom prst="rect">
            <a:avLst/>
          </a:prstGeom>
          <a:noFill/>
          <a:ln/>
        </p:spPr>
        <p:txBody>
          <a:bodyPr wrap="square" lIns="0" tIns="0" rIns="0" bIns="0" rtlCol="0" anchor="ctr"/>
          <a:lstStyle/>
          <a:p>
            <a:pPr indent="0" marL="0">
              <a:buNone/>
            </a:pPr>
            <a:r>
              <a:rPr lang="en-US" sz="1000" b="1" spc="120" kern="0" dirty="0">
                <a:solidFill>
                  <a:srgbClr val="5B6B78"/>
                </a:solidFill>
              </a:rPr>
              <a:t>TWO-PHASE, WITH A LOCK BETWEEN THEM</a:t>
            </a:r>
            <a:endParaRPr lang="en-US" sz="1000" dirty="0"/>
          </a:p>
        </p:txBody>
      </p:sp>
      <p:sp>
        <p:nvSpPr>
          <p:cNvPr id="8" name="card"/>
          <p:cNvSpPr/>
          <p:nvPr/>
        </p:nvSpPr>
        <p:spPr>
          <a:xfrm>
            <a:off x="566928" y="2121408"/>
            <a:ext cx="5486400" cy="1207008"/>
          </a:xfrm>
          <a:prstGeom prst="roundRect">
            <a:avLst>
              <a:gd name="adj" fmla="val 4545"/>
            </a:avLst>
          </a:prstGeom>
          <a:solidFill>
            <a:srgbClr val="F5F8F7"/>
          </a:solidFill>
          <a:ln w="9525">
            <a:solidFill>
              <a:srgbClr val="DCE5E2"/>
            </a:solidFill>
            <a:prstDash val="solid"/>
          </a:ln>
        </p:spPr>
      </p:sp>
      <p:sp>
        <p:nvSpPr>
          <p:cNvPr id="9" name="Text 7"/>
          <p:cNvSpPr txBox="1"/>
          <p:nvPr/>
        </p:nvSpPr>
        <p:spPr>
          <a:xfrm>
            <a:off x="804672" y="2267712"/>
            <a:ext cx="2011680" cy="256032"/>
          </a:xfrm>
          <a:prstGeom prst="rect">
            <a:avLst/>
          </a:prstGeom>
          <a:noFill/>
          <a:ln/>
        </p:spPr>
        <p:txBody>
          <a:bodyPr wrap="square" lIns="0" tIns="0" rIns="0" bIns="0" rtlCol="0" anchor="ctr"/>
          <a:lstStyle/>
          <a:p>
            <a:pPr indent="0" marL="0">
              <a:buNone/>
            </a:pPr>
            <a:r>
              <a:rPr lang="en-US" sz="1150" b="1" dirty="0">
                <a:solidFill>
                  <a:srgbClr val="1A5F59"/>
                </a:solidFill>
              </a:rPr>
              <a:t>Phase 1 · 20 min</a:t>
            </a:r>
            <a:endParaRPr lang="en-US" sz="1150" dirty="0"/>
          </a:p>
        </p:txBody>
      </p:sp>
      <p:sp>
        <p:nvSpPr>
          <p:cNvPr id="10" name="Text 8"/>
          <p:cNvSpPr txBox="1"/>
          <p:nvPr/>
        </p:nvSpPr>
        <p:spPr>
          <a:xfrm>
            <a:off x="804672" y="2542032"/>
            <a:ext cx="5029200" cy="731520"/>
          </a:xfrm>
          <a:prstGeom prst="rect">
            <a:avLst/>
          </a:prstGeom>
          <a:noFill/>
          <a:ln/>
        </p:spPr>
        <p:txBody>
          <a:bodyPr wrap="square" lIns="0" tIns="0" rIns="0" bIns="0" rtlCol="0" anchor="t"/>
          <a:lstStyle/>
          <a:p>
            <a:pPr indent="0" marL="0">
              <a:lnSpc>
                <a:spcPts val="1500"/>
              </a:lnSpc>
              <a:buNone/>
            </a:pPr>
            <a:r>
              <a:rPr lang="en-US" sz="1150" dirty="0">
                <a:solidFill>
                  <a:srgbClr val="3C4A50"/>
                </a:solidFill>
              </a:rPr>
              <a:t>Given only the business description and historical financials, state the core debate and the three key drivers. Submit — it locks.</a:t>
            </a:r>
            <a:endParaRPr lang="en-US" sz="1150" dirty="0"/>
          </a:p>
        </p:txBody>
      </p:sp>
      <p:sp>
        <p:nvSpPr>
          <p:cNvPr id="11" name="card"/>
          <p:cNvSpPr/>
          <p:nvPr/>
        </p:nvSpPr>
        <p:spPr>
          <a:xfrm>
            <a:off x="566928" y="3456432"/>
            <a:ext cx="5486400" cy="1389888"/>
          </a:xfrm>
          <a:prstGeom prst="roundRect">
            <a:avLst>
              <a:gd name="adj" fmla="val 3947"/>
            </a:avLst>
          </a:prstGeom>
          <a:solidFill>
            <a:srgbClr val="EEF4F0"/>
          </a:solidFill>
          <a:ln w="9525">
            <a:solidFill>
              <a:srgbClr val="CFE0D6"/>
            </a:solidFill>
            <a:prstDash val="solid"/>
          </a:ln>
        </p:spPr>
      </p:sp>
      <p:sp>
        <p:nvSpPr>
          <p:cNvPr id="12" name="Text 10"/>
          <p:cNvSpPr txBox="1"/>
          <p:nvPr/>
        </p:nvSpPr>
        <p:spPr>
          <a:xfrm>
            <a:off x="804672" y="3602736"/>
            <a:ext cx="2011680" cy="256032"/>
          </a:xfrm>
          <a:prstGeom prst="rect">
            <a:avLst/>
          </a:prstGeom>
          <a:noFill/>
          <a:ln/>
        </p:spPr>
        <p:txBody>
          <a:bodyPr wrap="square" lIns="0" tIns="0" rIns="0" bIns="0" rtlCol="0" anchor="ctr"/>
          <a:lstStyle/>
          <a:p>
            <a:pPr indent="0" marL="0">
              <a:buNone/>
            </a:pPr>
            <a:r>
              <a:rPr lang="en-US" sz="1150" b="1" dirty="0">
                <a:solidFill>
                  <a:srgbClr val="2F6B45"/>
                </a:solidFill>
              </a:rPr>
              <a:t>Phase 2 · 40 min</a:t>
            </a:r>
            <a:endParaRPr lang="en-US" sz="1150" dirty="0"/>
          </a:p>
        </p:txBody>
      </p:sp>
      <p:sp>
        <p:nvSpPr>
          <p:cNvPr id="13" name="Text 11"/>
          <p:cNvSpPr txBox="1"/>
          <p:nvPr/>
        </p:nvSpPr>
        <p:spPr>
          <a:xfrm>
            <a:off x="804672" y="3877056"/>
            <a:ext cx="5029200" cy="914400"/>
          </a:xfrm>
          <a:prstGeom prst="rect">
            <a:avLst/>
          </a:prstGeom>
          <a:noFill/>
          <a:ln/>
        </p:spPr>
        <p:txBody>
          <a:bodyPr wrap="square" lIns="0" tIns="0" rIns="0" bIns="0" rtlCol="0" anchor="t"/>
          <a:lstStyle/>
          <a:p>
            <a:pPr indent="0" marL="0">
              <a:lnSpc>
                <a:spcPts val="1500"/>
              </a:lnSpc>
              <a:buNone/>
            </a:pPr>
            <a:r>
              <a:rPr lang="en-US" sz="1150" dirty="0">
                <a:solidFill>
                  <a:srgbClr val="2C4A38"/>
                </a:solidFill>
              </a:rPr>
              <a:t>Now receive consensus, the multiple versus its own history, positioning, and a reverse-DCF template. Re-write the core debate — then explain in 200 words what changed and why.</a:t>
            </a:r>
            <a:endParaRPr lang="en-US" sz="1150" dirty="0"/>
          </a:p>
        </p:txBody>
      </p:sp>
      <p:sp>
        <p:nvSpPr>
          <p:cNvPr id="14" name="Text 12"/>
          <p:cNvSpPr txBox="1"/>
          <p:nvPr/>
        </p:nvSpPr>
        <p:spPr>
          <a:xfrm>
            <a:off x="6309360" y="1828800"/>
            <a:ext cx="5486400" cy="237744"/>
          </a:xfrm>
          <a:prstGeom prst="rect">
            <a:avLst/>
          </a:prstGeom>
          <a:noFill/>
          <a:ln/>
        </p:spPr>
        <p:txBody>
          <a:bodyPr wrap="square" lIns="0" tIns="0" rIns="0" bIns="0" rtlCol="0" anchor="ctr"/>
          <a:lstStyle/>
          <a:p>
            <a:pPr indent="0" marL="0">
              <a:buNone/>
            </a:pPr>
            <a:r>
              <a:rPr lang="en-US" sz="1000" b="1" spc="120" kern="0" dirty="0">
                <a:solidFill>
                  <a:srgbClr val="5B6B78"/>
                </a:solidFill>
              </a:rPr>
              <a:t>THE FRONTIER THE STUDENT MUST BUILD  ·  EV $25.0BN ON $10.0BN SALES, WACC 8%</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309360" y="2121408"/>
          <a:ext cx="5285232" cy="914400"/>
        </p:xfrm>
        <a:graphic>
          <a:graphicData uri="http://schemas.openxmlformats.org/drawingml/2006/table">
            <a:tbl>
              <a:tblPr/>
              <a:tblGrid>
                <a:gridCol w="1764792"/>
                <a:gridCol w="1764792"/>
                <a:gridCol w="1755648"/>
              </a:tblGrid>
              <a:tr h="0">
                <a:tc>
                  <a:txBody>
                    <a:bodyPr/>
                    <a:lstStyle/>
                    <a:p>
                      <a:pPr algn="ctr" indent="0" marL="0">
                        <a:buNone/>
                      </a:pPr>
                      <a:r>
                        <a:rPr lang="en-US" sz="1000" b="1" dirty="0">
                          <a:solidFill>
                            <a:srgbClr val="FFFFFF"/>
                          </a:solidFill>
                        </a:rPr>
                        <a:t>Sales CAGR</a:t>
                      </a:r>
                      <a:endParaRPr lang="en-US" sz="10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1A5F59"/>
                    </a:solidFill>
                  </a:tcPr>
                </a:tc>
                <a:tc>
                  <a:txBody>
                    <a:bodyPr/>
                    <a:lstStyle/>
                    <a:p>
                      <a:pPr algn="ctr" indent="0" marL="0">
                        <a:buNone/>
                      </a:pPr>
                      <a:r>
                        <a:rPr lang="en-US" sz="1000" b="1" dirty="0">
                          <a:solidFill>
                            <a:srgbClr val="FFFFFF"/>
                          </a:solidFill>
                        </a:rPr>
                        <a:t>Operating margin</a:t>
                      </a:r>
                      <a:endParaRPr lang="en-US" sz="10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1A5F59"/>
                    </a:solidFill>
                  </a:tcPr>
                </a:tc>
                <a:tc>
                  <a:txBody>
                    <a:bodyPr/>
                    <a:lstStyle/>
                    <a:p>
                      <a:pPr algn="ctr" indent="0" marL="0">
                        <a:buNone/>
                      </a:pPr>
                      <a:r>
                        <a:rPr lang="en-US" sz="1000" b="1" dirty="0">
                          <a:solidFill>
                            <a:srgbClr val="FFFFFF"/>
                          </a:solidFill>
                        </a:rPr>
                        <a:t>Investment rate</a:t>
                      </a:r>
                      <a:endParaRPr lang="en-US" sz="10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1A5F59"/>
                    </a:solidFill>
                  </a:tcPr>
                </a:tc>
              </a:tr>
              <a:tr h="0">
                <a:tc>
                  <a:txBody>
                    <a:bodyPr/>
                    <a:lstStyle/>
                    <a:p>
                      <a:pPr algn="ctr" indent="0" marL="0">
                        <a:buNone/>
                      </a:pPr>
                      <a:r>
                        <a:rPr lang="en-US" sz="1200" b="1" dirty="0">
                          <a:solidFill>
                            <a:srgbClr val="1A5F59"/>
                          </a:solidFill>
                        </a:rPr>
                        <a:t>9.935%</a:t>
                      </a:r>
                      <a:endParaRPr lang="en-US" sz="12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EEF4F0"/>
                    </a:solidFill>
                  </a:tcPr>
                </a:tc>
                <a:tc>
                  <a:txBody>
                    <a:bodyPr/>
                    <a:lstStyle/>
                    <a:p>
                      <a:pPr algn="ctr" indent="0" marL="0">
                        <a:buNone/>
                      </a:pPr>
                      <a:r>
                        <a:rPr lang="en-US" sz="1200" b="1" dirty="0">
                          <a:solidFill>
                            <a:srgbClr val="1A5F59"/>
                          </a:solidFill>
                        </a:rPr>
                        <a:t>15.0%</a:t>
                      </a:r>
                      <a:endParaRPr lang="en-US" sz="12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EEF4F0"/>
                    </a:solidFill>
                  </a:tcPr>
                </a:tc>
                <a:tc>
                  <a:txBody>
                    <a:bodyPr/>
                    <a:lstStyle/>
                    <a:p>
                      <a:pPr algn="ctr" indent="0" marL="0">
                        <a:buNone/>
                      </a:pPr>
                      <a:r>
                        <a:rPr lang="en-US" sz="1200" b="1" dirty="0">
                          <a:solidFill>
                            <a:srgbClr val="1A5F59"/>
                          </a:solidFill>
                        </a:rPr>
                        <a:t>30%</a:t>
                      </a:r>
                      <a:endParaRPr lang="en-US" sz="12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EEF4F0"/>
                    </a:solidFill>
                  </a:tcPr>
                </a:tc>
              </a:tr>
              <a:tr h="0">
                <a:tc>
                  <a:txBody>
                    <a:bodyPr/>
                    <a:lstStyle/>
                    <a:p>
                      <a:pPr algn="ctr" indent="0" marL="0">
                        <a:buNone/>
                      </a:pPr>
                      <a:r>
                        <a:rPr lang="en-US" sz="1200" dirty="0">
                          <a:solidFill>
                            <a:srgbClr val="0E1A22"/>
                          </a:solidFill>
                        </a:rPr>
                        <a:t>4.0%</a:t>
                      </a:r>
                      <a:endParaRPr lang="en-US" sz="12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7FAF9"/>
                    </a:solidFill>
                  </a:tcPr>
                </a:tc>
                <a:tc>
                  <a:txBody>
                    <a:bodyPr/>
                    <a:lstStyle/>
                    <a:p>
                      <a:pPr algn="ctr" indent="0" marL="0">
                        <a:buNone/>
                      </a:pPr>
                      <a:r>
                        <a:rPr lang="en-US" sz="1200" dirty="0">
                          <a:solidFill>
                            <a:srgbClr val="0E1A22"/>
                          </a:solidFill>
                        </a:rPr>
                        <a:t>20.37%</a:t>
                      </a:r>
                      <a:endParaRPr lang="en-US" sz="12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7FAF9"/>
                    </a:solidFill>
                  </a:tcPr>
                </a:tc>
                <a:tc>
                  <a:txBody>
                    <a:bodyPr/>
                    <a:lstStyle/>
                    <a:p>
                      <a:pPr algn="ctr" indent="0" marL="0">
                        <a:buNone/>
                      </a:pPr>
                      <a:r>
                        <a:rPr lang="en-US" sz="1200" dirty="0">
                          <a:solidFill>
                            <a:srgbClr val="0E1A22"/>
                          </a:solidFill>
                        </a:rPr>
                        <a:t>30%</a:t>
                      </a:r>
                      <a:endParaRPr lang="en-US" sz="12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7FAF9"/>
                    </a:solidFill>
                  </a:tcPr>
                </a:tc>
              </a:tr>
              <a:tr h="0">
                <a:tc>
                  <a:txBody>
                    <a:bodyPr/>
                    <a:lstStyle/>
                    <a:p>
                      <a:pPr algn="ctr" indent="0" marL="0">
                        <a:buNone/>
                      </a:pPr>
                      <a:r>
                        <a:rPr lang="en-US" sz="1200" dirty="0">
                          <a:solidFill>
                            <a:srgbClr val="0E1A22"/>
                          </a:solidFill>
                        </a:rPr>
                        <a:t>14.59%</a:t>
                      </a:r>
                      <a:endParaRPr lang="en-US" sz="12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E1A22"/>
                          </a:solidFill>
                        </a:rPr>
                        <a:t>12.0%</a:t>
                      </a:r>
                      <a:endParaRPr lang="en-US" sz="12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E1A22"/>
                          </a:solidFill>
                        </a:rPr>
                        <a:t>30%</a:t>
                      </a:r>
                      <a:endParaRPr lang="en-US" sz="12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0E1A22"/>
                          </a:solidFill>
                        </a:rPr>
                        <a:t>10.89%</a:t>
                      </a:r>
                      <a:endParaRPr lang="en-US" sz="12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7FAF9"/>
                    </a:solidFill>
                  </a:tcPr>
                </a:tc>
                <a:tc>
                  <a:txBody>
                    <a:bodyPr/>
                    <a:lstStyle/>
                    <a:p>
                      <a:pPr algn="ctr" indent="0" marL="0">
                        <a:buNone/>
                      </a:pPr>
                      <a:r>
                        <a:rPr lang="en-US" sz="1200" dirty="0">
                          <a:solidFill>
                            <a:srgbClr val="0E1A22"/>
                          </a:solidFill>
                        </a:rPr>
                        <a:t>15.0%</a:t>
                      </a:r>
                      <a:endParaRPr lang="en-US" sz="12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7FAF9"/>
                    </a:solidFill>
                  </a:tcPr>
                </a:tc>
                <a:tc>
                  <a:txBody>
                    <a:bodyPr/>
                    <a:lstStyle/>
                    <a:p>
                      <a:pPr algn="ctr" indent="0" marL="0">
                        <a:buNone/>
                      </a:pPr>
                      <a:r>
                        <a:rPr lang="en-US" sz="1200" dirty="0">
                          <a:solidFill>
                            <a:srgbClr val="0E1A22"/>
                          </a:solidFill>
                        </a:rPr>
                        <a:t>45%</a:t>
                      </a:r>
                      <a:endParaRPr lang="en-US" sz="1200" dirty="0"/>
                    </a:p>
                  </a:txBody>
                  <a:tcPr marL="63500" marR="63500" marT="63500" marB="63500" anchor="ctr">
                    <a:lnL w="9525" cap="flat" cmpd="sng" algn="ctr">
                      <a:solidFill>
                        <a:srgbClr val="E2E8E6"/>
                      </a:solidFill>
                      <a:prstDash val="solid"/>
                      <a:round/>
                      <a:headEnd type="none" w="med" len="med"/>
                      <a:tailEnd type="none" w="med" len="med"/>
                    </a:lnL>
                    <a:lnR w="9525" cap="flat" cmpd="sng" algn="ctr">
                      <a:solidFill>
                        <a:srgbClr val="E2E8E6"/>
                      </a:solidFill>
                      <a:prstDash val="solid"/>
                      <a:round/>
                      <a:headEnd type="none" w="med" len="med"/>
                      <a:tailEnd type="none" w="med" len="med"/>
                    </a:lnR>
                    <a:lnT w="9525" cap="flat" cmpd="sng" algn="ctr">
                      <a:solidFill>
                        <a:srgbClr val="E2E8E6"/>
                      </a:solidFill>
                      <a:prstDash val="solid"/>
                      <a:round/>
                      <a:headEnd type="none" w="med" len="med"/>
                      <a:tailEnd type="none" w="med" len="med"/>
                    </a:lnT>
                    <a:lnB w="9525" cap="flat" cmpd="sng" algn="ctr">
                      <a:solidFill>
                        <a:srgbClr val="E2E8E6"/>
                      </a:solidFill>
                      <a:prstDash val="solid"/>
                      <a:round/>
                      <a:headEnd type="none" w="med" len="med"/>
                      <a:tailEnd type="none" w="med" len="med"/>
                    </a:lnB>
                    <a:solidFill>
                      <a:srgbClr val="F7FAF9"/>
                    </a:solidFill>
                  </a:tcPr>
                </a:tc>
              </a:tr>
            </a:tbl>
          </a:graphicData>
        </a:graphic>
      </p:graphicFrame>
      <p:sp>
        <p:nvSpPr>
          <p:cNvPr id="16" name="Text 13"/>
          <p:cNvSpPr txBox="1"/>
          <p:nvPr/>
        </p:nvSpPr>
        <p:spPr>
          <a:xfrm>
            <a:off x="6309360" y="3913632"/>
            <a:ext cx="5285232" cy="1005840"/>
          </a:xfrm>
          <a:prstGeom prst="rect">
            <a:avLst/>
          </a:prstGeom>
          <a:noFill/>
          <a:ln/>
        </p:spPr>
        <p:txBody>
          <a:bodyPr wrap="square" lIns="0" tIns="0" rIns="0" bIns="0" rtlCol="0" anchor="t"/>
          <a:lstStyle/>
          <a:p>
            <a:pPr indent="0" marL="0">
              <a:lnSpc>
                <a:spcPts val="1500"/>
              </a:lnSpc>
              <a:buNone/>
            </a:pPr>
            <a:r>
              <a:rPr lang="en-US" sz="1150" b="1" dirty="0">
                <a:solidFill>
                  <a:srgbClr val="3C4A50"/>
                </a:solidFill>
              </a:rPr>
              <a:t>Every row prices the same stock. </a:t>
            </a:r>
            <a:pPr indent="0" marL="0">
              <a:lnSpc>
                <a:spcPts val="1500"/>
              </a:lnSpc>
              <a:buNone/>
            </a:pPr>
            <a:r>
              <a:rPr lang="en-US" sz="1150" dirty="0">
                <a:solidFill>
                  <a:srgbClr val="3C4A50"/>
                </a:solidFill>
              </a:rPr>
              <a:t>The output is not one implied growth rate — it is the set of driver combinations the price can tolerate, and the analyst's job is to say which one is plausible. Steady-state value is $14.812bn, so 59% of the price is the business as it stands and 41% is future value creation.</a:t>
            </a:r>
            <a:endParaRPr lang="en-US" sz="1150" dirty="0"/>
          </a:p>
        </p:txBody>
      </p:sp>
      <p:sp>
        <p:nvSpPr>
          <p:cNvPr id="17" name="Text 14"/>
          <p:cNvSpPr txBox="1"/>
          <p:nvPr/>
        </p:nvSpPr>
        <p:spPr>
          <a:xfrm>
            <a:off x="566928" y="5074920"/>
            <a:ext cx="11027664" cy="457200"/>
          </a:xfrm>
          <a:prstGeom prst="rect">
            <a:avLst/>
          </a:prstGeom>
          <a:noFill/>
          <a:ln/>
        </p:spPr>
        <p:txBody>
          <a:bodyPr wrap="square" lIns="0" tIns="0" rIns="0" bIns="0" rtlCol="0" anchor="ctr"/>
          <a:lstStyle/>
          <a:p>
            <a:pPr indent="0" marL="0">
              <a:lnSpc>
                <a:spcPts val="1600"/>
              </a:lnSpc>
              <a:buNone/>
            </a:pPr>
            <a:r>
              <a:rPr lang="en-US" sz="1200" i="1" dirty="0">
                <a:solidFill>
                  <a:srgbClr val="5B6B78"/>
                </a:solidFill>
              </a:rPr>
              <a:t>Companion solve: at EV $22.0bn the market-implied competitive advantage period is 12.96 years — which turns a 2.2x EV/invested-capital multiple into a falsifiable claim about the industry.</a:t>
            </a:r>
            <a:endParaRPr lang="en-US" sz="120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Case B — the two answers, and what separates them</a:t>
            </a:r>
            <a:endParaRPr lang="en-US" sz="2700" dirty="0"/>
          </a:p>
        </p:txBody>
      </p:sp>
      <p:sp>
        <p:nvSpPr>
          <p:cNvPr id="3" name="card"/>
          <p:cNvSpPr/>
          <p:nvPr/>
        </p:nvSpPr>
        <p:spPr>
          <a:xfrm>
            <a:off x="566928" y="1143000"/>
            <a:ext cx="5394960" cy="4206240"/>
          </a:xfrm>
          <a:prstGeom prst="roundRect">
            <a:avLst>
              <a:gd name="adj" fmla="val 1304"/>
            </a:avLst>
          </a:prstGeom>
          <a:solidFill>
            <a:srgbClr val="EEF4F0"/>
          </a:solidFill>
          <a:ln w="9525">
            <a:solidFill>
              <a:srgbClr val="CFE0D6"/>
            </a:solidFill>
            <a:prstDash val="solid"/>
          </a:ln>
        </p:spPr>
      </p:sp>
      <p:sp>
        <p:nvSpPr>
          <p:cNvPr id="4" name="Shape 2"/>
          <p:cNvSpPr/>
          <p:nvPr/>
        </p:nvSpPr>
        <p:spPr>
          <a:xfrm>
            <a:off x="841248" y="1371600"/>
            <a:ext cx="1828800" cy="329184"/>
          </a:xfrm>
          <a:prstGeom prst="roundRect">
            <a:avLst>
              <a:gd name="adj" fmla="val 27778"/>
            </a:avLst>
          </a:prstGeom>
          <a:solidFill>
            <a:srgbClr val="2F6B45"/>
          </a:solidFill>
          <a:ln w="12700">
            <a:solidFill>
              <a:srgbClr val="2F6B45"/>
            </a:solidFill>
            <a:prstDash val="solid"/>
          </a:ln>
        </p:spPr>
      </p:sp>
      <p:sp>
        <p:nvSpPr>
          <p:cNvPr id="5" name="Text 3"/>
          <p:cNvSpPr txBox="1"/>
          <p:nvPr/>
        </p:nvSpPr>
        <p:spPr>
          <a:xfrm>
            <a:off x="841248" y="1371600"/>
            <a:ext cx="1828800" cy="329184"/>
          </a:xfrm>
          <a:prstGeom prst="rect">
            <a:avLst/>
          </a:prstGeom>
          <a:noFill/>
          <a:ln/>
        </p:spPr>
        <p:txBody>
          <a:bodyPr wrap="square" lIns="0" tIns="0" rIns="0" bIns="0" rtlCol="0" anchor="ctr"/>
          <a:lstStyle/>
          <a:p>
            <a:pPr algn="ctr" indent="0" marL="0">
              <a:buNone/>
            </a:pPr>
            <a:r>
              <a:rPr lang="en-US" sz="1050" b="1" spc="60" kern="0" dirty="0">
                <a:solidFill>
                  <a:srgbClr val="FFFFFF"/>
                </a:solidFill>
              </a:rPr>
              <a:t>STRONG RESPONSE</a:t>
            </a:r>
            <a:endParaRPr lang="en-US" sz="1050" dirty="0"/>
          </a:p>
        </p:txBody>
      </p:sp>
      <p:sp>
        <p:nvSpPr>
          <p:cNvPr id="6" name="Text 4"/>
          <p:cNvSpPr txBox="1"/>
          <p:nvPr/>
        </p:nvSpPr>
        <p:spPr>
          <a:xfrm>
            <a:off x="841248" y="1828800"/>
            <a:ext cx="4846320" cy="1371600"/>
          </a:xfrm>
          <a:prstGeom prst="rect">
            <a:avLst/>
          </a:prstGeom>
          <a:noFill/>
          <a:ln/>
        </p:spPr>
        <p:txBody>
          <a:bodyPr wrap="square" lIns="0" tIns="0" rIns="0" bIns="0" rtlCol="0" anchor="t"/>
          <a:lstStyle/>
          <a:p>
            <a:pPr indent="0" marL="0">
              <a:lnSpc>
                <a:spcPts val="1600"/>
              </a:lnSpc>
              <a:buNone/>
            </a:pPr>
            <a:r>
              <a:rPr lang="en-US" sz="1200" i="1" dirty="0">
                <a:solidFill>
                  <a:srgbClr val="0E1A22"/>
                </a:solidFill>
              </a:rPr>
              <a:t>“In Phase 1 I asked whether they can sustain double-digit growth. That was the wrong question. The price implies roughly 10% sales growth for eight years at today's margin — more than consensus publishes, which fades to 8%. So the debate is not the growth rate, it is the duration: the market is paying for a 13-year advantage period. I would short the duration, not the number. What would change my mind is evidence the reinvestment runway extends past the current category.”</a:t>
            </a:r>
            <a:endParaRPr lang="en-US" sz="1200" dirty="0"/>
          </a:p>
        </p:txBody>
      </p:sp>
      <p:sp>
        <p:nvSpPr>
          <p:cNvPr id="7" name="Text 5"/>
          <p:cNvSpPr txBox="1"/>
          <p:nvPr/>
        </p:nvSpPr>
        <p:spPr>
          <a:xfrm>
            <a:off x="841248" y="3310128"/>
            <a:ext cx="4846320" cy="187452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dirty="0">
                <a:solidFill>
                  <a:srgbClr val="3C4A50"/>
                </a:solidFill>
              </a:rPr>
              <a:t>Treated the reverse DCF as a frontier, not a point estimate</a:t>
            </a:r>
            <a:endParaRPr lang="en-US" sz="1150" dirty="0"/>
          </a:p>
          <a:p>
            <a:pPr marL="342900" indent="-342900">
              <a:lnSpc>
                <a:spcPts val="1500"/>
              </a:lnSpc>
              <a:spcAft>
                <a:spcPts val="800"/>
              </a:spcAft>
              <a:buSzPct val="100000"/>
              <a:buChar char="•"/>
            </a:pPr>
            <a:r>
              <a:rPr lang="en-US" sz="1150" dirty="0">
                <a:solidFill>
                  <a:srgbClr val="3C4A50"/>
                </a:solidFill>
              </a:rPr>
              <a:t>Named which driver is actually contested — duration, not growth</a:t>
            </a:r>
            <a:endParaRPr lang="en-US" sz="1150" dirty="0"/>
          </a:p>
          <a:p>
            <a:pPr marL="342900" indent="-342900">
              <a:lnSpc>
                <a:spcPts val="1500"/>
              </a:lnSpc>
              <a:spcAft>
                <a:spcPts val="800"/>
              </a:spcAft>
              <a:buSzPct val="100000"/>
              <a:buChar char="•"/>
            </a:pPr>
            <a:r>
              <a:rPr lang="en-US" sz="1150" dirty="0">
                <a:solidFill>
                  <a:srgbClr val="3C4A50"/>
                </a:solidFill>
              </a:rPr>
              <a:t>Used implied CAP as a competitive claim that can be checked against history</a:t>
            </a:r>
            <a:endParaRPr lang="en-US" sz="1150" dirty="0"/>
          </a:p>
          <a:p>
            <a:pPr marL="342900" indent="-342900">
              <a:lnSpc>
                <a:spcPts val="1500"/>
              </a:lnSpc>
              <a:spcAft>
                <a:spcPts val="800"/>
              </a:spcAft>
              <a:buSzPct val="100000"/>
              <a:buChar char="•"/>
            </a:pPr>
            <a:r>
              <a:rPr lang="en-US" sz="1150" dirty="0">
                <a:solidFill>
                  <a:srgbClr val="3C4A50"/>
                </a:solidFill>
              </a:rPr>
              <a:t>Honest about the Phase 1 answer being wrong, rather than retrofitting it</a:t>
            </a:r>
            <a:endParaRPr lang="en-US" sz="1150" dirty="0"/>
          </a:p>
        </p:txBody>
      </p:sp>
      <p:sp>
        <p:nvSpPr>
          <p:cNvPr id="8" name="card"/>
          <p:cNvSpPr/>
          <p:nvPr/>
        </p:nvSpPr>
        <p:spPr>
          <a:xfrm>
            <a:off x="6199632" y="1143000"/>
            <a:ext cx="5394960" cy="4206240"/>
          </a:xfrm>
          <a:prstGeom prst="roundRect">
            <a:avLst>
              <a:gd name="adj" fmla="val 1304"/>
            </a:avLst>
          </a:prstGeom>
          <a:solidFill>
            <a:srgbClr val="FAF2F2"/>
          </a:solidFill>
          <a:ln w="9525">
            <a:solidFill>
              <a:srgbClr val="E8D4D4"/>
            </a:solidFill>
            <a:prstDash val="solid"/>
          </a:ln>
        </p:spPr>
      </p:sp>
      <p:sp>
        <p:nvSpPr>
          <p:cNvPr id="9" name="Shape 7"/>
          <p:cNvSpPr/>
          <p:nvPr/>
        </p:nvSpPr>
        <p:spPr>
          <a:xfrm>
            <a:off x="6473952" y="1371600"/>
            <a:ext cx="1828800" cy="329184"/>
          </a:xfrm>
          <a:prstGeom prst="roundRect">
            <a:avLst>
              <a:gd name="adj" fmla="val 27778"/>
            </a:avLst>
          </a:prstGeom>
          <a:solidFill>
            <a:srgbClr val="9C3A3A"/>
          </a:solidFill>
          <a:ln w="12700">
            <a:solidFill>
              <a:srgbClr val="9C3A3A"/>
            </a:solidFill>
            <a:prstDash val="solid"/>
          </a:ln>
        </p:spPr>
      </p:sp>
      <p:sp>
        <p:nvSpPr>
          <p:cNvPr id="10" name="Text 8"/>
          <p:cNvSpPr txBox="1"/>
          <p:nvPr/>
        </p:nvSpPr>
        <p:spPr>
          <a:xfrm>
            <a:off x="6473952" y="1371600"/>
            <a:ext cx="1828800" cy="329184"/>
          </a:xfrm>
          <a:prstGeom prst="rect">
            <a:avLst/>
          </a:prstGeom>
          <a:noFill/>
          <a:ln/>
        </p:spPr>
        <p:txBody>
          <a:bodyPr wrap="square" lIns="0" tIns="0" rIns="0" bIns="0" rtlCol="0" anchor="ctr"/>
          <a:lstStyle/>
          <a:p>
            <a:pPr algn="ctr" indent="0" marL="0">
              <a:buNone/>
            </a:pPr>
            <a:r>
              <a:rPr lang="en-US" sz="1050" b="1" spc="60" kern="0" dirty="0">
                <a:solidFill>
                  <a:srgbClr val="FFFFFF"/>
                </a:solidFill>
              </a:rPr>
              <a:t>WEAK RESPONSE</a:t>
            </a:r>
            <a:endParaRPr lang="en-US" sz="1050" dirty="0"/>
          </a:p>
        </p:txBody>
      </p:sp>
      <p:sp>
        <p:nvSpPr>
          <p:cNvPr id="11" name="Text 9"/>
          <p:cNvSpPr txBox="1"/>
          <p:nvPr/>
        </p:nvSpPr>
        <p:spPr>
          <a:xfrm>
            <a:off x="6473952" y="1828800"/>
            <a:ext cx="4846320" cy="1371600"/>
          </a:xfrm>
          <a:prstGeom prst="rect">
            <a:avLst/>
          </a:prstGeom>
          <a:noFill/>
          <a:ln/>
        </p:spPr>
        <p:txBody>
          <a:bodyPr wrap="square" lIns="0" tIns="0" rIns="0" bIns="0" rtlCol="0" anchor="t"/>
          <a:lstStyle/>
          <a:p>
            <a:pPr indent="0" marL="0">
              <a:lnSpc>
                <a:spcPts val="1600"/>
              </a:lnSpc>
              <a:buNone/>
            </a:pPr>
            <a:r>
              <a:rPr lang="en-US" sz="1200" i="1" dirty="0">
                <a:solidFill>
                  <a:srgbClr val="0E1A22"/>
                </a:solidFill>
              </a:rPr>
              <a:t>“The reverse DCF implies about 9.9% sales growth. Consensus has revenue growing 6%. Since the implied number is higher than consensus, the stock is pricing in more than analysts expect, so it is overvalued. My core debate is unchanged from Phase 1: can they sustain double-digit growth? I think the Phase 1 read still holds.”</a:t>
            </a:r>
            <a:endParaRPr lang="en-US" sz="1200" dirty="0"/>
          </a:p>
        </p:txBody>
      </p:sp>
      <p:sp>
        <p:nvSpPr>
          <p:cNvPr id="12" name="Text 10"/>
          <p:cNvSpPr txBox="1"/>
          <p:nvPr/>
        </p:nvSpPr>
        <p:spPr>
          <a:xfrm>
            <a:off x="6473952" y="3310128"/>
            <a:ext cx="4846320" cy="187452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dirty="0">
                <a:solidFill>
                  <a:srgbClr val="3C4A50"/>
                </a:solidFill>
              </a:rPr>
              <a:t>Collapsed the frontier to a single number and stopped there</a:t>
            </a:r>
            <a:endParaRPr lang="en-US" sz="1150" dirty="0"/>
          </a:p>
          <a:p>
            <a:pPr marL="342900" indent="-342900">
              <a:lnSpc>
                <a:spcPts val="1500"/>
              </a:lnSpc>
              <a:spcAft>
                <a:spcPts val="800"/>
              </a:spcAft>
              <a:buSzPct val="100000"/>
              <a:buChar char="•"/>
            </a:pPr>
            <a:r>
              <a:rPr lang="en-US" sz="1150" dirty="0">
                <a:solidFill>
                  <a:srgbClr val="3C4A50"/>
                </a:solidFill>
              </a:rPr>
              <a:t>Never varied margin or the investment rate, so never saw the trade-off</a:t>
            </a:r>
            <a:endParaRPr lang="en-US" sz="1150" dirty="0"/>
          </a:p>
          <a:p>
            <a:pPr marL="342900" indent="-342900">
              <a:lnSpc>
                <a:spcPts val="1500"/>
              </a:lnSpc>
              <a:spcAft>
                <a:spcPts val="800"/>
              </a:spcAft>
              <a:buSzPct val="100000"/>
              <a:buChar char="•"/>
            </a:pPr>
            <a:r>
              <a:rPr lang="en-US" sz="1150" dirty="0">
                <a:solidFill>
                  <a:srgbClr val="3C4A50"/>
                </a:solidFill>
              </a:rPr>
              <a:t>“Implied &gt; consensus, therefore overvalued” ignores that the market and the Street are different bars</a:t>
            </a:r>
            <a:endParaRPr lang="en-US" sz="1150" dirty="0"/>
          </a:p>
          <a:p>
            <a:pPr marL="342900" indent="-342900">
              <a:lnSpc>
                <a:spcPts val="1500"/>
              </a:lnSpc>
              <a:spcAft>
                <a:spcPts val="800"/>
              </a:spcAft>
              <a:buSzPct val="100000"/>
              <a:buChar char="•"/>
            </a:pPr>
            <a:r>
              <a:rPr lang="en-US" sz="1150" dirty="0">
                <a:solidFill>
                  <a:srgbClr val="3C4A50"/>
                </a:solidFill>
              </a:rPr>
              <a:t>Retrofitted Phase 1 as correct — the specific failure the lock exists to detect</a:t>
            </a:r>
            <a:endParaRPr lang="en-US" sz="1150" dirty="0"/>
          </a:p>
        </p:txBody>
      </p:sp>
      <p:sp>
        <p:nvSpPr>
          <p:cNvPr id="13" name="card"/>
          <p:cNvSpPr/>
          <p:nvPr/>
        </p:nvSpPr>
        <p:spPr>
          <a:xfrm>
            <a:off x="566928" y="5486400"/>
            <a:ext cx="11027664" cy="658368"/>
          </a:xfrm>
          <a:prstGeom prst="roundRect">
            <a:avLst>
              <a:gd name="adj" fmla="val 8333"/>
            </a:avLst>
          </a:prstGeom>
          <a:solidFill>
            <a:srgbClr val="F5F8F7"/>
          </a:solidFill>
          <a:ln w="9525">
            <a:solidFill>
              <a:srgbClr val="DCE5E2"/>
            </a:solidFill>
            <a:prstDash val="solid"/>
          </a:ln>
        </p:spPr>
      </p:sp>
      <p:sp>
        <p:nvSpPr>
          <p:cNvPr id="14" name="Text 12"/>
          <p:cNvSpPr txBox="1"/>
          <p:nvPr/>
        </p:nvSpPr>
        <p:spPr>
          <a:xfrm>
            <a:off x="841248" y="5614416"/>
            <a:ext cx="10515600" cy="457200"/>
          </a:xfrm>
          <a:prstGeom prst="rect">
            <a:avLst/>
          </a:prstGeom>
          <a:noFill/>
          <a:ln/>
        </p:spPr>
        <p:txBody>
          <a:bodyPr wrap="square" lIns="0" tIns="0" rIns="0" bIns="0" rtlCol="0" anchor="t"/>
          <a:lstStyle/>
          <a:p>
            <a:pPr indent="0" marL="0">
              <a:lnSpc>
                <a:spcPts val="1600"/>
              </a:lnSpc>
              <a:buNone/>
            </a:pPr>
            <a:r>
              <a:rPr lang="en-US" sz="1200" b="1" dirty="0">
                <a:solidFill>
                  <a:srgbClr val="3C4A50"/>
                </a:solidFill>
              </a:rPr>
              <a:t>The grader sees both submissions. </a:t>
            </a:r>
            <a:pPr indent="0" marL="0">
              <a:lnSpc>
                <a:spcPts val="1600"/>
              </a:lnSpc>
              <a:buNone/>
            </a:pPr>
            <a:r>
              <a:rPr lang="en-US" sz="1200" dirty="0">
                <a:solidFill>
                  <a:srgbClr val="3C4A50"/>
                </a:solidFill>
              </a:rPr>
              <a:t>It is explicitly instructed to detect retrofitting — the student who says “I was already right” when the record shows otherwise loses the intellectual-honesty marks, which are worth more than the arithmetic.</a:t>
            </a:r>
            <a:endParaRPr lang="en-US" sz="120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Case C — when the data itself is the lesson</a:t>
            </a:r>
            <a:endParaRPr lang="en-US" sz="2700" dirty="0"/>
          </a:p>
        </p:txBody>
      </p:sp>
      <p:sp>
        <p:nvSpPr>
          <p:cNvPr id="3" name="Shape 1"/>
          <p:cNvSpPr/>
          <p:nvPr/>
        </p:nvSpPr>
        <p:spPr>
          <a:xfrm>
            <a:off x="566928" y="1097280"/>
            <a:ext cx="384048" cy="384048"/>
          </a:xfrm>
          <a:prstGeom prst="roundRect">
            <a:avLst>
              <a:gd name="adj" fmla="val 28571"/>
            </a:avLst>
          </a:prstGeom>
          <a:solidFill>
            <a:srgbClr val="1A5F59"/>
          </a:solidFill>
          <a:ln w="12700">
            <a:solidFill>
              <a:srgbClr val="1A5F59"/>
            </a:solidFill>
            <a:prstDash val="solid"/>
          </a:ln>
        </p:spPr>
      </p:sp>
      <p:sp>
        <p:nvSpPr>
          <p:cNvPr id="4" name="Text 2"/>
          <p:cNvSpPr txBox="1"/>
          <p:nvPr/>
        </p:nvSpPr>
        <p:spPr>
          <a:xfrm>
            <a:off x="566928" y="1097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5" name="Text 3"/>
          <p:cNvSpPr txBox="1"/>
          <p:nvPr/>
        </p:nvSpPr>
        <p:spPr>
          <a:xfrm>
            <a:off x="1097280" y="1078992"/>
            <a:ext cx="8595360" cy="365760"/>
          </a:xfrm>
          <a:prstGeom prst="rect">
            <a:avLst/>
          </a:prstGeom>
          <a:noFill/>
          <a:ln/>
        </p:spPr>
        <p:txBody>
          <a:bodyPr wrap="square" lIns="0" tIns="0" rIns="0" bIns="0" rtlCol="0" anchor="ctr"/>
          <a:lstStyle/>
          <a:p>
            <a:pPr indent="0" marL="0">
              <a:buNone/>
            </a:pPr>
            <a:r>
              <a:rPr lang="en-US" sz="1700" b="1" dirty="0">
                <a:solidFill>
                  <a:srgbClr val="0E1A22"/>
                </a:solidFill>
                <a:latin typeface="Cambria" pitchFamily="34" charset="0"/>
                <a:ea typeface="Cambria" pitchFamily="34" charset="-122"/>
                <a:cs typeface="Cambria" pitchFamily="34" charset="-120"/>
              </a:rPr>
              <a:t>The numbers you were never shown</a:t>
            </a:r>
            <a:endParaRPr lang="en-US" sz="1700" dirty="0"/>
          </a:p>
        </p:txBody>
      </p:sp>
      <p:sp>
        <p:nvSpPr>
          <p:cNvPr id="6" name="Text 4"/>
          <p:cNvSpPr txBox="1"/>
          <p:nvPr/>
        </p:nvSpPr>
        <p:spPr>
          <a:xfrm>
            <a:off x="1097280" y="1426464"/>
            <a:ext cx="10424160" cy="274320"/>
          </a:xfrm>
          <a:prstGeom prst="rect">
            <a:avLst/>
          </a:prstGeom>
          <a:noFill/>
          <a:ln/>
        </p:spPr>
        <p:txBody>
          <a:bodyPr wrap="square" lIns="0" tIns="0" rIns="0" bIns="0" rtlCol="0" anchor="ctr"/>
          <a:lstStyle/>
          <a:p>
            <a:pPr indent="0" marL="0">
              <a:buNone/>
            </a:pPr>
            <a:r>
              <a:rPr lang="en-US" sz="1150" dirty="0">
                <a:solidFill>
                  <a:srgbClr val="5B6B78"/>
                </a:solidFill>
              </a:rPr>
              <a:t>Serves Modules 07, 06 and 08  ·  Envista Holdings, CIK 1757073 — already present in the tested data</a:t>
            </a:r>
            <a:endParaRPr lang="en-US" sz="1150" dirty="0"/>
          </a:p>
        </p:txBody>
      </p:sp>
      <p:sp>
        <p:nvSpPr>
          <p:cNvPr id="7" name="Text 5"/>
          <p:cNvSpPr txBox="1"/>
          <p:nvPr/>
        </p:nvSpPr>
        <p:spPr>
          <a:xfrm>
            <a:off x="566928" y="1828800"/>
            <a:ext cx="5486400" cy="237744"/>
          </a:xfrm>
          <a:prstGeom prst="rect">
            <a:avLst/>
          </a:prstGeom>
          <a:noFill/>
          <a:ln/>
        </p:spPr>
        <p:txBody>
          <a:bodyPr wrap="square" lIns="0" tIns="0" rIns="0" bIns="0" rtlCol="0" anchor="ctr"/>
          <a:lstStyle/>
          <a:p>
            <a:pPr indent="0" marL="0">
              <a:buNone/>
            </a:pPr>
            <a:r>
              <a:rPr lang="en-US" sz="1000" b="1" spc="120" kern="0" dirty="0">
                <a:solidFill>
                  <a:srgbClr val="5B6B78"/>
                </a:solidFill>
              </a:rPr>
              <a:t>HALF 1 — T = 30 JUNE 2021</a:t>
            </a:r>
            <a:endParaRPr lang="en-US" sz="1000" dirty="0"/>
          </a:p>
        </p:txBody>
      </p:sp>
      <p:sp>
        <p:nvSpPr>
          <p:cNvPr id="8" name="card"/>
          <p:cNvSpPr/>
          <p:nvPr/>
        </p:nvSpPr>
        <p:spPr>
          <a:xfrm>
            <a:off x="566928" y="2103120"/>
            <a:ext cx="5486400" cy="1417320"/>
          </a:xfrm>
          <a:prstGeom prst="roundRect">
            <a:avLst>
              <a:gd name="adj" fmla="val 3871"/>
            </a:avLst>
          </a:prstGeom>
          <a:solidFill>
            <a:srgbClr val="F5F8F7"/>
          </a:solidFill>
          <a:ln w="9525">
            <a:solidFill>
              <a:srgbClr val="DCE5E2"/>
            </a:solidFill>
            <a:prstDash val="solid"/>
          </a:ln>
        </p:spPr>
      </p:sp>
      <p:sp>
        <p:nvSpPr>
          <p:cNvPr id="9" name="Text 7"/>
          <p:cNvSpPr txBox="1"/>
          <p:nvPr/>
        </p:nvSpPr>
        <p:spPr>
          <a:xfrm>
            <a:off x="804672" y="2267712"/>
            <a:ext cx="5029200" cy="1143000"/>
          </a:xfrm>
          <a:prstGeom prst="rect">
            <a:avLst/>
          </a:prstGeom>
          <a:noFill/>
          <a:ln/>
        </p:spPr>
        <p:txBody>
          <a:bodyPr wrap="square" lIns="0" tIns="0" rIns="0" bIns="0" rtlCol="0" anchor="t"/>
          <a:lstStyle/>
          <a:p>
            <a:pPr indent="0" marL="0">
              <a:lnSpc>
                <a:spcPts val="1500"/>
              </a:lnSpc>
              <a:buNone/>
            </a:pPr>
            <a:r>
              <a:rPr lang="en-US" sz="1150" dirty="0">
                <a:solidFill>
                  <a:srgbClr val="3C4A50"/>
                </a:solidFill>
              </a:rPr>
              <a:t>The student receives Envista's as-filed financials and is asked for the three-year revenue trajectory, the growth algorithm, and a view.
</a:t>
            </a:r>
            <a:pPr indent="0" marL="0">
              <a:lnSpc>
                <a:spcPts val="1500"/>
              </a:lnSpc>
              <a:buNone/>
            </a:pPr>
            <a:r>
              <a:rPr lang="en-US" sz="1150" b="1" dirty="0">
                <a:solidFill>
                  <a:srgbClr val="3C4A50"/>
                </a:solidFill>
              </a:rPr>
              <a:t>The record at T shows FY2017 $2.8109bn, FY2018 $2.8445bn, FY2019 $2.7516bn</a:t>
            </a:r>
            <a:pPr indent="0" marL="0">
              <a:lnSpc>
                <a:spcPts val="1500"/>
              </a:lnSpc>
              <a:buNone/>
            </a:pPr>
            <a:r>
              <a:rPr lang="en-US" sz="1150" dirty="0">
                <a:solidFill>
                  <a:srgbClr val="3C4A50"/>
                </a:solidFill>
              </a:rPr>
              <a:t> — a business flat to declining around $2.8bn.</a:t>
            </a:r>
            <a:endParaRPr lang="en-US" sz="1150" dirty="0"/>
          </a:p>
        </p:txBody>
      </p:sp>
      <p:sp>
        <p:nvSpPr>
          <p:cNvPr id="10" name="Text 8"/>
          <p:cNvSpPr txBox="1"/>
          <p:nvPr/>
        </p:nvSpPr>
        <p:spPr>
          <a:xfrm>
            <a:off x="6309360" y="1828800"/>
            <a:ext cx="5486400" cy="237744"/>
          </a:xfrm>
          <a:prstGeom prst="rect">
            <a:avLst/>
          </a:prstGeom>
          <a:noFill/>
          <a:ln/>
        </p:spPr>
        <p:txBody>
          <a:bodyPr wrap="square" lIns="0" tIns="0" rIns="0" bIns="0" rtlCol="0" anchor="ctr"/>
          <a:lstStyle/>
          <a:p>
            <a:pPr indent="0" marL="0">
              <a:buNone/>
            </a:pPr>
            <a:r>
              <a:rPr lang="en-US" sz="1000" b="1" spc="120" kern="0" dirty="0">
                <a:solidFill>
                  <a:srgbClr val="5B6B78"/>
                </a:solidFill>
              </a:rPr>
              <a:t>HALF 2 — THE SAME PERIODS, TODAY'S RECORD</a:t>
            </a:r>
            <a:endParaRPr lang="en-US" sz="1000" dirty="0"/>
          </a:p>
        </p:txBody>
      </p:sp>
      <p:sp>
        <p:nvSpPr>
          <p:cNvPr id="11" name="card"/>
          <p:cNvSpPr/>
          <p:nvPr/>
        </p:nvSpPr>
        <p:spPr>
          <a:xfrm>
            <a:off x="6309360" y="2103120"/>
            <a:ext cx="5285232" cy="1417320"/>
          </a:xfrm>
          <a:prstGeom prst="roundRect">
            <a:avLst>
              <a:gd name="adj" fmla="val 3871"/>
            </a:avLst>
          </a:prstGeom>
          <a:solidFill>
            <a:srgbClr val="FAF2F2"/>
          </a:solidFill>
          <a:ln w="9525">
            <a:solidFill>
              <a:srgbClr val="E8D4D4"/>
            </a:solidFill>
            <a:prstDash val="solid"/>
          </a:ln>
        </p:spPr>
      </p:sp>
      <p:sp>
        <p:nvSpPr>
          <p:cNvPr id="12" name="Text 10"/>
          <p:cNvSpPr txBox="1"/>
          <p:nvPr/>
        </p:nvSpPr>
        <p:spPr>
          <a:xfrm>
            <a:off x="6547104" y="2267712"/>
            <a:ext cx="4846320" cy="1143000"/>
          </a:xfrm>
          <a:prstGeom prst="rect">
            <a:avLst/>
          </a:prstGeom>
          <a:noFill/>
          <a:ln/>
        </p:spPr>
        <p:txBody>
          <a:bodyPr wrap="square" lIns="0" tIns="0" rIns="0" bIns="0" rtlCol="0" anchor="t"/>
          <a:lstStyle/>
          <a:p>
            <a:pPr indent="0" marL="0">
              <a:lnSpc>
                <a:spcPts val="1500"/>
              </a:lnSpc>
              <a:buNone/>
            </a:pPr>
            <a:r>
              <a:rPr lang="en-US" sz="1150" dirty="0">
                <a:solidFill>
                  <a:srgbClr val="5A3A3A"/>
                </a:solidFill>
              </a:rPr>
              <a:t>They are then shown the current figures: </a:t>
            </a:r>
            <a:pPr indent="0" marL="0">
              <a:lnSpc>
                <a:spcPts val="1500"/>
              </a:lnSpc>
              <a:buNone/>
            </a:pPr>
            <a:r>
              <a:rPr lang="en-US" sz="1150" b="1" dirty="0">
                <a:solidFill>
                  <a:srgbClr val="5A3A3A"/>
                </a:solidFill>
              </a:rPr>
              <a:t>FY2019 $2.2848bn, FY2020 $1.9291bn</a:t>
            </a:r>
            <a:pPr indent="0" marL="0">
              <a:lnSpc>
                <a:spcPts val="1500"/>
              </a:lnSpc>
              <a:buNone/>
            </a:pPr>
            <a:r>
              <a:rPr lang="en-US" sz="1150" dirty="0">
                <a:solidFill>
                  <a:srgbClr val="5A3A3A"/>
                </a:solidFill>
              </a:rPr>
              <a:t> — 17.0% and 15.5% lower than what an analyst saw at the time, after a discontinued-operations reclassification the filings describe.</a:t>
            </a:r>
            <a:endParaRPr lang="en-US" sz="1150" dirty="0"/>
          </a:p>
        </p:txBody>
      </p:sp>
      <p:sp>
        <p:nvSpPr>
          <p:cNvPr id="13" name="Text 11"/>
          <p:cNvSpPr txBox="1"/>
          <p:nvPr/>
        </p:nvSpPr>
        <p:spPr>
          <a:xfrm>
            <a:off x="566928" y="3657600"/>
            <a:ext cx="7315200" cy="237744"/>
          </a:xfrm>
          <a:prstGeom prst="rect">
            <a:avLst/>
          </a:prstGeom>
          <a:noFill/>
          <a:ln/>
        </p:spPr>
        <p:txBody>
          <a:bodyPr wrap="square" lIns="0" tIns="0" rIns="0" bIns="0" rtlCol="0" anchor="ctr"/>
          <a:lstStyle/>
          <a:p>
            <a:pPr indent="0" marL="0">
              <a:buNone/>
            </a:pPr>
            <a:r>
              <a:rPr lang="en-US" sz="1000" b="1" spc="120" kern="0" dirty="0">
                <a:solidFill>
                  <a:srgbClr val="5B6B78"/>
                </a:solidFill>
              </a:rPr>
              <a:t>THE TASK, AND HOW IT IS GRADED</a:t>
            </a:r>
            <a:endParaRPr lang="en-US" sz="1000" dirty="0"/>
          </a:p>
        </p:txBody>
      </p:sp>
      <p:sp>
        <p:nvSpPr>
          <p:cNvPr id="14" name="card"/>
          <p:cNvSpPr/>
          <p:nvPr/>
        </p:nvSpPr>
        <p:spPr>
          <a:xfrm>
            <a:off x="566928" y="3950208"/>
            <a:ext cx="11027664" cy="402336"/>
          </a:xfrm>
          <a:prstGeom prst="roundRect">
            <a:avLst>
              <a:gd name="adj" fmla="val 13636"/>
            </a:avLst>
          </a:prstGeom>
          <a:solidFill>
            <a:srgbClr val="FFFFFF"/>
          </a:solidFill>
          <a:ln w="9525">
            <a:solidFill>
              <a:srgbClr val="E2E8E6"/>
            </a:solidFill>
            <a:prstDash val="solid"/>
          </a:ln>
        </p:spPr>
      </p:sp>
      <p:sp>
        <p:nvSpPr>
          <p:cNvPr id="15" name="Text 13"/>
          <p:cNvSpPr txBox="1"/>
          <p:nvPr/>
        </p:nvSpPr>
        <p:spPr>
          <a:xfrm>
            <a:off x="749808" y="3968496"/>
            <a:ext cx="1188720" cy="365760"/>
          </a:xfrm>
          <a:prstGeom prst="rect">
            <a:avLst/>
          </a:prstGeom>
          <a:noFill/>
          <a:ln/>
        </p:spPr>
        <p:txBody>
          <a:bodyPr wrap="square" lIns="0" tIns="0" rIns="0" bIns="0" rtlCol="0" anchor="ctr"/>
          <a:lstStyle/>
          <a:p>
            <a:pPr indent="0" marL="0">
              <a:buNone/>
            </a:pPr>
            <a:r>
              <a:rPr lang="en-US" sz="1150" b="1" dirty="0">
                <a:solidFill>
                  <a:srgbClr val="1A5F59"/>
                </a:solidFill>
              </a:rPr>
              <a:t>Identify</a:t>
            </a:r>
            <a:endParaRPr lang="en-US" sz="1150" dirty="0"/>
          </a:p>
        </p:txBody>
      </p:sp>
      <p:sp>
        <p:nvSpPr>
          <p:cNvPr id="16" name="Text 14"/>
          <p:cNvSpPr txBox="1"/>
          <p:nvPr/>
        </p:nvSpPr>
        <p:spPr>
          <a:xfrm>
            <a:off x="1984248" y="3968496"/>
            <a:ext cx="7680960" cy="365760"/>
          </a:xfrm>
          <a:prstGeom prst="rect">
            <a:avLst/>
          </a:prstGeom>
          <a:noFill/>
          <a:ln/>
        </p:spPr>
        <p:txBody>
          <a:bodyPr wrap="square" lIns="0" tIns="0" rIns="0" bIns="0" rtlCol="0" anchor="ctr"/>
          <a:lstStyle/>
          <a:p>
            <a:pPr indent="0" marL="0">
              <a:buNone/>
            </a:pPr>
            <a:r>
              <a:rPr lang="en-US" sz="1100" dirty="0">
                <a:solidFill>
                  <a:srgbClr val="3C4A50"/>
                </a:solidFill>
              </a:rPr>
              <a:t>What happened, from the filings — not from a guess</a:t>
            </a:r>
            <a:endParaRPr lang="en-US" sz="1100" dirty="0"/>
          </a:p>
        </p:txBody>
      </p:sp>
      <p:sp>
        <p:nvSpPr>
          <p:cNvPr id="17" name="Text 15"/>
          <p:cNvSpPr txBox="1"/>
          <p:nvPr/>
        </p:nvSpPr>
        <p:spPr>
          <a:xfrm>
            <a:off x="9802368" y="3968496"/>
            <a:ext cx="1645920" cy="365760"/>
          </a:xfrm>
          <a:prstGeom prst="rect">
            <a:avLst/>
          </a:prstGeom>
          <a:noFill/>
          <a:ln/>
        </p:spPr>
        <p:txBody>
          <a:bodyPr wrap="square" lIns="0" tIns="0" rIns="0" bIns="0" rtlCol="0" anchor="ctr"/>
          <a:lstStyle/>
          <a:p>
            <a:pPr algn="r" indent="0" marL="0">
              <a:buNone/>
            </a:pPr>
            <a:r>
              <a:rPr lang="en-US" sz="950" dirty="0">
                <a:solidFill>
                  <a:srgbClr val="5B6B78"/>
                </a:solidFill>
              </a:rPr>
              <a:t>Auto</a:t>
            </a:r>
            <a:endParaRPr lang="en-US" sz="950" dirty="0"/>
          </a:p>
        </p:txBody>
      </p:sp>
      <p:sp>
        <p:nvSpPr>
          <p:cNvPr id="18" name="card"/>
          <p:cNvSpPr/>
          <p:nvPr/>
        </p:nvSpPr>
        <p:spPr>
          <a:xfrm>
            <a:off x="566928" y="4425696"/>
            <a:ext cx="11027664" cy="402336"/>
          </a:xfrm>
          <a:prstGeom prst="roundRect">
            <a:avLst>
              <a:gd name="adj" fmla="val 13636"/>
            </a:avLst>
          </a:prstGeom>
          <a:solidFill>
            <a:srgbClr val="F7FAF9"/>
          </a:solidFill>
          <a:ln w="9525">
            <a:solidFill>
              <a:srgbClr val="E2E8E6"/>
            </a:solidFill>
            <a:prstDash val="solid"/>
          </a:ln>
        </p:spPr>
      </p:sp>
      <p:sp>
        <p:nvSpPr>
          <p:cNvPr id="19" name="Text 17"/>
          <p:cNvSpPr txBox="1"/>
          <p:nvPr/>
        </p:nvSpPr>
        <p:spPr>
          <a:xfrm>
            <a:off x="749808" y="4443984"/>
            <a:ext cx="1188720" cy="365760"/>
          </a:xfrm>
          <a:prstGeom prst="rect">
            <a:avLst/>
          </a:prstGeom>
          <a:noFill/>
          <a:ln/>
        </p:spPr>
        <p:txBody>
          <a:bodyPr wrap="square" lIns="0" tIns="0" rIns="0" bIns="0" rtlCol="0" anchor="ctr"/>
          <a:lstStyle/>
          <a:p>
            <a:pPr indent="0" marL="0">
              <a:buNone/>
            </a:pPr>
            <a:r>
              <a:rPr lang="en-US" sz="1150" b="1" dirty="0">
                <a:solidFill>
                  <a:srgbClr val="1A5F59"/>
                </a:solidFill>
              </a:rPr>
              <a:t>Recompute</a:t>
            </a:r>
            <a:endParaRPr lang="en-US" sz="1150" dirty="0"/>
          </a:p>
        </p:txBody>
      </p:sp>
      <p:sp>
        <p:nvSpPr>
          <p:cNvPr id="20" name="Text 18"/>
          <p:cNvSpPr txBox="1"/>
          <p:nvPr/>
        </p:nvSpPr>
        <p:spPr>
          <a:xfrm>
            <a:off x="1984248" y="4443984"/>
            <a:ext cx="7680960" cy="365760"/>
          </a:xfrm>
          <a:prstGeom prst="rect">
            <a:avLst/>
          </a:prstGeom>
          <a:noFill/>
          <a:ln/>
        </p:spPr>
        <p:txBody>
          <a:bodyPr wrap="square" lIns="0" tIns="0" rIns="0" bIns="0" rtlCol="0" anchor="ctr"/>
          <a:lstStyle/>
          <a:p>
            <a:pPr indent="0" marL="0">
              <a:buNone/>
            </a:pPr>
            <a:r>
              <a:rPr lang="en-US" sz="1100" dirty="0">
                <a:solidFill>
                  <a:srgbClr val="3C4A50"/>
                </a:solidFill>
              </a:rPr>
              <a:t>Every growth rate and margin on the restated basis</a:t>
            </a:r>
            <a:endParaRPr lang="en-US" sz="1100" dirty="0"/>
          </a:p>
        </p:txBody>
      </p:sp>
      <p:sp>
        <p:nvSpPr>
          <p:cNvPr id="21" name="Text 19"/>
          <p:cNvSpPr txBox="1"/>
          <p:nvPr/>
        </p:nvSpPr>
        <p:spPr>
          <a:xfrm>
            <a:off x="9802368" y="4443984"/>
            <a:ext cx="1645920" cy="365760"/>
          </a:xfrm>
          <a:prstGeom prst="rect">
            <a:avLst/>
          </a:prstGeom>
          <a:noFill/>
          <a:ln/>
        </p:spPr>
        <p:txBody>
          <a:bodyPr wrap="square" lIns="0" tIns="0" rIns="0" bIns="0" rtlCol="0" anchor="ctr"/>
          <a:lstStyle/>
          <a:p>
            <a:pPr algn="r" indent="0" marL="0">
              <a:buNone/>
            </a:pPr>
            <a:r>
              <a:rPr lang="en-US" sz="950" dirty="0">
                <a:solidFill>
                  <a:srgbClr val="5B6B78"/>
                </a:solidFill>
              </a:rPr>
              <a:t>Auto, tolerance 1e-3</a:t>
            </a:r>
            <a:endParaRPr lang="en-US" sz="950" dirty="0"/>
          </a:p>
        </p:txBody>
      </p:sp>
      <p:sp>
        <p:nvSpPr>
          <p:cNvPr id="22" name="card"/>
          <p:cNvSpPr/>
          <p:nvPr/>
        </p:nvSpPr>
        <p:spPr>
          <a:xfrm>
            <a:off x="566928" y="4901184"/>
            <a:ext cx="11027664" cy="402336"/>
          </a:xfrm>
          <a:prstGeom prst="roundRect">
            <a:avLst>
              <a:gd name="adj" fmla="val 13636"/>
            </a:avLst>
          </a:prstGeom>
          <a:solidFill>
            <a:srgbClr val="FFFFFF"/>
          </a:solidFill>
          <a:ln w="9525">
            <a:solidFill>
              <a:srgbClr val="E2E8E6"/>
            </a:solidFill>
            <a:prstDash val="solid"/>
          </a:ln>
        </p:spPr>
      </p:sp>
      <p:sp>
        <p:nvSpPr>
          <p:cNvPr id="23" name="Text 21"/>
          <p:cNvSpPr txBox="1"/>
          <p:nvPr/>
        </p:nvSpPr>
        <p:spPr>
          <a:xfrm>
            <a:off x="749808" y="4919472"/>
            <a:ext cx="1188720" cy="365760"/>
          </a:xfrm>
          <a:prstGeom prst="rect">
            <a:avLst/>
          </a:prstGeom>
          <a:noFill/>
          <a:ln/>
        </p:spPr>
        <p:txBody>
          <a:bodyPr wrap="square" lIns="0" tIns="0" rIns="0" bIns="0" rtlCol="0" anchor="ctr"/>
          <a:lstStyle/>
          <a:p>
            <a:pPr indent="0" marL="0">
              <a:buNone/>
            </a:pPr>
            <a:r>
              <a:rPr lang="en-US" sz="1150" b="1" dirty="0">
                <a:solidFill>
                  <a:srgbClr val="1A5F59"/>
                </a:solidFill>
              </a:rPr>
              <a:t>Decide</a:t>
            </a:r>
            <a:endParaRPr lang="en-US" sz="1150" dirty="0"/>
          </a:p>
        </p:txBody>
      </p:sp>
      <p:sp>
        <p:nvSpPr>
          <p:cNvPr id="24" name="Text 22"/>
          <p:cNvSpPr txBox="1"/>
          <p:nvPr/>
        </p:nvSpPr>
        <p:spPr>
          <a:xfrm>
            <a:off x="1984248" y="4919472"/>
            <a:ext cx="7680960" cy="365760"/>
          </a:xfrm>
          <a:prstGeom prst="rect">
            <a:avLst/>
          </a:prstGeom>
          <a:noFill/>
          <a:ln/>
        </p:spPr>
        <p:txBody>
          <a:bodyPr wrap="square" lIns="0" tIns="0" rIns="0" bIns="0" rtlCol="0" anchor="ctr"/>
          <a:lstStyle/>
          <a:p>
            <a:pPr indent="0" marL="0">
              <a:buNone/>
            </a:pPr>
            <a:r>
              <a:rPr lang="en-US" sz="1100" dirty="0">
                <a:solidFill>
                  <a:srgbClr val="3C4A50"/>
                </a:solidFill>
              </a:rPr>
              <a:t>Which basis a comp sheet should use, and what that does to a multiple built on the other</a:t>
            </a:r>
            <a:endParaRPr lang="en-US" sz="1100" dirty="0"/>
          </a:p>
        </p:txBody>
      </p:sp>
      <p:sp>
        <p:nvSpPr>
          <p:cNvPr id="25" name="Text 23"/>
          <p:cNvSpPr txBox="1"/>
          <p:nvPr/>
        </p:nvSpPr>
        <p:spPr>
          <a:xfrm>
            <a:off x="9802368" y="4919472"/>
            <a:ext cx="1645920" cy="365760"/>
          </a:xfrm>
          <a:prstGeom prst="rect">
            <a:avLst/>
          </a:prstGeom>
          <a:noFill/>
          <a:ln/>
        </p:spPr>
        <p:txBody>
          <a:bodyPr wrap="square" lIns="0" tIns="0" rIns="0" bIns="0" rtlCol="0" anchor="ctr"/>
          <a:lstStyle/>
          <a:p>
            <a:pPr algn="r" indent="0" marL="0">
              <a:buNone/>
            </a:pPr>
            <a:r>
              <a:rPr lang="en-US" sz="950" dirty="0">
                <a:solidFill>
                  <a:srgbClr val="5B6B78"/>
                </a:solidFill>
              </a:rPr>
              <a:t>Rubric</a:t>
            </a:r>
            <a:endParaRPr lang="en-US" sz="950" dirty="0"/>
          </a:p>
        </p:txBody>
      </p:sp>
      <p:sp>
        <p:nvSpPr>
          <p:cNvPr id="26" name="card"/>
          <p:cNvSpPr/>
          <p:nvPr/>
        </p:nvSpPr>
        <p:spPr>
          <a:xfrm>
            <a:off x="566928" y="5376672"/>
            <a:ext cx="11027664" cy="402336"/>
          </a:xfrm>
          <a:prstGeom prst="roundRect">
            <a:avLst>
              <a:gd name="adj" fmla="val 13636"/>
            </a:avLst>
          </a:prstGeom>
          <a:solidFill>
            <a:srgbClr val="F7FAF9"/>
          </a:solidFill>
          <a:ln w="9525">
            <a:solidFill>
              <a:srgbClr val="E2E8E6"/>
            </a:solidFill>
            <a:prstDash val="solid"/>
          </a:ln>
        </p:spPr>
      </p:sp>
      <p:sp>
        <p:nvSpPr>
          <p:cNvPr id="27" name="Text 25"/>
          <p:cNvSpPr txBox="1"/>
          <p:nvPr/>
        </p:nvSpPr>
        <p:spPr>
          <a:xfrm>
            <a:off x="749808" y="5394960"/>
            <a:ext cx="1188720" cy="365760"/>
          </a:xfrm>
          <a:prstGeom prst="rect">
            <a:avLst/>
          </a:prstGeom>
          <a:noFill/>
          <a:ln/>
        </p:spPr>
        <p:txBody>
          <a:bodyPr wrap="square" lIns="0" tIns="0" rIns="0" bIns="0" rtlCol="0" anchor="ctr"/>
          <a:lstStyle/>
          <a:p>
            <a:pPr indent="0" marL="0">
              <a:buNone/>
            </a:pPr>
            <a:r>
              <a:rPr lang="en-US" sz="1150" b="1" dirty="0">
                <a:solidFill>
                  <a:srgbClr val="1A5F59"/>
                </a:solidFill>
              </a:rPr>
              <a:t>Generalise</a:t>
            </a:r>
            <a:endParaRPr lang="en-US" sz="1150" dirty="0"/>
          </a:p>
        </p:txBody>
      </p:sp>
      <p:sp>
        <p:nvSpPr>
          <p:cNvPr id="28" name="Text 26"/>
          <p:cNvSpPr txBox="1"/>
          <p:nvPr/>
        </p:nvSpPr>
        <p:spPr>
          <a:xfrm>
            <a:off x="1984248" y="5394960"/>
            <a:ext cx="7680960" cy="365760"/>
          </a:xfrm>
          <a:prstGeom prst="rect">
            <a:avLst/>
          </a:prstGeom>
          <a:noFill/>
          <a:ln/>
        </p:spPr>
        <p:txBody>
          <a:bodyPr wrap="square" lIns="0" tIns="0" rIns="0" bIns="0" rtlCol="0" anchor="ctr"/>
          <a:lstStyle/>
          <a:p>
            <a:pPr indent="0" marL="0">
              <a:buNone/>
            </a:pPr>
            <a:r>
              <a:rPr lang="en-US" sz="1100" dirty="0">
                <a:solidFill>
                  <a:srgbClr val="3C4A50"/>
                </a:solidFill>
              </a:rPr>
              <a:t>200 words on what this implies for any screen, backtest or comp sheet built from a current database</a:t>
            </a:r>
            <a:endParaRPr lang="en-US" sz="1100" dirty="0"/>
          </a:p>
        </p:txBody>
      </p:sp>
      <p:sp>
        <p:nvSpPr>
          <p:cNvPr id="29" name="Text 27"/>
          <p:cNvSpPr txBox="1"/>
          <p:nvPr/>
        </p:nvSpPr>
        <p:spPr>
          <a:xfrm>
            <a:off x="9802368" y="5394960"/>
            <a:ext cx="1645920" cy="365760"/>
          </a:xfrm>
          <a:prstGeom prst="rect">
            <a:avLst/>
          </a:prstGeom>
          <a:noFill/>
          <a:ln/>
        </p:spPr>
        <p:txBody>
          <a:bodyPr wrap="square" lIns="0" tIns="0" rIns="0" bIns="0" rtlCol="0" anchor="ctr"/>
          <a:lstStyle/>
          <a:p>
            <a:pPr algn="r" indent="0" marL="0">
              <a:buNone/>
            </a:pPr>
            <a:r>
              <a:rPr lang="en-US" sz="950" dirty="0">
                <a:solidFill>
                  <a:srgbClr val="5B6B78"/>
                </a:solidFill>
              </a:rPr>
              <a:t>Rubric</a:t>
            </a:r>
            <a:endParaRPr lang="en-US" sz="950" dirty="0"/>
          </a:p>
        </p:txBody>
      </p:sp>
      <p:sp>
        <p:nvSpPr>
          <p:cNvPr id="30" name="Text 28"/>
          <p:cNvSpPr txBox="1"/>
          <p:nvPr/>
        </p:nvSpPr>
        <p:spPr>
          <a:xfrm>
            <a:off x="566928" y="5925312"/>
            <a:ext cx="11027664" cy="365760"/>
          </a:xfrm>
          <a:prstGeom prst="rect">
            <a:avLst/>
          </a:prstGeom>
          <a:noFill/>
          <a:ln/>
        </p:spPr>
        <p:txBody>
          <a:bodyPr wrap="square" lIns="0" tIns="0" rIns="0" bIns="0" rtlCol="0" anchor="ctr"/>
          <a:lstStyle/>
          <a:p>
            <a:pPr indent="0" marL="0">
              <a:buNone/>
            </a:pPr>
            <a:r>
              <a:rPr lang="en-US" sz="1250" b="1" i="1" dirty="0">
                <a:solidFill>
                  <a:srgbClr val="0E1A22"/>
                </a:solidFill>
              </a:rPr>
              <a:t>Full credit requires the student to state that both figures are correct answers to different questions — and to say which question a comp sheet is asking.</a:t>
            </a:r>
            <a:endParaRPr lang="en-US" sz="125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Case C — the answers, and why this case exists</a:t>
            </a:r>
            <a:endParaRPr lang="en-US" sz="2700" dirty="0"/>
          </a:p>
        </p:txBody>
      </p:sp>
      <p:sp>
        <p:nvSpPr>
          <p:cNvPr id="3" name="card"/>
          <p:cNvSpPr/>
          <p:nvPr/>
        </p:nvSpPr>
        <p:spPr>
          <a:xfrm>
            <a:off x="566928" y="1143000"/>
            <a:ext cx="5394960" cy="4206240"/>
          </a:xfrm>
          <a:prstGeom prst="roundRect">
            <a:avLst>
              <a:gd name="adj" fmla="val 1304"/>
            </a:avLst>
          </a:prstGeom>
          <a:solidFill>
            <a:srgbClr val="EEF4F0"/>
          </a:solidFill>
          <a:ln w="9525">
            <a:solidFill>
              <a:srgbClr val="CFE0D6"/>
            </a:solidFill>
            <a:prstDash val="solid"/>
          </a:ln>
        </p:spPr>
      </p:sp>
      <p:sp>
        <p:nvSpPr>
          <p:cNvPr id="4" name="Shape 2"/>
          <p:cNvSpPr/>
          <p:nvPr/>
        </p:nvSpPr>
        <p:spPr>
          <a:xfrm>
            <a:off x="841248" y="1371600"/>
            <a:ext cx="1828800" cy="329184"/>
          </a:xfrm>
          <a:prstGeom prst="roundRect">
            <a:avLst>
              <a:gd name="adj" fmla="val 27778"/>
            </a:avLst>
          </a:prstGeom>
          <a:solidFill>
            <a:srgbClr val="2F6B45"/>
          </a:solidFill>
          <a:ln w="12700">
            <a:solidFill>
              <a:srgbClr val="2F6B45"/>
            </a:solidFill>
            <a:prstDash val="solid"/>
          </a:ln>
        </p:spPr>
      </p:sp>
      <p:sp>
        <p:nvSpPr>
          <p:cNvPr id="5" name="Text 3"/>
          <p:cNvSpPr txBox="1"/>
          <p:nvPr/>
        </p:nvSpPr>
        <p:spPr>
          <a:xfrm>
            <a:off x="841248" y="1371600"/>
            <a:ext cx="1828800" cy="329184"/>
          </a:xfrm>
          <a:prstGeom prst="rect">
            <a:avLst/>
          </a:prstGeom>
          <a:noFill/>
          <a:ln/>
        </p:spPr>
        <p:txBody>
          <a:bodyPr wrap="square" lIns="0" tIns="0" rIns="0" bIns="0" rtlCol="0" anchor="ctr"/>
          <a:lstStyle/>
          <a:p>
            <a:pPr algn="ctr" indent="0" marL="0">
              <a:buNone/>
            </a:pPr>
            <a:r>
              <a:rPr lang="en-US" sz="1050" b="1" spc="60" kern="0" dirty="0">
                <a:solidFill>
                  <a:srgbClr val="FFFFFF"/>
                </a:solidFill>
              </a:rPr>
              <a:t>STRONG RESPONSE</a:t>
            </a:r>
            <a:endParaRPr lang="en-US" sz="1050" dirty="0"/>
          </a:p>
        </p:txBody>
      </p:sp>
      <p:sp>
        <p:nvSpPr>
          <p:cNvPr id="6" name="Text 4"/>
          <p:cNvSpPr txBox="1"/>
          <p:nvPr/>
        </p:nvSpPr>
        <p:spPr>
          <a:xfrm>
            <a:off x="841248" y="1828800"/>
            <a:ext cx="4846320" cy="1371600"/>
          </a:xfrm>
          <a:prstGeom prst="rect">
            <a:avLst/>
          </a:prstGeom>
          <a:noFill/>
          <a:ln/>
        </p:spPr>
        <p:txBody>
          <a:bodyPr wrap="square" lIns="0" tIns="0" rIns="0" bIns="0" rtlCol="0" anchor="t"/>
          <a:lstStyle/>
          <a:p>
            <a:pPr indent="0" marL="0">
              <a:lnSpc>
                <a:spcPts val="1600"/>
              </a:lnSpc>
              <a:buNone/>
            </a:pPr>
            <a:r>
              <a:rPr lang="en-US" sz="1200" i="1" dirty="0">
                <a:solidFill>
                  <a:srgbClr val="0E1A22"/>
                </a:solidFill>
              </a:rPr>
              <a:t>“Both numbers are right. The 2020 10-K reported $2.7516bn for FY2019 on the basis then in force; the 2022 10-K restated it to $2.2848bn after moving a business to discontinued operations. Neither is an error. For a comp sheet I would use the restated basis, because the question a comp sheet asks is ‘what do I own going forward’ — but I would footnote it, because any multiple quoted from a contemporaneous note is on the old basis and the two are not comparable.”</a:t>
            </a:r>
            <a:endParaRPr lang="en-US" sz="1200" dirty="0"/>
          </a:p>
        </p:txBody>
      </p:sp>
      <p:sp>
        <p:nvSpPr>
          <p:cNvPr id="7" name="Text 5"/>
          <p:cNvSpPr txBox="1"/>
          <p:nvPr/>
        </p:nvSpPr>
        <p:spPr>
          <a:xfrm>
            <a:off x="841248" y="3310128"/>
            <a:ext cx="4846320" cy="187452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dirty="0">
                <a:solidFill>
                  <a:srgbClr val="3C4A50"/>
                </a:solidFill>
              </a:rPr>
              <a:t>Read the filings rather than assuming a data error</a:t>
            </a:r>
            <a:endParaRPr lang="en-US" sz="1150" dirty="0"/>
          </a:p>
          <a:p>
            <a:pPr marL="342900" indent="-342900">
              <a:lnSpc>
                <a:spcPts val="1500"/>
              </a:lnSpc>
              <a:spcAft>
                <a:spcPts val="800"/>
              </a:spcAft>
              <a:buSzPct val="100000"/>
              <a:buChar char="•"/>
            </a:pPr>
            <a:r>
              <a:rPr lang="en-US" sz="1150" dirty="0">
                <a:solidFill>
                  <a:srgbClr val="3C4A50"/>
                </a:solidFill>
              </a:rPr>
              <a:t>Named the question each basis answers, instead of picking a winner</a:t>
            </a:r>
            <a:endParaRPr lang="en-US" sz="1150" dirty="0"/>
          </a:p>
          <a:p>
            <a:pPr marL="342900" indent="-342900">
              <a:lnSpc>
                <a:spcPts val="1500"/>
              </a:lnSpc>
              <a:spcAft>
                <a:spcPts val="800"/>
              </a:spcAft>
              <a:buSzPct val="100000"/>
              <a:buChar char="•"/>
            </a:pPr>
            <a:r>
              <a:rPr lang="en-US" sz="1150" dirty="0">
                <a:solidFill>
                  <a:srgbClr val="3C4A50"/>
                </a:solidFill>
              </a:rPr>
              <a:t>Spotted the real hazard: a multiple from a 2021 note and a 2022 revenue figure do not belong in the same row</a:t>
            </a:r>
            <a:endParaRPr lang="en-US" sz="1150" dirty="0"/>
          </a:p>
          <a:p>
            <a:pPr marL="342900" indent="-342900">
              <a:lnSpc>
                <a:spcPts val="1500"/>
              </a:lnSpc>
              <a:spcAft>
                <a:spcPts val="800"/>
              </a:spcAft>
              <a:buSzPct val="100000"/>
              <a:buChar char="•"/>
            </a:pPr>
            <a:r>
              <a:rPr lang="en-US" sz="1150" dirty="0">
                <a:solidFill>
                  <a:srgbClr val="3C4A50"/>
                </a:solidFill>
              </a:rPr>
              <a:t>Generalised correctly to screens and backtests</a:t>
            </a:r>
            <a:endParaRPr lang="en-US" sz="1150" dirty="0"/>
          </a:p>
        </p:txBody>
      </p:sp>
      <p:sp>
        <p:nvSpPr>
          <p:cNvPr id="8" name="card"/>
          <p:cNvSpPr/>
          <p:nvPr/>
        </p:nvSpPr>
        <p:spPr>
          <a:xfrm>
            <a:off x="6199632" y="1143000"/>
            <a:ext cx="5394960" cy="4206240"/>
          </a:xfrm>
          <a:prstGeom prst="roundRect">
            <a:avLst>
              <a:gd name="adj" fmla="val 1304"/>
            </a:avLst>
          </a:prstGeom>
          <a:solidFill>
            <a:srgbClr val="FAF2F2"/>
          </a:solidFill>
          <a:ln w="9525">
            <a:solidFill>
              <a:srgbClr val="E8D4D4"/>
            </a:solidFill>
            <a:prstDash val="solid"/>
          </a:ln>
        </p:spPr>
      </p:sp>
      <p:sp>
        <p:nvSpPr>
          <p:cNvPr id="9" name="Shape 7"/>
          <p:cNvSpPr/>
          <p:nvPr/>
        </p:nvSpPr>
        <p:spPr>
          <a:xfrm>
            <a:off x="6473952" y="1371600"/>
            <a:ext cx="1828800" cy="329184"/>
          </a:xfrm>
          <a:prstGeom prst="roundRect">
            <a:avLst>
              <a:gd name="adj" fmla="val 27778"/>
            </a:avLst>
          </a:prstGeom>
          <a:solidFill>
            <a:srgbClr val="9C3A3A"/>
          </a:solidFill>
          <a:ln w="12700">
            <a:solidFill>
              <a:srgbClr val="9C3A3A"/>
            </a:solidFill>
            <a:prstDash val="solid"/>
          </a:ln>
        </p:spPr>
      </p:sp>
      <p:sp>
        <p:nvSpPr>
          <p:cNvPr id="10" name="Text 8"/>
          <p:cNvSpPr txBox="1"/>
          <p:nvPr/>
        </p:nvSpPr>
        <p:spPr>
          <a:xfrm>
            <a:off x="6473952" y="1371600"/>
            <a:ext cx="1828800" cy="329184"/>
          </a:xfrm>
          <a:prstGeom prst="rect">
            <a:avLst/>
          </a:prstGeom>
          <a:noFill/>
          <a:ln/>
        </p:spPr>
        <p:txBody>
          <a:bodyPr wrap="square" lIns="0" tIns="0" rIns="0" bIns="0" rtlCol="0" anchor="ctr"/>
          <a:lstStyle/>
          <a:p>
            <a:pPr algn="ctr" indent="0" marL="0">
              <a:buNone/>
            </a:pPr>
            <a:r>
              <a:rPr lang="en-US" sz="1050" b="1" spc="60" kern="0" dirty="0">
                <a:solidFill>
                  <a:srgbClr val="FFFFFF"/>
                </a:solidFill>
              </a:rPr>
              <a:t>WEAK RESPONSE</a:t>
            </a:r>
            <a:endParaRPr lang="en-US" sz="1050" dirty="0"/>
          </a:p>
        </p:txBody>
      </p:sp>
      <p:sp>
        <p:nvSpPr>
          <p:cNvPr id="11" name="Text 9"/>
          <p:cNvSpPr txBox="1"/>
          <p:nvPr/>
        </p:nvSpPr>
        <p:spPr>
          <a:xfrm>
            <a:off x="6473952" y="1828800"/>
            <a:ext cx="4846320" cy="1371600"/>
          </a:xfrm>
          <a:prstGeom prst="rect">
            <a:avLst/>
          </a:prstGeom>
          <a:noFill/>
          <a:ln/>
        </p:spPr>
        <p:txBody>
          <a:bodyPr wrap="square" lIns="0" tIns="0" rIns="0" bIns="0" rtlCol="0" anchor="t"/>
          <a:lstStyle/>
          <a:p>
            <a:pPr indent="0" marL="0">
              <a:lnSpc>
                <a:spcPts val="1600"/>
              </a:lnSpc>
              <a:buNone/>
            </a:pPr>
            <a:r>
              <a:rPr lang="en-US" sz="1200" i="1" dirty="0">
                <a:solidFill>
                  <a:srgbClr val="0E1A22"/>
                </a:solidFill>
              </a:rPr>
              <a:t>“There is a data error in the pack — the FY2019 revenue figure is wrong. The correct number is $2.2848bn, which is what the current filings and every data provider show. Using the right number, revenue declined from $2.84bn in 2018 to $2.28bn in 2019, a 19.6% drop, so this is a structurally shrinking business and the growth algorithm is negative.”</a:t>
            </a:r>
            <a:endParaRPr lang="en-US" sz="1200" dirty="0"/>
          </a:p>
        </p:txBody>
      </p:sp>
      <p:sp>
        <p:nvSpPr>
          <p:cNvPr id="12" name="Text 10"/>
          <p:cNvSpPr txBox="1"/>
          <p:nvPr/>
        </p:nvSpPr>
        <p:spPr>
          <a:xfrm>
            <a:off x="6473952" y="3310128"/>
            <a:ext cx="4846320" cy="187452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dirty="0">
                <a:solidFill>
                  <a:srgbClr val="3C4A50"/>
                </a:solidFill>
              </a:rPr>
              <a:t>Treated the as-filed figure as a mistake rather than as history</a:t>
            </a:r>
            <a:endParaRPr lang="en-US" sz="1150" dirty="0"/>
          </a:p>
          <a:p>
            <a:pPr marL="342900" indent="-342900">
              <a:lnSpc>
                <a:spcPts val="1500"/>
              </a:lnSpc>
              <a:spcAft>
                <a:spcPts val="800"/>
              </a:spcAft>
              <a:buSzPct val="100000"/>
              <a:buChar char="•"/>
            </a:pPr>
            <a:r>
              <a:rPr lang="en-US" sz="1150" dirty="0">
                <a:solidFill>
                  <a:srgbClr val="3C4A50"/>
                </a:solidFill>
              </a:rPr>
              <a:t>Computed a 19.6% decline that no market participant ever saw</a:t>
            </a:r>
            <a:endParaRPr lang="en-US" sz="1150" dirty="0"/>
          </a:p>
          <a:p>
            <a:pPr marL="342900" indent="-342900">
              <a:lnSpc>
                <a:spcPts val="1500"/>
              </a:lnSpc>
              <a:spcAft>
                <a:spcPts val="800"/>
              </a:spcAft>
              <a:buSzPct val="100000"/>
              <a:buChar char="•"/>
            </a:pPr>
            <a:r>
              <a:rPr lang="en-US" sz="1150" dirty="0">
                <a:solidFill>
                  <a:srgbClr val="3C4A50"/>
                </a:solidFill>
              </a:rPr>
              <a:t>Built an entire thesis on a comparison between two different definitions of the company</a:t>
            </a:r>
            <a:endParaRPr lang="en-US" sz="1150" dirty="0"/>
          </a:p>
          <a:p>
            <a:pPr marL="342900" indent="-342900">
              <a:lnSpc>
                <a:spcPts val="1500"/>
              </a:lnSpc>
              <a:spcAft>
                <a:spcPts val="800"/>
              </a:spcAft>
              <a:buSzPct val="100000"/>
              <a:buChar char="•"/>
            </a:pPr>
            <a:r>
              <a:rPr lang="en-US" sz="1150" dirty="0">
                <a:solidFill>
                  <a:srgbClr val="3C4A50"/>
                </a:solidFill>
              </a:rPr>
              <a:t>Deferred to “what every data provider shows” — the exact instinct this case exists to break</a:t>
            </a:r>
            <a:endParaRPr lang="en-US" sz="1150" dirty="0"/>
          </a:p>
        </p:txBody>
      </p:sp>
      <p:sp>
        <p:nvSpPr>
          <p:cNvPr id="13" name="card"/>
          <p:cNvSpPr/>
          <p:nvPr/>
        </p:nvSpPr>
        <p:spPr>
          <a:xfrm>
            <a:off x="566928" y="5486400"/>
            <a:ext cx="11027664" cy="658368"/>
          </a:xfrm>
          <a:prstGeom prst="roundRect">
            <a:avLst>
              <a:gd name="adj" fmla="val 8333"/>
            </a:avLst>
          </a:prstGeom>
          <a:solidFill>
            <a:srgbClr val="EEF4F0"/>
          </a:solidFill>
          <a:ln w="9525">
            <a:solidFill>
              <a:srgbClr val="CFE0D6"/>
            </a:solidFill>
            <a:prstDash val="solid"/>
          </a:ln>
        </p:spPr>
      </p:sp>
      <p:sp>
        <p:nvSpPr>
          <p:cNvPr id="14" name="Text 12"/>
          <p:cNvSpPr txBox="1"/>
          <p:nvPr/>
        </p:nvSpPr>
        <p:spPr>
          <a:xfrm>
            <a:off x="841248" y="5614416"/>
            <a:ext cx="10515600" cy="457200"/>
          </a:xfrm>
          <a:prstGeom prst="rect">
            <a:avLst/>
          </a:prstGeom>
          <a:noFill/>
          <a:ln/>
        </p:spPr>
        <p:txBody>
          <a:bodyPr wrap="square" lIns="0" tIns="0" rIns="0" bIns="0" rtlCol="0" anchor="t"/>
          <a:lstStyle/>
          <a:p>
            <a:pPr indent="0" marL="0">
              <a:lnSpc>
                <a:spcPts val="1600"/>
              </a:lnSpc>
              <a:buNone/>
            </a:pPr>
            <a:r>
              <a:rPr lang="en-US" sz="1200" b="1" dirty="0">
                <a:solidFill>
                  <a:srgbClr val="2C4A38"/>
                </a:solidFill>
              </a:rPr>
              <a:t>The weak answer is what a careful, diligent student produces by default. </a:t>
            </a:r>
            <a:pPr indent="0" marL="0">
              <a:lnSpc>
                <a:spcPts val="1600"/>
              </a:lnSpc>
              <a:buNone/>
            </a:pPr>
            <a:r>
              <a:rPr lang="en-US" sz="1200" dirty="0">
                <a:solidFill>
                  <a:srgbClr val="2C4A38"/>
                </a:solidFill>
              </a:rPr>
              <a:t>It is confident, internally consistent and completely wrong — which is why this case inoculates against the most common error in quantitative equity work using a real company and real numbers rather than a parable.</a:t>
            </a:r>
            <a:endParaRPr lang="en-US" sz="120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What the engine deliberately refuses to do</a:t>
            </a:r>
            <a:endParaRPr lang="en-US" sz="2700" dirty="0"/>
          </a:p>
        </p:txBody>
      </p:sp>
      <p:sp>
        <p:nvSpPr>
          <p:cNvPr id="3" name="card"/>
          <p:cNvSpPr/>
          <p:nvPr/>
        </p:nvSpPr>
        <p:spPr>
          <a:xfrm>
            <a:off x="566928" y="1234440"/>
            <a:ext cx="5394960" cy="1874520"/>
          </a:xfrm>
          <a:prstGeom prst="roundRect">
            <a:avLst>
              <a:gd name="adj" fmla="val 2927"/>
            </a:avLst>
          </a:prstGeom>
          <a:solidFill>
            <a:srgbClr val="17262E"/>
          </a:solidFill>
          <a:ln w="9525">
            <a:solidFill>
              <a:srgbClr val="2A3A42"/>
            </a:solidFill>
            <a:prstDash val="solid"/>
          </a:ln>
        </p:spPr>
      </p:sp>
      <p:sp>
        <p:nvSpPr>
          <p:cNvPr id="4" name="Text 2"/>
          <p:cNvSpPr txBox="1"/>
          <p:nvPr/>
        </p:nvSpPr>
        <p:spPr>
          <a:xfrm>
            <a:off x="841248" y="1453896"/>
            <a:ext cx="320040" cy="320040"/>
          </a:xfrm>
          <a:prstGeom prst="rect">
            <a:avLst/>
          </a:prstGeom>
          <a:noFill/>
          <a:ln/>
        </p:spPr>
        <p:txBody>
          <a:bodyPr wrap="square" lIns="0" tIns="0" rIns="0" bIns="0" rtlCol="0" anchor="ctr"/>
          <a:lstStyle/>
          <a:p>
            <a:pPr indent="0" marL="0">
              <a:buNone/>
            </a:pPr>
            <a:r>
              <a:rPr lang="en-US" sz="1500" b="1" dirty="0">
                <a:solidFill>
                  <a:srgbClr val="C98B8B"/>
                </a:solidFill>
              </a:rPr>
              <a:t>✕</a:t>
            </a:r>
            <a:endParaRPr lang="en-US" sz="1500" dirty="0"/>
          </a:p>
        </p:txBody>
      </p:sp>
      <p:sp>
        <p:nvSpPr>
          <p:cNvPr id="5" name="Text 3"/>
          <p:cNvSpPr txBox="1"/>
          <p:nvPr/>
        </p:nvSpPr>
        <p:spPr>
          <a:xfrm>
            <a:off x="1207008" y="1453896"/>
            <a:ext cx="448056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Grade the P&amp;L</a:t>
            </a:r>
            <a:endParaRPr lang="en-US" sz="1500" dirty="0"/>
          </a:p>
        </p:txBody>
      </p:sp>
      <p:sp>
        <p:nvSpPr>
          <p:cNvPr id="6" name="Text 4"/>
          <p:cNvSpPr txBox="1"/>
          <p:nvPr/>
        </p:nvSpPr>
        <p:spPr>
          <a:xfrm>
            <a:off x="841248" y="1892808"/>
            <a:ext cx="4846320" cy="1097280"/>
          </a:xfrm>
          <a:prstGeom prst="rect">
            <a:avLst/>
          </a:prstGeom>
          <a:noFill/>
          <a:ln/>
        </p:spPr>
        <p:txBody>
          <a:bodyPr wrap="square" lIns="0" tIns="0" rIns="0" bIns="0" rtlCol="0" anchor="t"/>
          <a:lstStyle/>
          <a:p>
            <a:pPr indent="0" marL="0">
              <a:lnSpc>
                <a:spcPts val="1600"/>
              </a:lnSpc>
              <a:buNone/>
            </a:pPr>
            <a:r>
              <a:rPr lang="en-US" sz="1150" dirty="0">
                <a:solidFill>
                  <a:srgbClr val="AEC2BE"/>
                </a:solidFill>
              </a:rPr>
              <a:t>The engine knows what happened, so the temptation is structural. Make it a code-level constraint: the grader interface should not expose the realised return to anything except the calibration scorer.</a:t>
            </a:r>
            <a:endParaRPr lang="en-US" sz="1150" dirty="0"/>
          </a:p>
        </p:txBody>
      </p:sp>
      <p:sp>
        <p:nvSpPr>
          <p:cNvPr id="7" name="card"/>
          <p:cNvSpPr/>
          <p:nvPr/>
        </p:nvSpPr>
        <p:spPr>
          <a:xfrm>
            <a:off x="6236208" y="1234440"/>
            <a:ext cx="5394960" cy="1874520"/>
          </a:xfrm>
          <a:prstGeom prst="roundRect">
            <a:avLst>
              <a:gd name="adj" fmla="val 2927"/>
            </a:avLst>
          </a:prstGeom>
          <a:solidFill>
            <a:srgbClr val="17262E"/>
          </a:solidFill>
          <a:ln w="9525">
            <a:solidFill>
              <a:srgbClr val="2A3A42"/>
            </a:solidFill>
            <a:prstDash val="solid"/>
          </a:ln>
        </p:spPr>
      </p:sp>
      <p:sp>
        <p:nvSpPr>
          <p:cNvPr id="8" name="Text 6"/>
          <p:cNvSpPr txBox="1"/>
          <p:nvPr/>
        </p:nvSpPr>
        <p:spPr>
          <a:xfrm>
            <a:off x="6510528" y="1453896"/>
            <a:ext cx="320040" cy="320040"/>
          </a:xfrm>
          <a:prstGeom prst="rect">
            <a:avLst/>
          </a:prstGeom>
          <a:noFill/>
          <a:ln/>
        </p:spPr>
        <p:txBody>
          <a:bodyPr wrap="square" lIns="0" tIns="0" rIns="0" bIns="0" rtlCol="0" anchor="ctr"/>
          <a:lstStyle/>
          <a:p>
            <a:pPr indent="0" marL="0">
              <a:buNone/>
            </a:pPr>
            <a:r>
              <a:rPr lang="en-US" sz="1500" b="1" dirty="0">
                <a:solidFill>
                  <a:srgbClr val="C98B8B"/>
                </a:solidFill>
              </a:rPr>
              <a:t>✕</a:t>
            </a:r>
            <a:endParaRPr lang="en-US" sz="1500" dirty="0"/>
          </a:p>
        </p:txBody>
      </p:sp>
      <p:sp>
        <p:nvSpPr>
          <p:cNvPr id="9" name="Text 7"/>
          <p:cNvSpPr txBox="1"/>
          <p:nvPr/>
        </p:nvSpPr>
        <p:spPr>
          <a:xfrm>
            <a:off x="6876288" y="1453896"/>
            <a:ext cx="448056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Run in real time</a:t>
            </a:r>
            <a:endParaRPr lang="en-US" sz="1500" dirty="0"/>
          </a:p>
        </p:txBody>
      </p:sp>
      <p:sp>
        <p:nvSpPr>
          <p:cNvPr id="10" name="Text 8"/>
          <p:cNvSpPr txBox="1"/>
          <p:nvPr/>
        </p:nvSpPr>
        <p:spPr>
          <a:xfrm>
            <a:off x="6510528" y="1892808"/>
            <a:ext cx="4846320" cy="1097280"/>
          </a:xfrm>
          <a:prstGeom prst="rect">
            <a:avLst/>
          </a:prstGeom>
          <a:noFill/>
          <a:ln/>
        </p:spPr>
        <p:txBody>
          <a:bodyPr wrap="square" lIns="0" tIns="0" rIns="0" bIns="0" rtlCol="0" anchor="t"/>
          <a:lstStyle/>
          <a:p>
            <a:pPr indent="0" marL="0">
              <a:lnSpc>
                <a:spcPts val="1600"/>
              </a:lnSpc>
              <a:buNone/>
            </a:pPr>
            <a:r>
              <a:rPr lang="en-US" sz="1150" dirty="0">
                <a:solidFill>
                  <a:srgbClr val="AEC2BE"/>
                </a:solidFill>
              </a:rPr>
              <a:t>No live market data, no order execution, no market-impact modelling. None of it measures what this curriculum teaches.</a:t>
            </a:r>
            <a:endParaRPr lang="en-US" sz="1150" dirty="0"/>
          </a:p>
        </p:txBody>
      </p:sp>
      <p:sp>
        <p:nvSpPr>
          <p:cNvPr id="11" name="card"/>
          <p:cNvSpPr/>
          <p:nvPr/>
        </p:nvSpPr>
        <p:spPr>
          <a:xfrm>
            <a:off x="566928" y="3383280"/>
            <a:ext cx="5394960" cy="1874520"/>
          </a:xfrm>
          <a:prstGeom prst="roundRect">
            <a:avLst>
              <a:gd name="adj" fmla="val 2927"/>
            </a:avLst>
          </a:prstGeom>
          <a:solidFill>
            <a:srgbClr val="17262E"/>
          </a:solidFill>
          <a:ln w="9525">
            <a:solidFill>
              <a:srgbClr val="2A3A42"/>
            </a:solidFill>
            <a:prstDash val="solid"/>
          </a:ln>
        </p:spPr>
      </p:sp>
      <p:sp>
        <p:nvSpPr>
          <p:cNvPr id="12" name="Text 10"/>
          <p:cNvSpPr txBox="1"/>
          <p:nvPr/>
        </p:nvSpPr>
        <p:spPr>
          <a:xfrm>
            <a:off x="841248" y="3602736"/>
            <a:ext cx="320040" cy="320040"/>
          </a:xfrm>
          <a:prstGeom prst="rect">
            <a:avLst/>
          </a:prstGeom>
          <a:noFill/>
          <a:ln/>
        </p:spPr>
        <p:txBody>
          <a:bodyPr wrap="square" lIns="0" tIns="0" rIns="0" bIns="0" rtlCol="0" anchor="ctr"/>
          <a:lstStyle/>
          <a:p>
            <a:pPr indent="0" marL="0">
              <a:buNone/>
            </a:pPr>
            <a:r>
              <a:rPr lang="en-US" sz="1500" b="1" dirty="0">
                <a:solidFill>
                  <a:srgbClr val="C98B8B"/>
                </a:solidFill>
              </a:rPr>
              <a:t>✕</a:t>
            </a:r>
            <a:endParaRPr lang="en-US" sz="1500" dirty="0"/>
          </a:p>
        </p:txBody>
      </p:sp>
      <p:sp>
        <p:nvSpPr>
          <p:cNvPr id="13" name="Text 11"/>
          <p:cNvSpPr txBox="1"/>
          <p:nvPr/>
        </p:nvSpPr>
        <p:spPr>
          <a:xfrm>
            <a:off x="1207008" y="3602736"/>
            <a:ext cx="448056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Rank students on returns</a:t>
            </a:r>
            <a:endParaRPr lang="en-US" sz="1500" dirty="0"/>
          </a:p>
        </p:txBody>
      </p:sp>
      <p:sp>
        <p:nvSpPr>
          <p:cNvPr id="14" name="Text 12"/>
          <p:cNvSpPr txBox="1"/>
          <p:nvPr/>
        </p:nvSpPr>
        <p:spPr>
          <a:xfrm>
            <a:off x="841248" y="4041648"/>
            <a:ext cx="4846320" cy="1097280"/>
          </a:xfrm>
          <a:prstGeom prst="rect">
            <a:avLst/>
          </a:prstGeom>
          <a:noFill/>
          <a:ln/>
        </p:spPr>
        <p:txBody>
          <a:bodyPr wrap="square" lIns="0" tIns="0" rIns="0" bIns="0" rtlCol="0" anchor="t"/>
          <a:lstStyle/>
          <a:p>
            <a:pPr indent="0" marL="0">
              <a:lnSpc>
                <a:spcPts val="1600"/>
              </a:lnSpc>
              <a:buNone/>
            </a:pPr>
            <a:r>
              <a:rPr lang="en-US" sz="1150" dirty="0">
                <a:solidFill>
                  <a:srgbClr val="AEC2BE"/>
                </a:solidFill>
              </a:rPr>
              <a:t>A leaderboard rewards precisely the overconfidence the program should be training out.</a:t>
            </a:r>
            <a:endParaRPr lang="en-US" sz="1150" dirty="0"/>
          </a:p>
        </p:txBody>
      </p:sp>
      <p:sp>
        <p:nvSpPr>
          <p:cNvPr id="15" name="card"/>
          <p:cNvSpPr/>
          <p:nvPr/>
        </p:nvSpPr>
        <p:spPr>
          <a:xfrm>
            <a:off x="6236208" y="3383280"/>
            <a:ext cx="5394960" cy="1874520"/>
          </a:xfrm>
          <a:prstGeom prst="roundRect">
            <a:avLst>
              <a:gd name="adj" fmla="val 2927"/>
            </a:avLst>
          </a:prstGeom>
          <a:solidFill>
            <a:srgbClr val="17262E"/>
          </a:solidFill>
          <a:ln w="9525">
            <a:solidFill>
              <a:srgbClr val="2A3A42"/>
            </a:solidFill>
            <a:prstDash val="solid"/>
          </a:ln>
        </p:spPr>
      </p:sp>
      <p:sp>
        <p:nvSpPr>
          <p:cNvPr id="16" name="Text 14"/>
          <p:cNvSpPr txBox="1"/>
          <p:nvPr/>
        </p:nvSpPr>
        <p:spPr>
          <a:xfrm>
            <a:off x="6510528" y="3602736"/>
            <a:ext cx="320040" cy="320040"/>
          </a:xfrm>
          <a:prstGeom prst="rect">
            <a:avLst/>
          </a:prstGeom>
          <a:noFill/>
          <a:ln/>
        </p:spPr>
        <p:txBody>
          <a:bodyPr wrap="square" lIns="0" tIns="0" rIns="0" bIns="0" rtlCol="0" anchor="ctr"/>
          <a:lstStyle/>
          <a:p>
            <a:pPr indent="0" marL="0">
              <a:buNone/>
            </a:pPr>
            <a:r>
              <a:rPr lang="en-US" sz="1500" b="1" dirty="0">
                <a:solidFill>
                  <a:srgbClr val="C98B8B"/>
                </a:solidFill>
              </a:rPr>
              <a:t>✕</a:t>
            </a:r>
            <a:endParaRPr lang="en-US" sz="1500" dirty="0"/>
          </a:p>
        </p:txBody>
      </p:sp>
      <p:sp>
        <p:nvSpPr>
          <p:cNvPr id="17" name="Text 15"/>
          <p:cNvSpPr txBox="1"/>
          <p:nvPr/>
        </p:nvSpPr>
        <p:spPr>
          <a:xfrm>
            <a:off x="6876288" y="3602736"/>
            <a:ext cx="448056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Send numbers to an LLM</a:t>
            </a:r>
            <a:endParaRPr lang="en-US" sz="1500" dirty="0"/>
          </a:p>
        </p:txBody>
      </p:sp>
      <p:sp>
        <p:nvSpPr>
          <p:cNvPr id="18" name="Text 16"/>
          <p:cNvSpPr txBox="1"/>
          <p:nvPr/>
        </p:nvSpPr>
        <p:spPr>
          <a:xfrm>
            <a:off x="6510528" y="4041648"/>
            <a:ext cx="4846320" cy="1097280"/>
          </a:xfrm>
          <a:prstGeom prst="rect">
            <a:avLst/>
          </a:prstGeom>
          <a:noFill/>
          <a:ln/>
        </p:spPr>
        <p:txBody>
          <a:bodyPr wrap="square" lIns="0" tIns="0" rIns="0" bIns="0" rtlCol="0" anchor="t"/>
          <a:lstStyle/>
          <a:p>
            <a:pPr indent="0" marL="0">
              <a:lnSpc>
                <a:spcPts val="1600"/>
              </a:lnSpc>
              <a:buNone/>
            </a:pPr>
            <a:r>
              <a:rPr lang="en-US" sz="1150" dirty="0">
                <a:solidFill>
                  <a:srgbClr val="AEC2BE"/>
                </a:solidFill>
              </a:rPr>
              <a:t>Where a deterministic check exists, it runs first. The LLM grades reasoning only, and always with the worked key in context.</a:t>
            </a:r>
            <a:endParaRPr lang="en-US" sz="1150" dirty="0"/>
          </a:p>
        </p:txBody>
      </p:sp>
      <p:sp>
        <p:nvSpPr>
          <p:cNvPr id="19" name="Text 17"/>
          <p:cNvSpPr txBox="1"/>
          <p:nvPr/>
        </p:nvSpPr>
        <p:spPr>
          <a:xfrm>
            <a:off x="566928" y="5577840"/>
            <a:ext cx="11027664" cy="365760"/>
          </a:xfrm>
          <a:prstGeom prst="rect">
            <a:avLst/>
          </a:prstGeom>
          <a:noFill/>
          <a:ln/>
        </p:spPr>
        <p:txBody>
          <a:bodyPr wrap="square" lIns="0" tIns="0" rIns="0" bIns="0" rtlCol="0" anchor="ctr"/>
          <a:lstStyle/>
          <a:p>
            <a:pPr indent="0" marL="0">
              <a:buNone/>
            </a:pPr>
            <a:r>
              <a:rPr lang="en-US" sz="1300" i="1" dirty="0">
                <a:solidFill>
                  <a:srgbClr val="5E9A91"/>
                </a:solidFill>
              </a:rPr>
              <a:t>Each of these is cheap to add and would quietly invalidate the measurement.</a:t>
            </a:r>
            <a:endParaRPr lang="en-US" sz="130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66928" y="402336"/>
            <a:ext cx="11064240" cy="566928"/>
          </a:xfrm>
          <a:prstGeom prst="rect">
            <a:avLst/>
          </a:prstGeom>
          <a:noFill/>
          <a:ln/>
        </p:spPr>
        <p:txBody>
          <a:bodyPr wrap="square" lIns="0" tIns="0" rIns="0" bIns="0" rtlCol="0" anchor="ctr"/>
          <a:lstStyle/>
          <a:p>
            <a:pPr indent="0" marL="0">
              <a:buNone/>
            </a:pPr>
            <a:r>
              <a:rPr lang="en-US" sz="2700" b="1" dirty="0">
                <a:solidFill>
                  <a:srgbClr val="0E1A22"/>
                </a:solidFill>
                <a:latin typeface="Cambria" pitchFamily="34" charset="0"/>
                <a:ea typeface="Cambria" pitchFamily="34" charset="-122"/>
                <a:cs typeface="Cambria" pitchFamily="34" charset="-120"/>
              </a:rPr>
              <a:t>What it takes to build</a:t>
            </a:r>
            <a:endParaRPr lang="en-US" sz="2700" dirty="0"/>
          </a:p>
        </p:txBody>
      </p:sp>
      <p:sp>
        <p:nvSpPr>
          <p:cNvPr id="3" name="card"/>
          <p:cNvSpPr/>
          <p:nvPr/>
        </p:nvSpPr>
        <p:spPr>
          <a:xfrm>
            <a:off x="566928" y="1143000"/>
            <a:ext cx="3493008" cy="3611880"/>
          </a:xfrm>
          <a:prstGeom prst="roundRect">
            <a:avLst>
              <a:gd name="adj" fmla="val 1571"/>
            </a:avLst>
          </a:prstGeom>
          <a:solidFill>
            <a:srgbClr val="EDF2F0"/>
          </a:solidFill>
          <a:ln w="9525">
            <a:solidFill>
              <a:srgbClr val="DCE5E2"/>
            </a:solidFill>
            <a:prstDash val="solid"/>
          </a:ln>
        </p:spPr>
      </p:sp>
      <p:sp>
        <p:nvSpPr>
          <p:cNvPr id="4" name="Shape 2"/>
          <p:cNvSpPr/>
          <p:nvPr/>
        </p:nvSpPr>
        <p:spPr>
          <a:xfrm>
            <a:off x="822960" y="1371600"/>
            <a:ext cx="868680" cy="310896"/>
          </a:xfrm>
          <a:prstGeom prst="roundRect">
            <a:avLst>
              <a:gd name="adj" fmla="val 29412"/>
            </a:avLst>
          </a:prstGeom>
          <a:solidFill>
            <a:srgbClr val="1A5F59"/>
          </a:solidFill>
          <a:ln w="12700">
            <a:solidFill>
              <a:srgbClr val="1A5F59"/>
            </a:solidFill>
            <a:prstDash val="solid"/>
          </a:ln>
        </p:spPr>
      </p:sp>
      <p:sp>
        <p:nvSpPr>
          <p:cNvPr id="5" name="Text 3"/>
          <p:cNvSpPr txBox="1"/>
          <p:nvPr/>
        </p:nvSpPr>
        <p:spPr>
          <a:xfrm>
            <a:off x="822960" y="1371600"/>
            <a:ext cx="868680" cy="310896"/>
          </a:xfrm>
          <a:prstGeom prst="rect">
            <a:avLst/>
          </a:prstGeom>
          <a:noFill/>
          <a:ln/>
        </p:spPr>
        <p:txBody>
          <a:bodyPr wrap="square" lIns="0" tIns="0" rIns="0" bIns="0" rtlCol="0" anchor="ctr"/>
          <a:lstStyle/>
          <a:p>
            <a:pPr algn="ctr" indent="0" marL="0">
              <a:buNone/>
            </a:pPr>
            <a:r>
              <a:rPr lang="en-US" sz="1100" b="1" dirty="0">
                <a:solidFill>
                  <a:srgbClr val="FFFFFF"/>
                </a:solidFill>
              </a:rPr>
              <a:t>MVP</a:t>
            </a:r>
            <a:endParaRPr lang="en-US" sz="1100" dirty="0"/>
          </a:p>
        </p:txBody>
      </p:sp>
      <p:sp>
        <p:nvSpPr>
          <p:cNvPr id="6" name="Text 4"/>
          <p:cNvSpPr txBox="1"/>
          <p:nvPr/>
        </p:nvSpPr>
        <p:spPr>
          <a:xfrm>
            <a:off x="1801368" y="1371600"/>
            <a:ext cx="2011680" cy="310896"/>
          </a:xfrm>
          <a:prstGeom prst="rect">
            <a:avLst/>
          </a:prstGeom>
          <a:noFill/>
          <a:ln/>
        </p:spPr>
        <p:txBody>
          <a:bodyPr wrap="square" lIns="0" tIns="0" rIns="0" bIns="0" rtlCol="0" anchor="ctr"/>
          <a:lstStyle/>
          <a:p>
            <a:pPr indent="0" marL="0">
              <a:buNone/>
            </a:pPr>
            <a:r>
              <a:rPr lang="en-US" sz="1300" b="1" dirty="0">
                <a:solidFill>
                  <a:srgbClr val="0E1A22"/>
                </a:solidFill>
              </a:rPr>
              <a:t>4–6 weeks</a:t>
            </a:r>
            <a:endParaRPr lang="en-US" sz="1300" dirty="0"/>
          </a:p>
        </p:txBody>
      </p:sp>
      <p:sp>
        <p:nvSpPr>
          <p:cNvPr id="7" name="Text 5"/>
          <p:cNvSpPr txBox="1"/>
          <p:nvPr/>
        </p:nvSpPr>
        <p:spPr>
          <a:xfrm>
            <a:off x="822960" y="1737360"/>
            <a:ext cx="3017520" cy="256032"/>
          </a:xfrm>
          <a:prstGeom prst="rect">
            <a:avLst/>
          </a:prstGeom>
          <a:noFill/>
          <a:ln/>
        </p:spPr>
        <p:txBody>
          <a:bodyPr wrap="square" lIns="0" tIns="0" rIns="0" bIns="0" rtlCol="0" anchor="ctr"/>
          <a:lstStyle/>
          <a:p>
            <a:pPr indent="0" marL="0">
              <a:buNone/>
            </a:pPr>
            <a:r>
              <a:rPr lang="en-US" sz="1000" i="1" dirty="0">
                <a:solidFill>
                  <a:srgbClr val="5B6B78"/>
                </a:solidFill>
              </a:rPr>
              <a:t>one engineer + one analyst author</a:t>
            </a:r>
            <a:endParaRPr lang="en-US" sz="1000" dirty="0"/>
          </a:p>
        </p:txBody>
      </p:sp>
      <p:sp>
        <p:nvSpPr>
          <p:cNvPr id="8" name="Text 6"/>
          <p:cNvSpPr txBox="1"/>
          <p:nvPr/>
        </p:nvSpPr>
        <p:spPr>
          <a:xfrm>
            <a:off x="822960" y="2084832"/>
            <a:ext cx="3017520" cy="2514600"/>
          </a:xfrm>
          <a:prstGeom prst="rect">
            <a:avLst/>
          </a:prstGeom>
          <a:noFill/>
          <a:ln/>
        </p:spPr>
        <p:txBody>
          <a:bodyPr wrap="square" lIns="0" tIns="0" rIns="0" bIns="0" rtlCol="0" anchor="ctr"/>
          <a:lstStyle/>
          <a:p>
            <a:pPr marL="342900" indent="-342900">
              <a:lnSpc>
                <a:spcPts val="1450"/>
              </a:lnSpc>
              <a:spcAft>
                <a:spcPts val="800"/>
              </a:spcAft>
              <a:buSzPct val="100000"/>
              <a:buChar char="•"/>
            </a:pPr>
            <a:r>
              <a:rPr lang="en-US" sz="1100" dirty="0">
                <a:solidFill>
                  <a:srgbClr val="3C4A50"/>
                </a:solidFill>
              </a:rPr>
              <a:t>The pit/ layer — done and tested</a:t>
            </a:r>
            <a:endParaRPr lang="en-US" sz="1100" dirty="0"/>
          </a:p>
          <a:p>
            <a:pPr marL="342900" indent="-342900">
              <a:lnSpc>
                <a:spcPts val="1450"/>
              </a:lnSpc>
              <a:spcAft>
                <a:spcPts val="800"/>
              </a:spcAft>
              <a:buSzPct val="100000"/>
              <a:buChar char="•"/>
            </a:pPr>
            <a:r>
              <a:rPr lang="en-US" sz="1100" dirty="0">
                <a:solidFill>
                  <a:srgbClr val="3C4A50"/>
                </a:solidFill>
              </a:rPr>
              <a:t>8–12 cases as JSON manifests plus a document bundle</a:t>
            </a:r>
            <a:endParaRPr lang="en-US" sz="1100" dirty="0"/>
          </a:p>
          <a:p>
            <a:pPr marL="342900" indent="-342900">
              <a:lnSpc>
                <a:spcPts val="1450"/>
              </a:lnSpc>
              <a:spcAft>
                <a:spcPts val="800"/>
              </a:spcAft>
              <a:buSzPct val="100000"/>
              <a:buChar char="•"/>
            </a:pPr>
            <a:r>
              <a:rPr lang="en-US" sz="1100" dirty="0">
                <a:solidFill>
                  <a:srgbClr val="3C4A50"/>
                </a:solidFill>
              </a:rPr>
              <a:t>Clock as a manual instructor action</a:t>
            </a:r>
            <a:endParaRPr lang="en-US" sz="1100" dirty="0"/>
          </a:p>
          <a:p>
            <a:pPr marL="342900" indent="-342900">
              <a:lnSpc>
                <a:spcPts val="1450"/>
              </a:lnSpc>
              <a:spcAft>
                <a:spcPts val="800"/>
              </a:spcAft>
              <a:buSzPct val="100000"/>
              <a:buChar char="•"/>
            </a:pPr>
            <a:r>
              <a:rPr lang="en-US" sz="1100" dirty="0">
                <a:solidFill>
                  <a:srgbClr val="3C4A50"/>
                </a:solidFill>
              </a:rPr>
              <a:t>Deterministic grading of numbers and calibration</a:t>
            </a:r>
            <a:endParaRPr lang="en-US" sz="1100" dirty="0"/>
          </a:p>
          <a:p>
            <a:pPr marL="342900" indent="-342900">
              <a:lnSpc>
                <a:spcPts val="1450"/>
              </a:lnSpc>
              <a:spcAft>
                <a:spcPts val="800"/>
              </a:spcAft>
              <a:buSzPct val="100000"/>
              <a:buChar char="•"/>
            </a:pPr>
            <a:r>
              <a:rPr lang="en-US" sz="1100" dirty="0">
                <a:solidFill>
                  <a:srgbClr val="3C4A50"/>
                </a:solidFill>
              </a:rPr>
              <a:t>Append-only submission store with hard locks</a:t>
            </a:r>
            <a:endParaRPr lang="en-US" sz="1100" dirty="0"/>
          </a:p>
        </p:txBody>
      </p:sp>
      <p:sp>
        <p:nvSpPr>
          <p:cNvPr id="9" name="card"/>
          <p:cNvSpPr/>
          <p:nvPr/>
        </p:nvSpPr>
        <p:spPr>
          <a:xfrm>
            <a:off x="4288536" y="1143000"/>
            <a:ext cx="3493008" cy="3611880"/>
          </a:xfrm>
          <a:prstGeom prst="roundRect">
            <a:avLst>
              <a:gd name="adj" fmla="val 1571"/>
            </a:avLst>
          </a:prstGeom>
          <a:solidFill>
            <a:srgbClr val="EDF2F0"/>
          </a:solidFill>
          <a:ln w="9525">
            <a:solidFill>
              <a:srgbClr val="DCE5E2"/>
            </a:solidFill>
            <a:prstDash val="solid"/>
          </a:ln>
        </p:spPr>
      </p:sp>
      <p:sp>
        <p:nvSpPr>
          <p:cNvPr id="10" name="Shape 8"/>
          <p:cNvSpPr/>
          <p:nvPr/>
        </p:nvSpPr>
        <p:spPr>
          <a:xfrm>
            <a:off x="4544568" y="1371600"/>
            <a:ext cx="868680" cy="310896"/>
          </a:xfrm>
          <a:prstGeom prst="roundRect">
            <a:avLst>
              <a:gd name="adj" fmla="val 29412"/>
            </a:avLst>
          </a:prstGeom>
          <a:solidFill>
            <a:srgbClr val="5E9A91"/>
          </a:solidFill>
          <a:ln w="12700">
            <a:solidFill>
              <a:srgbClr val="5E9A91"/>
            </a:solidFill>
            <a:prstDash val="solid"/>
          </a:ln>
        </p:spPr>
      </p:sp>
      <p:sp>
        <p:nvSpPr>
          <p:cNvPr id="11" name="Text 9"/>
          <p:cNvSpPr txBox="1"/>
          <p:nvPr/>
        </p:nvSpPr>
        <p:spPr>
          <a:xfrm>
            <a:off x="4544568" y="1371600"/>
            <a:ext cx="868680" cy="310896"/>
          </a:xfrm>
          <a:prstGeom prst="rect">
            <a:avLst/>
          </a:prstGeom>
          <a:noFill/>
          <a:ln/>
        </p:spPr>
        <p:txBody>
          <a:bodyPr wrap="square" lIns="0" tIns="0" rIns="0" bIns="0" rtlCol="0" anchor="ctr"/>
          <a:lstStyle/>
          <a:p>
            <a:pPr algn="ctr" indent="0" marL="0">
              <a:buNone/>
            </a:pPr>
            <a:r>
              <a:rPr lang="en-US" sz="1100" b="1" dirty="0">
                <a:solidFill>
                  <a:srgbClr val="FFFFFF"/>
                </a:solidFill>
              </a:rPr>
              <a:t>v1</a:t>
            </a:r>
            <a:endParaRPr lang="en-US" sz="1100" dirty="0"/>
          </a:p>
        </p:txBody>
      </p:sp>
      <p:sp>
        <p:nvSpPr>
          <p:cNvPr id="12" name="Text 10"/>
          <p:cNvSpPr txBox="1"/>
          <p:nvPr/>
        </p:nvSpPr>
        <p:spPr>
          <a:xfrm>
            <a:off x="5522976" y="1371600"/>
            <a:ext cx="2011680" cy="310896"/>
          </a:xfrm>
          <a:prstGeom prst="rect">
            <a:avLst/>
          </a:prstGeom>
          <a:noFill/>
          <a:ln/>
        </p:spPr>
        <p:txBody>
          <a:bodyPr wrap="square" lIns="0" tIns="0" rIns="0" bIns="0" rtlCol="0" anchor="ctr"/>
          <a:lstStyle/>
          <a:p>
            <a:pPr indent="0" marL="0">
              <a:buNone/>
            </a:pPr>
            <a:r>
              <a:rPr lang="en-US" sz="1300" b="1" dirty="0">
                <a:solidFill>
                  <a:srgbClr val="0E1A22"/>
                </a:solidFill>
              </a:rPr>
              <a:t>+8–10 weeks</a:t>
            </a:r>
            <a:endParaRPr lang="en-US" sz="1300" dirty="0"/>
          </a:p>
        </p:txBody>
      </p:sp>
      <p:sp>
        <p:nvSpPr>
          <p:cNvPr id="13" name="Text 11"/>
          <p:cNvSpPr txBox="1"/>
          <p:nvPr/>
        </p:nvSpPr>
        <p:spPr>
          <a:xfrm>
            <a:off x="4544568" y="1737360"/>
            <a:ext cx="3017520" cy="256032"/>
          </a:xfrm>
          <a:prstGeom prst="rect">
            <a:avLst/>
          </a:prstGeom>
          <a:noFill/>
          <a:ln/>
        </p:spPr>
        <p:txBody>
          <a:bodyPr wrap="square" lIns="0" tIns="0" rIns="0" bIns="0" rtlCol="0" anchor="ctr"/>
          <a:lstStyle/>
          <a:p>
            <a:pPr indent="0" marL="0">
              <a:buNone/>
            </a:pPr>
            <a:r>
              <a:rPr lang="en-US" sz="1000" i="1" dirty="0">
                <a:solidFill>
                  <a:srgbClr val="5B6B78"/>
                </a:solidFill>
              </a:rPr>
              <a:t>adds the runtime</a:t>
            </a:r>
            <a:endParaRPr lang="en-US" sz="1000" dirty="0"/>
          </a:p>
        </p:txBody>
      </p:sp>
      <p:sp>
        <p:nvSpPr>
          <p:cNvPr id="14" name="Text 12"/>
          <p:cNvSpPr txBox="1"/>
          <p:nvPr/>
        </p:nvSpPr>
        <p:spPr>
          <a:xfrm>
            <a:off x="4544568" y="2084832"/>
            <a:ext cx="3017520" cy="2514600"/>
          </a:xfrm>
          <a:prstGeom prst="rect">
            <a:avLst/>
          </a:prstGeom>
          <a:noFill/>
          <a:ln/>
        </p:spPr>
        <p:txBody>
          <a:bodyPr wrap="square" lIns="0" tIns="0" rIns="0" bIns="0" rtlCol="0" anchor="ctr"/>
          <a:lstStyle/>
          <a:p>
            <a:pPr marL="342900" indent="-342900">
              <a:lnSpc>
                <a:spcPts val="1450"/>
              </a:lnSpc>
              <a:spcAft>
                <a:spcPts val="800"/>
              </a:spcAft>
              <a:buSzPct val="100000"/>
              <a:buChar char="•"/>
            </a:pPr>
            <a:r>
              <a:rPr lang="en-US" sz="1100" dirty="0">
                <a:solidFill>
                  <a:srgbClr val="3C4A50"/>
                </a:solidFill>
              </a:rPr>
              <a:t>Web runtime with timers, staged release and locking</a:t>
            </a:r>
            <a:endParaRPr lang="en-US" sz="1100" dirty="0"/>
          </a:p>
          <a:p>
            <a:pPr marL="342900" indent="-342900">
              <a:lnSpc>
                <a:spcPts val="1450"/>
              </a:lnSpc>
              <a:spcAft>
                <a:spcPts val="800"/>
              </a:spcAft>
              <a:buSzPct val="100000"/>
              <a:buChar char="•"/>
            </a:pPr>
            <a:r>
              <a:rPr lang="en-US" sz="1100" dirty="0">
                <a:solidFill>
                  <a:srgbClr val="3C4A50"/>
                </a:solidFill>
              </a:rPr>
              <a:t>INF-2 integration for workbook grading</a:t>
            </a:r>
            <a:endParaRPr lang="en-US" sz="1100" dirty="0"/>
          </a:p>
          <a:p>
            <a:pPr marL="342900" indent="-342900">
              <a:lnSpc>
                <a:spcPts val="1450"/>
              </a:lnSpc>
              <a:spcAft>
                <a:spcPts val="800"/>
              </a:spcAft>
              <a:buSzPct val="100000"/>
              <a:buChar char="•"/>
            </a:pPr>
            <a:r>
              <a:rPr lang="en-US" sz="1100" dirty="0">
                <a:solidFill>
                  <a:srgbClr val="3C4A50"/>
                </a:solidFill>
              </a:rPr>
              <a:t>INF-6 anchor set and LLM rubric grading</a:t>
            </a:r>
            <a:endParaRPr lang="en-US" sz="1100" dirty="0"/>
          </a:p>
          <a:p>
            <a:pPr marL="342900" indent="-342900">
              <a:lnSpc>
                <a:spcPts val="1450"/>
              </a:lnSpc>
              <a:spcAft>
                <a:spcPts val="800"/>
              </a:spcAft>
              <a:buSzPct val="100000"/>
              <a:buChar char="•"/>
            </a:pPr>
            <a:r>
              <a:rPr lang="en-US" sz="1100" dirty="0">
                <a:solidFill>
                  <a:srgbClr val="3C4A50"/>
                </a:solidFill>
              </a:rPr>
              <a:t>20–25 cases</a:t>
            </a:r>
            <a:endParaRPr lang="en-US" sz="1100" dirty="0"/>
          </a:p>
          <a:p>
            <a:pPr marL="342900" indent="-342900">
              <a:lnSpc>
                <a:spcPts val="1450"/>
              </a:lnSpc>
              <a:spcAft>
                <a:spcPts val="800"/>
              </a:spcAft>
              <a:buSzPct val="100000"/>
              <a:buChar char="•"/>
            </a:pPr>
            <a:r>
              <a:rPr lang="en-US" sz="1100" dirty="0">
                <a:solidFill>
                  <a:srgbClr val="3C4A50"/>
                </a:solidFill>
              </a:rPr>
              <a:t>Validator running in CI</a:t>
            </a:r>
            <a:endParaRPr lang="en-US" sz="1100" dirty="0"/>
          </a:p>
        </p:txBody>
      </p:sp>
      <p:sp>
        <p:nvSpPr>
          <p:cNvPr id="15" name="card"/>
          <p:cNvSpPr/>
          <p:nvPr/>
        </p:nvSpPr>
        <p:spPr>
          <a:xfrm>
            <a:off x="8010144" y="1143000"/>
            <a:ext cx="3493008" cy="3611880"/>
          </a:xfrm>
          <a:prstGeom prst="roundRect">
            <a:avLst>
              <a:gd name="adj" fmla="val 1571"/>
            </a:avLst>
          </a:prstGeom>
          <a:solidFill>
            <a:srgbClr val="EDF2F0"/>
          </a:solidFill>
          <a:ln w="9525">
            <a:solidFill>
              <a:srgbClr val="DCE5E2"/>
            </a:solidFill>
            <a:prstDash val="solid"/>
          </a:ln>
        </p:spPr>
      </p:sp>
      <p:sp>
        <p:nvSpPr>
          <p:cNvPr id="16" name="Shape 14"/>
          <p:cNvSpPr/>
          <p:nvPr/>
        </p:nvSpPr>
        <p:spPr>
          <a:xfrm>
            <a:off x="8266176" y="1371600"/>
            <a:ext cx="868680" cy="310896"/>
          </a:xfrm>
          <a:prstGeom prst="roundRect">
            <a:avLst>
              <a:gd name="adj" fmla="val 29412"/>
            </a:avLst>
          </a:prstGeom>
          <a:solidFill>
            <a:srgbClr val="5B6B78"/>
          </a:solidFill>
          <a:ln w="12700">
            <a:solidFill>
              <a:srgbClr val="5B6B78"/>
            </a:solidFill>
            <a:prstDash val="solid"/>
          </a:ln>
        </p:spPr>
      </p:sp>
      <p:sp>
        <p:nvSpPr>
          <p:cNvPr id="17" name="Text 15"/>
          <p:cNvSpPr txBox="1"/>
          <p:nvPr/>
        </p:nvSpPr>
        <p:spPr>
          <a:xfrm>
            <a:off x="8266176" y="1371600"/>
            <a:ext cx="868680" cy="310896"/>
          </a:xfrm>
          <a:prstGeom prst="rect">
            <a:avLst/>
          </a:prstGeom>
          <a:noFill/>
          <a:ln/>
        </p:spPr>
        <p:txBody>
          <a:bodyPr wrap="square" lIns="0" tIns="0" rIns="0" bIns="0" rtlCol="0" anchor="ctr"/>
          <a:lstStyle/>
          <a:p>
            <a:pPr algn="ctr" indent="0" marL="0">
              <a:buNone/>
            </a:pPr>
            <a:r>
              <a:rPr lang="en-US" sz="1100" b="1" dirty="0">
                <a:solidFill>
                  <a:srgbClr val="FFFFFF"/>
                </a:solidFill>
              </a:rPr>
              <a:t>v2</a:t>
            </a:r>
            <a:endParaRPr lang="en-US" sz="1100" dirty="0"/>
          </a:p>
        </p:txBody>
      </p:sp>
      <p:sp>
        <p:nvSpPr>
          <p:cNvPr id="18" name="Text 16"/>
          <p:cNvSpPr txBox="1"/>
          <p:nvPr/>
        </p:nvSpPr>
        <p:spPr>
          <a:xfrm>
            <a:off x="9244584" y="1371600"/>
            <a:ext cx="2011680" cy="310896"/>
          </a:xfrm>
          <a:prstGeom prst="rect">
            <a:avLst/>
          </a:prstGeom>
          <a:noFill/>
          <a:ln/>
        </p:spPr>
        <p:txBody>
          <a:bodyPr wrap="square" lIns="0" tIns="0" rIns="0" bIns="0" rtlCol="0" anchor="ctr"/>
          <a:lstStyle/>
          <a:p>
            <a:pPr indent="0" marL="0">
              <a:buNone/>
            </a:pPr>
            <a:r>
              <a:rPr lang="en-US" sz="1300" b="1" dirty="0">
                <a:solidFill>
                  <a:srgbClr val="0E1A22"/>
                </a:solidFill>
              </a:rPr>
              <a:t>later</a:t>
            </a:r>
            <a:endParaRPr lang="en-US" sz="1300" dirty="0"/>
          </a:p>
        </p:txBody>
      </p:sp>
      <p:sp>
        <p:nvSpPr>
          <p:cNvPr id="19" name="Text 17"/>
          <p:cNvSpPr txBox="1"/>
          <p:nvPr/>
        </p:nvSpPr>
        <p:spPr>
          <a:xfrm>
            <a:off x="8266176" y="1737360"/>
            <a:ext cx="3017520" cy="256032"/>
          </a:xfrm>
          <a:prstGeom prst="rect">
            <a:avLst/>
          </a:prstGeom>
          <a:noFill/>
          <a:ln/>
        </p:spPr>
        <p:txBody>
          <a:bodyPr wrap="square" lIns="0" tIns="0" rIns="0" bIns="0" rtlCol="0" anchor="ctr"/>
          <a:lstStyle/>
          <a:p>
            <a:pPr indent="0" marL="0">
              <a:buNone/>
            </a:pPr>
            <a:r>
              <a:rPr lang="en-US" sz="1000" i="1" dirty="0">
                <a:solidFill>
                  <a:srgbClr val="5B6B78"/>
                </a:solidFill>
              </a:rPr>
              <a:t>scale and analytics</a:t>
            </a:r>
            <a:endParaRPr lang="en-US" sz="1000" dirty="0"/>
          </a:p>
        </p:txBody>
      </p:sp>
      <p:sp>
        <p:nvSpPr>
          <p:cNvPr id="20" name="Text 18"/>
          <p:cNvSpPr txBox="1"/>
          <p:nvPr/>
        </p:nvSpPr>
        <p:spPr>
          <a:xfrm>
            <a:off x="8266176" y="2084832"/>
            <a:ext cx="3017520" cy="2514600"/>
          </a:xfrm>
          <a:prstGeom prst="rect">
            <a:avLst/>
          </a:prstGeom>
          <a:noFill/>
          <a:ln/>
        </p:spPr>
        <p:txBody>
          <a:bodyPr wrap="square" lIns="0" tIns="0" rIns="0" bIns="0" rtlCol="0" anchor="ctr"/>
          <a:lstStyle/>
          <a:p>
            <a:pPr marL="342900" indent="-342900">
              <a:lnSpc>
                <a:spcPts val="1450"/>
              </a:lnSpc>
              <a:spcAft>
                <a:spcPts val="800"/>
              </a:spcAft>
              <a:buSzPct val="100000"/>
              <a:buChar char="•"/>
            </a:pPr>
            <a:r>
              <a:rPr lang="en-US" sz="1100" dirty="0">
                <a:solidFill>
                  <a:srgbClr val="3C4A50"/>
                </a:solidFill>
              </a:rPr>
              <a:t>30–40 cases across the situation taxonomy</a:t>
            </a:r>
            <a:endParaRPr lang="en-US" sz="1100" dirty="0"/>
          </a:p>
          <a:p>
            <a:pPr marL="342900" indent="-342900">
              <a:lnSpc>
                <a:spcPts val="1450"/>
              </a:lnSpc>
              <a:spcAft>
                <a:spcPts val="800"/>
              </a:spcAft>
              <a:buSzPct val="100000"/>
              <a:buChar char="•"/>
            </a:pPr>
            <a:r>
              <a:rPr lang="en-US" sz="1100" dirty="0">
                <a:solidFill>
                  <a:srgbClr val="3C4A50"/>
                </a:solidFill>
              </a:rPr>
              <a:t>Cohort analytics: which traps are systematically missed</a:t>
            </a:r>
            <a:endParaRPr lang="en-US" sz="1100" dirty="0"/>
          </a:p>
          <a:p>
            <a:pPr marL="342900" indent="-342900">
              <a:lnSpc>
                <a:spcPts val="1450"/>
              </a:lnSpc>
              <a:spcAft>
                <a:spcPts val="800"/>
              </a:spcAft>
              <a:buSzPct val="100000"/>
              <a:buChar char="•"/>
            </a:pPr>
            <a:r>
              <a:rPr lang="en-US" sz="1100" dirty="0">
                <a:solidFill>
                  <a:srgbClr val="3C4A50"/>
                </a:solidFill>
              </a:rPr>
              <a:t>Per-case difficulty calibration</a:t>
            </a:r>
            <a:endParaRPr lang="en-US" sz="1100" dirty="0"/>
          </a:p>
          <a:p>
            <a:pPr marL="342900" indent="-342900">
              <a:lnSpc>
                <a:spcPts val="1450"/>
              </a:lnSpc>
              <a:spcAft>
                <a:spcPts val="800"/>
              </a:spcAft>
              <a:buSzPct val="100000"/>
              <a:buChar char="•"/>
            </a:pPr>
            <a:r>
              <a:rPr lang="en-US" sz="1100" dirty="0">
                <a:solidFill>
                  <a:srgbClr val="3C4A50"/>
                </a:solidFill>
              </a:rPr>
              <a:t>Dependency-graph comparison in the model grader</a:t>
            </a:r>
            <a:endParaRPr lang="en-US" sz="1100" dirty="0"/>
          </a:p>
        </p:txBody>
      </p:sp>
      <p:sp>
        <p:nvSpPr>
          <p:cNvPr id="21" name="card"/>
          <p:cNvSpPr/>
          <p:nvPr/>
        </p:nvSpPr>
        <p:spPr>
          <a:xfrm>
            <a:off x="566928" y="4956048"/>
            <a:ext cx="11027664" cy="960120"/>
          </a:xfrm>
          <a:prstGeom prst="roundRect">
            <a:avLst>
              <a:gd name="adj" fmla="val 5714"/>
            </a:avLst>
          </a:prstGeom>
          <a:solidFill>
            <a:srgbClr val="FDF8EF"/>
          </a:solidFill>
          <a:ln w="9525">
            <a:solidFill>
              <a:srgbClr val="EADCC2"/>
            </a:solidFill>
            <a:prstDash val="solid"/>
          </a:ln>
        </p:spPr>
      </p:sp>
      <p:sp>
        <p:nvSpPr>
          <p:cNvPr id="22" name="Text 20"/>
          <p:cNvSpPr txBox="1"/>
          <p:nvPr/>
        </p:nvSpPr>
        <p:spPr>
          <a:xfrm>
            <a:off x="841248" y="5102352"/>
            <a:ext cx="6400800" cy="274320"/>
          </a:xfrm>
          <a:prstGeom prst="rect">
            <a:avLst/>
          </a:prstGeom>
          <a:noFill/>
          <a:ln/>
        </p:spPr>
        <p:txBody>
          <a:bodyPr wrap="square" lIns="0" tIns="0" rIns="0" bIns="0" rtlCol="0" anchor="ctr"/>
          <a:lstStyle/>
          <a:p>
            <a:pPr indent="0" marL="0">
              <a:buNone/>
            </a:pPr>
            <a:r>
              <a:rPr lang="en-US" sz="1300" b="1" dirty="0">
                <a:solidFill>
                  <a:srgbClr val="B07A2E"/>
                </a:solidFill>
              </a:rPr>
              <a:t>Three questions to settle before anyone writes code</a:t>
            </a:r>
            <a:endParaRPr lang="en-US" sz="1300" dirty="0"/>
          </a:p>
        </p:txBody>
      </p:sp>
      <p:sp>
        <p:nvSpPr>
          <p:cNvPr id="23" name="Text 21"/>
          <p:cNvSpPr txBox="1"/>
          <p:nvPr/>
        </p:nvSpPr>
        <p:spPr>
          <a:xfrm>
            <a:off x="841248" y="5413248"/>
            <a:ext cx="10515600" cy="411480"/>
          </a:xfrm>
          <a:prstGeom prst="rect">
            <a:avLst/>
          </a:prstGeom>
          <a:noFill/>
          <a:ln/>
        </p:spPr>
        <p:txBody>
          <a:bodyPr wrap="square" lIns="0" tIns="0" rIns="0" bIns="0" rtlCol="0" anchor="ctr"/>
          <a:lstStyle/>
          <a:p>
            <a:pPr indent="0" marL="0">
              <a:lnSpc>
                <a:spcPts val="1500"/>
              </a:lnSpc>
              <a:buNone/>
            </a:pPr>
            <a:r>
              <a:rPr lang="en-US" sz="1150" dirty="0">
                <a:solidFill>
                  <a:srgbClr val="6B5424"/>
                </a:solidFill>
              </a:rPr>
              <a:t>1.  Can your build environment reach www.sec.gov/Archives, not just data.sec.gov?   </a:t>
            </a:r>
            <a:pPr indent="0" marL="0">
              <a:lnSpc>
                <a:spcPts val="1500"/>
              </a:lnSpc>
              <a:buNone/>
            </a:pPr>
            <a:r>
              <a:rPr lang="en-US" sz="1150" dirty="0">
                <a:solidFill>
                  <a:srgbClr val="6B5424"/>
                </a:solidFill>
              </a:rPr>
              <a:t>2.  Guidance or consensus as the default bar?   </a:t>
            </a:r>
            <a:pPr indent="0" marL="0">
              <a:lnSpc>
                <a:spcPts val="1500"/>
              </a:lnSpc>
              <a:buNone/>
            </a:pPr>
            <a:r>
              <a:rPr lang="en-US" sz="1150" dirty="0">
                <a:solidFill>
                  <a:srgbClr val="6B5424"/>
                </a:solidFill>
              </a:rPr>
              <a:t>3.  Who writes the cold expert keys?</a:t>
            </a:r>
            <a:endParaRPr lang="en-US" sz="1150" dirty="0"/>
          </a:p>
        </p:txBody>
      </p:sp>
      <p:sp>
        <p:nvSpPr>
          <p:cNvPr id="25" name="Slide Number Placeholder 0"/>
          <p:cNvSpPr>
            <a:spLocks noGrp="1"/>
          </p:cNvSpPr>
          <p:nvPr>
            <p:ph type="sldNum" sz="quarter" idx="4294967295"/>
          </p:nvPr>
        </p:nvSpPr>
        <p:spPr>
          <a:xfrm>
            <a:off x="114300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7B4B1"/>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Case Engine">
  <a:themeElements>
    <a:clrScheme name="Case Engine">
      <a:dk1>
        <a:srgbClr val="0E1A22"/>
      </a:dk1>
      <a:lt1>
        <a:srgbClr val="FFFFFF"/>
      </a:lt1>
      <a:dk2>
        <a:srgbClr val="12403A"/>
      </a:dk2>
      <a:lt2>
        <a:srgbClr val="EDF2F0"/>
      </a:lt2>
      <a:accent1>
        <a:srgbClr val="1A5F59"/>
      </a:accent1>
      <a:accent2>
        <a:srgbClr val="5E9A91"/>
      </a:accent2>
      <a:accent3>
        <a:srgbClr val="2F6B45"/>
      </a:accent3>
      <a:accent4>
        <a:srgbClr val="9C3A3A"/>
      </a:accent4>
      <a:accent5>
        <a:srgbClr val="B07A2E"/>
      </a:accent5>
      <a:accent6>
        <a:srgbClr val="5B6B78"/>
      </a:accent6>
      <a:hlink>
        <a:srgbClr val="1A5F59"/>
      </a:hlink>
      <a:folHlink>
        <a:srgbClr val="5B6B78"/>
      </a:folHlink>
    </a:clrScheme>
    <a:fontScheme name="Case Eng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Historical Case Engine</dc:title>
  <dc:subject>Assessment infrastructure for the Analyst Academy</dc:subject>
  <dc:creator>Fundamental Edge — Analyst Academy</dc:creator>
  <cp:lastModifiedBy>Fundamental Edge — Analyst Academy</cp:lastModifiedBy>
  <cp:revision>1</cp:revision>
  <dcterms:created xsi:type="dcterms:W3CDTF">2026-10-21T03:46:56Z</dcterms:created>
  <dcterms:modified xsi:type="dcterms:W3CDTF">2026-10-21T03:46:56Z</dcterms:modified>
</cp:coreProperties>
</file>